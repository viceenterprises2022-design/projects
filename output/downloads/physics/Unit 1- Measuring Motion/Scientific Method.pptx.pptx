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1"/>
  </p:notesMasterIdLst>
  <p:sldIdLst>
    <p:sldId id="256" r:id="rId3"/>
    <p:sldId id="257" r:id="rId4"/>
    <p:sldId id="442" r:id="rId5"/>
    <p:sldId id="450" r:id="rId6"/>
    <p:sldId id="378" r:id="rId7"/>
    <p:sldId id="451" r:id="rId8"/>
    <p:sldId id="380" r:id="rId9"/>
    <p:sldId id="439" r:id="rId10"/>
    <p:sldId id="437" r:id="rId11"/>
    <p:sldId id="457" r:id="rId12"/>
    <p:sldId id="452" r:id="rId13"/>
    <p:sldId id="265" r:id="rId14"/>
    <p:sldId id="443" r:id="rId15"/>
    <p:sldId id="431" r:id="rId16"/>
    <p:sldId id="258" r:id="rId17"/>
    <p:sldId id="259" r:id="rId18"/>
    <p:sldId id="435" r:id="rId19"/>
    <p:sldId id="440" r:id="rId20"/>
    <p:sldId id="463" r:id="rId21"/>
    <p:sldId id="453" r:id="rId22"/>
    <p:sldId id="425" r:id="rId23"/>
    <p:sldId id="456" r:id="rId24"/>
    <p:sldId id="454" r:id="rId25"/>
    <p:sldId id="444" r:id="rId26"/>
    <p:sldId id="445" r:id="rId27"/>
    <p:sldId id="446" r:id="rId28"/>
    <p:sldId id="462" r:id="rId29"/>
    <p:sldId id="461"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756"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3D092E-7BDA-4DFE-AEE4-30192C30FC3E}" type="datetimeFigureOut">
              <a:rPr lang="en-US" smtClean="0"/>
              <a:t>8/22/2023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843D28-16C0-4565-BFC3-A4D317B3D192}" type="slidenum">
              <a:rPr lang="en-US" smtClean="0"/>
              <a:t>‹#›</a:t>
            </a:fld>
            <a:endParaRPr lang="en-US"/>
          </a:p>
        </p:txBody>
      </p:sp>
    </p:spTree>
    <p:extLst>
      <p:ext uri="{BB962C8B-B14F-4D97-AF65-F5344CB8AC3E}">
        <p14:creationId xmlns:p14="http://schemas.microsoft.com/office/powerpoint/2010/main" val="270595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18</a:t>
            </a:r>
            <a:r>
              <a:rPr lang="en-US" baseline="30000" dirty="0"/>
              <a:t>th</a:t>
            </a:r>
            <a:r>
              <a:rPr lang="en-US" dirty="0"/>
              <a:t> August: https://forms.office.com/Pages/ResponsePage.aspx?id=TtFtRMI33k2SNLUbYwoz7_hGo2pZNYRGlt1SbsjaSDhUMk9YUjdSQjBCRjBEVVk5MkNLVjdFMzlYTi4u</a:t>
            </a:r>
          </a:p>
          <a:p>
            <a:r>
              <a:rPr lang="en-US" dirty="0"/>
              <a:t>https://forms.office.com/Pages/ResponsePage.aspx?id=TtFtRMI33k2SNLUbYwoz7_hGo2pZNYRGlt1SbsjaSDhUMk9YUjdSQjBCRjBEVVk5MkNLVjdFMzlYTi4u</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273CE74-EFCA-49AA-8BCD-2CA51949155D}"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45616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843D28-16C0-4565-BFC3-A4D317B3D192}" type="slidenum">
              <a:rPr lang="en-US" smtClean="0"/>
              <a:t>9</a:t>
            </a:fld>
            <a:endParaRPr lang="en-US"/>
          </a:p>
        </p:txBody>
      </p:sp>
    </p:spTree>
    <p:extLst>
      <p:ext uri="{BB962C8B-B14F-4D97-AF65-F5344CB8AC3E}">
        <p14:creationId xmlns:p14="http://schemas.microsoft.com/office/powerpoint/2010/main" val="20598099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843D28-16C0-4565-BFC3-A4D317B3D192}" type="slidenum">
              <a:rPr lang="en-US" smtClean="0"/>
              <a:t>10</a:t>
            </a:fld>
            <a:endParaRPr lang="en-US"/>
          </a:p>
        </p:txBody>
      </p:sp>
    </p:spTree>
    <p:extLst>
      <p:ext uri="{BB962C8B-B14F-4D97-AF65-F5344CB8AC3E}">
        <p14:creationId xmlns:p14="http://schemas.microsoft.com/office/powerpoint/2010/main" val="3602598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Shape 227"/>
          <p:cNvSpPr txBox="1">
            <a:spLocks noGrp="1"/>
          </p:cNvSpPr>
          <p:nvPr>
            <p:ph type="body" idx="1"/>
          </p:nvPr>
        </p:nvSpPr>
        <p:spPr>
          <a:xfrm>
            <a:off x="917575" y="3257550"/>
            <a:ext cx="7345363" cy="3086099"/>
          </a:xfrm>
          <a:prstGeom prst="rect">
            <a:avLst/>
          </a:prstGeom>
        </p:spPr>
        <p:txBody>
          <a:bodyPr lIns="91425" tIns="91425" rIns="91425" bIns="91425" anchor="ctr" anchorCtr="0">
            <a:noAutofit/>
          </a:bodyPr>
          <a:lstStyle/>
          <a:p>
            <a:pPr>
              <a:spcBef>
                <a:spcPts val="0"/>
              </a:spcBef>
              <a:buNone/>
            </a:pPr>
            <a:endParaRPr/>
          </a:p>
        </p:txBody>
      </p:sp>
      <p:sp>
        <p:nvSpPr>
          <p:cNvPr id="228" name="Shape 228"/>
          <p:cNvSpPr>
            <a:spLocks noGrp="1" noRot="1" noChangeAspect="1"/>
          </p:cNvSpPr>
          <p:nvPr>
            <p:ph type="sldImg" idx="2"/>
          </p:nvPr>
        </p:nvSpPr>
        <p:spPr>
          <a:xfrm>
            <a:off x="2303463" y="514350"/>
            <a:ext cx="4572000" cy="2571750"/>
          </a:xfrm>
          <a:custGeom>
            <a:avLst/>
            <a:gdLst/>
            <a:ahLst/>
            <a:cxnLst/>
            <a:rect l="0" t="0" r="0" b="0"/>
            <a:pathLst>
              <a:path w="120000" h="120000" extrusionOk="0">
                <a:moveTo>
                  <a:pt x="0" y="0"/>
                </a:moveTo>
                <a:lnTo>
                  <a:pt x="120000" y="0"/>
                </a:lnTo>
                <a:lnTo>
                  <a:pt x="120000" y="120000"/>
                </a:lnTo>
                <a:lnTo>
                  <a:pt x="0" y="120000"/>
                </a:lnTo>
                <a:close/>
              </a:path>
            </a:pathLst>
          </a:custGeom>
          <a:noFill/>
          <a:ln w="9525" cap="flat">
            <a:solidFill>
              <a:srgbClr val="000000"/>
            </a:solidFill>
            <a:prstDash val="solid"/>
            <a:round/>
            <a:headEnd type="none" w="med" len="med"/>
            <a:tailEnd type="none" w="med" len="med"/>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this with Pumpkin throwing investigation</a:t>
            </a:r>
          </a:p>
        </p:txBody>
      </p:sp>
      <p:sp>
        <p:nvSpPr>
          <p:cNvPr id="4" name="Slide Number Placeholder 3"/>
          <p:cNvSpPr>
            <a:spLocks noGrp="1"/>
          </p:cNvSpPr>
          <p:nvPr>
            <p:ph type="sldNum" sz="quarter" idx="5"/>
          </p:nvPr>
        </p:nvSpPr>
        <p:spPr/>
        <p:txBody>
          <a:bodyPr/>
          <a:lstStyle/>
          <a:p>
            <a:fld id="{B4843D28-16C0-4565-BFC3-A4D317B3D192}" type="slidenum">
              <a:rPr lang="en-US" smtClean="0"/>
              <a:t>13</a:t>
            </a:fld>
            <a:endParaRPr lang="en-US"/>
          </a:p>
        </p:txBody>
      </p:sp>
    </p:spTree>
    <p:extLst>
      <p:ext uri="{BB962C8B-B14F-4D97-AF65-F5344CB8AC3E}">
        <p14:creationId xmlns:p14="http://schemas.microsoft.com/office/powerpoint/2010/main" val="38150002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Shape 171"/>
          <p:cNvSpPr txBox="1">
            <a:spLocks noGrp="1"/>
          </p:cNvSpPr>
          <p:nvPr>
            <p:ph type="sldNum" idx="12"/>
          </p:nvPr>
        </p:nvSpPr>
        <p:spPr>
          <a:xfrm>
            <a:off x="5200650" y="6513512"/>
            <a:ext cx="3978274" cy="342899"/>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r>
              <a:rPr lang="en-US"/>
              <a:t> </a:t>
            </a:r>
          </a:p>
        </p:txBody>
      </p:sp>
      <p:sp>
        <p:nvSpPr>
          <p:cNvPr id="172" name="Shape 172"/>
          <p:cNvSpPr>
            <a:spLocks noGrp="1" noRot="1" noChangeAspect="1"/>
          </p:cNvSpPr>
          <p:nvPr>
            <p:ph type="sldImg" idx="2"/>
          </p:nvPr>
        </p:nvSpPr>
        <p:spPr>
          <a:xfrm>
            <a:off x="2303463" y="514350"/>
            <a:ext cx="4572000" cy="257175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73" name="Shape 173"/>
          <p:cNvSpPr txBox="1">
            <a:spLocks noGrp="1"/>
          </p:cNvSpPr>
          <p:nvPr>
            <p:ph type="body" idx="1"/>
          </p:nvPr>
        </p:nvSpPr>
        <p:spPr>
          <a:xfrm>
            <a:off x="917575" y="3257550"/>
            <a:ext cx="7345363" cy="3086099"/>
          </a:xfrm>
          <a:prstGeom prst="rect">
            <a:avLst/>
          </a:prstGeom>
          <a:noFill/>
          <a:ln>
            <a:noFill/>
          </a:ln>
        </p:spPr>
        <p:txBody>
          <a:bodyPr lIns="91425" tIns="45700" rIns="91425" bIns="45700" anchor="t" anchorCtr="0">
            <a:noAutofit/>
          </a:bodyPr>
          <a:lstStyle/>
          <a:p>
            <a:pPr marL="0" marR="0" lvl="0" indent="0" algn="l" rtl="0">
              <a:spcBef>
                <a:spcPts val="0"/>
              </a:spcBef>
              <a:buNone/>
            </a:pPr>
            <a:endParaRPr sz="1800" b="0" i="0" u="none" strike="noStrike" cap="none" baseline="0">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Shape 179"/>
          <p:cNvSpPr txBox="1">
            <a:spLocks noGrp="1"/>
          </p:cNvSpPr>
          <p:nvPr>
            <p:ph type="sldNum" idx="12"/>
          </p:nvPr>
        </p:nvSpPr>
        <p:spPr>
          <a:xfrm>
            <a:off x="5200650" y="6513512"/>
            <a:ext cx="3978299" cy="342899"/>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r>
              <a:rPr lang="en-US"/>
              <a:t> </a:t>
            </a:r>
          </a:p>
        </p:txBody>
      </p:sp>
      <p:sp>
        <p:nvSpPr>
          <p:cNvPr id="180" name="Shape 180"/>
          <p:cNvSpPr>
            <a:spLocks noGrp="1" noRot="1" noChangeAspect="1"/>
          </p:cNvSpPr>
          <p:nvPr>
            <p:ph type="sldImg" idx="2"/>
          </p:nvPr>
        </p:nvSpPr>
        <p:spPr>
          <a:xfrm>
            <a:off x="2303463" y="514350"/>
            <a:ext cx="4572000" cy="2571750"/>
          </a:xfrm>
          <a:custGeom>
            <a:avLst/>
            <a:gdLst/>
            <a:ahLst/>
            <a:cxnLst/>
            <a:rect l="0" t="0" r="0" b="0"/>
            <a:pathLst>
              <a:path w="120000" h="120000" extrusionOk="0">
                <a:moveTo>
                  <a:pt x="0" y="0"/>
                </a:moveTo>
                <a:lnTo>
                  <a:pt x="120000" y="0"/>
                </a:lnTo>
                <a:lnTo>
                  <a:pt x="120000" y="120000"/>
                </a:lnTo>
                <a:lnTo>
                  <a:pt x="0" y="120000"/>
                </a:lnTo>
                <a:close/>
              </a:path>
            </a:pathLst>
          </a:custGeom>
          <a:noFill/>
          <a:ln>
            <a:noFill/>
          </a:ln>
        </p:spPr>
      </p:sp>
      <p:sp>
        <p:nvSpPr>
          <p:cNvPr id="181" name="Shape 181"/>
          <p:cNvSpPr txBox="1">
            <a:spLocks noGrp="1"/>
          </p:cNvSpPr>
          <p:nvPr>
            <p:ph type="body" idx="1"/>
          </p:nvPr>
        </p:nvSpPr>
        <p:spPr>
          <a:xfrm>
            <a:off x="917575" y="3257550"/>
            <a:ext cx="7345499" cy="3086099"/>
          </a:xfrm>
          <a:prstGeom prst="rect">
            <a:avLst/>
          </a:prstGeom>
          <a:noFill/>
          <a:ln>
            <a:noFill/>
          </a:ln>
        </p:spPr>
        <p:txBody>
          <a:bodyPr lIns="91425" tIns="45700" rIns="91425" bIns="45700" anchor="t" anchorCtr="0">
            <a:noAutofit/>
          </a:bodyPr>
          <a:lstStyle/>
          <a:p>
            <a:pPr marL="0" marR="0" lvl="0" indent="0" algn="l" rtl="0">
              <a:spcBef>
                <a:spcPts val="0"/>
              </a:spcBef>
              <a:buNone/>
            </a:pPr>
            <a:endParaRPr sz="1800" b="0" i="0" u="none" strike="noStrike" cap="none" baseline="0">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effectLst/>
                <a:latin typeface="Arial" panose="020B0604020202020204" pitchFamily="34" charset="0"/>
              </a:rPr>
              <a:t>Note: The “if” part of the hypothesis contains the independent variable, the “then” part has the </a:t>
            </a:r>
          </a:p>
          <a:p>
            <a:pPr algn="l"/>
            <a:r>
              <a:rPr lang="en-US" b="0" i="0" dirty="0">
                <a:effectLst/>
                <a:latin typeface="Arial" panose="020B0604020202020204" pitchFamily="34" charset="0"/>
              </a:rPr>
              <a:t>dependent variable, and the “because” states why you think the dependent variable will happen</a:t>
            </a:r>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A3F2050-0024-45CB-A299-A90013553C0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69688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ea typeface="Times New Roman" panose="02020603050405020304" pitchFamily="18" charset="0"/>
              </a:rPr>
              <a:t>Precautions that you take to ensure success of the experiment</a:t>
            </a:r>
          </a:p>
          <a:p>
            <a:endParaRPr lang="en-US" dirty="0"/>
          </a:p>
        </p:txBody>
      </p:sp>
      <p:sp>
        <p:nvSpPr>
          <p:cNvPr id="4" name="Slide Number Placeholder 3"/>
          <p:cNvSpPr>
            <a:spLocks noGrp="1"/>
          </p:cNvSpPr>
          <p:nvPr>
            <p:ph type="sldNum" sz="quarter" idx="10"/>
          </p:nvPr>
        </p:nvSpPr>
        <p:spPr/>
        <p:txBody>
          <a:bodyPr/>
          <a:lstStyle/>
          <a:p>
            <a:fld id="{B4843D28-16C0-4565-BFC3-A4D317B3D192}" type="slidenum">
              <a:rPr lang="en-US" smtClean="0"/>
              <a:t>26</a:t>
            </a:fld>
            <a:endParaRPr lang="en-US"/>
          </a:p>
        </p:txBody>
      </p:sp>
    </p:spTree>
    <p:extLst>
      <p:ext uri="{BB962C8B-B14F-4D97-AF65-F5344CB8AC3E}">
        <p14:creationId xmlns:p14="http://schemas.microsoft.com/office/powerpoint/2010/main" val="14312003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97750-F0C6-4317-8BBF-E6BCEE99B6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100BAD3-21DC-4B6E-8A1E-0E0FEF7885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989ACF-6767-4C31-9067-D1FC2D773E47}"/>
              </a:ext>
            </a:extLst>
          </p:cNvPr>
          <p:cNvSpPr>
            <a:spLocks noGrp="1"/>
          </p:cNvSpPr>
          <p:nvPr>
            <p:ph type="dt" sz="half" idx="10"/>
          </p:nvPr>
        </p:nvSpPr>
        <p:spPr/>
        <p:txBody>
          <a:bodyPr/>
          <a:lstStyle/>
          <a:p>
            <a:fld id="{44406094-5728-4309-A5D5-1F65EA550AED}" type="datetimeFigureOut">
              <a:rPr lang="en-US" smtClean="0"/>
              <a:t>8/22/2023</a:t>
            </a:fld>
            <a:endParaRPr lang="en-US"/>
          </a:p>
        </p:txBody>
      </p:sp>
      <p:sp>
        <p:nvSpPr>
          <p:cNvPr id="5" name="Footer Placeholder 4">
            <a:extLst>
              <a:ext uri="{FF2B5EF4-FFF2-40B4-BE49-F238E27FC236}">
                <a16:creationId xmlns:a16="http://schemas.microsoft.com/office/drawing/2014/main" id="{BD078CBC-FDC5-472D-A6C6-34A337FE6A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405788-FEAE-4209-96CB-D657911B5855}"/>
              </a:ext>
            </a:extLst>
          </p:cNvPr>
          <p:cNvSpPr>
            <a:spLocks noGrp="1"/>
          </p:cNvSpPr>
          <p:nvPr>
            <p:ph type="sldNum" sz="quarter" idx="12"/>
          </p:nvPr>
        </p:nvSpPr>
        <p:spPr/>
        <p:txBody>
          <a:bodyPr/>
          <a:lstStyle/>
          <a:p>
            <a:fld id="{0592B5E6-927B-4F67-BE8E-C25ADC3B36FB}" type="slidenum">
              <a:rPr lang="en-US" smtClean="0"/>
              <a:t>‹#›</a:t>
            </a:fld>
            <a:endParaRPr lang="en-US"/>
          </a:p>
        </p:txBody>
      </p:sp>
    </p:spTree>
    <p:extLst>
      <p:ext uri="{BB962C8B-B14F-4D97-AF65-F5344CB8AC3E}">
        <p14:creationId xmlns:p14="http://schemas.microsoft.com/office/powerpoint/2010/main" val="1664655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0F752-FF32-4DEA-A11E-133BD380DB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1EAD8F1-6877-456B-8124-D546E84C61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B5A002-2B1F-4937-B0AF-5AFCE5C73927}"/>
              </a:ext>
            </a:extLst>
          </p:cNvPr>
          <p:cNvSpPr>
            <a:spLocks noGrp="1"/>
          </p:cNvSpPr>
          <p:nvPr>
            <p:ph type="dt" sz="half" idx="10"/>
          </p:nvPr>
        </p:nvSpPr>
        <p:spPr/>
        <p:txBody>
          <a:bodyPr/>
          <a:lstStyle/>
          <a:p>
            <a:fld id="{44406094-5728-4309-A5D5-1F65EA550AED}" type="datetimeFigureOut">
              <a:rPr lang="en-US" smtClean="0"/>
              <a:t>8/22/2023</a:t>
            </a:fld>
            <a:endParaRPr lang="en-US"/>
          </a:p>
        </p:txBody>
      </p:sp>
      <p:sp>
        <p:nvSpPr>
          <p:cNvPr id="5" name="Footer Placeholder 4">
            <a:extLst>
              <a:ext uri="{FF2B5EF4-FFF2-40B4-BE49-F238E27FC236}">
                <a16:creationId xmlns:a16="http://schemas.microsoft.com/office/drawing/2014/main" id="{9BDC70C2-F48B-41B0-84FF-AC8C91534A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B181A3-FECF-4AC1-B226-36304C8F621E}"/>
              </a:ext>
            </a:extLst>
          </p:cNvPr>
          <p:cNvSpPr>
            <a:spLocks noGrp="1"/>
          </p:cNvSpPr>
          <p:nvPr>
            <p:ph type="sldNum" sz="quarter" idx="12"/>
          </p:nvPr>
        </p:nvSpPr>
        <p:spPr/>
        <p:txBody>
          <a:bodyPr/>
          <a:lstStyle/>
          <a:p>
            <a:fld id="{0592B5E6-927B-4F67-BE8E-C25ADC3B36FB}" type="slidenum">
              <a:rPr lang="en-US" smtClean="0"/>
              <a:t>‹#›</a:t>
            </a:fld>
            <a:endParaRPr lang="en-US"/>
          </a:p>
        </p:txBody>
      </p:sp>
    </p:spTree>
    <p:extLst>
      <p:ext uri="{BB962C8B-B14F-4D97-AF65-F5344CB8AC3E}">
        <p14:creationId xmlns:p14="http://schemas.microsoft.com/office/powerpoint/2010/main" val="16606667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17B858-1354-443D-8CFD-BAB2533C92B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2B0568-DB80-4BB0-93A1-5CD2CBDF72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125FC5F-D4EC-4DF8-9013-6DE12E779EDD}"/>
              </a:ext>
            </a:extLst>
          </p:cNvPr>
          <p:cNvSpPr>
            <a:spLocks noGrp="1"/>
          </p:cNvSpPr>
          <p:nvPr>
            <p:ph type="dt" sz="half" idx="10"/>
          </p:nvPr>
        </p:nvSpPr>
        <p:spPr/>
        <p:txBody>
          <a:bodyPr/>
          <a:lstStyle/>
          <a:p>
            <a:fld id="{44406094-5728-4309-A5D5-1F65EA550AED}" type="datetimeFigureOut">
              <a:rPr lang="en-US" smtClean="0"/>
              <a:t>8/22/2023</a:t>
            </a:fld>
            <a:endParaRPr lang="en-US"/>
          </a:p>
        </p:txBody>
      </p:sp>
      <p:sp>
        <p:nvSpPr>
          <p:cNvPr id="5" name="Footer Placeholder 4">
            <a:extLst>
              <a:ext uri="{FF2B5EF4-FFF2-40B4-BE49-F238E27FC236}">
                <a16:creationId xmlns:a16="http://schemas.microsoft.com/office/drawing/2014/main" id="{F2D30C55-7D36-4A91-93C3-425C094001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A9FEAC-8929-40CB-B7D3-32A3EF6BEDD0}"/>
              </a:ext>
            </a:extLst>
          </p:cNvPr>
          <p:cNvSpPr>
            <a:spLocks noGrp="1"/>
          </p:cNvSpPr>
          <p:nvPr>
            <p:ph type="sldNum" sz="quarter" idx="12"/>
          </p:nvPr>
        </p:nvSpPr>
        <p:spPr/>
        <p:txBody>
          <a:bodyPr/>
          <a:lstStyle/>
          <a:p>
            <a:fld id="{0592B5E6-927B-4F67-BE8E-C25ADC3B36FB}" type="slidenum">
              <a:rPr lang="en-US" smtClean="0"/>
              <a:t>‹#›</a:t>
            </a:fld>
            <a:endParaRPr lang="en-US"/>
          </a:p>
        </p:txBody>
      </p:sp>
    </p:spTree>
    <p:extLst>
      <p:ext uri="{BB962C8B-B14F-4D97-AF65-F5344CB8AC3E}">
        <p14:creationId xmlns:p14="http://schemas.microsoft.com/office/powerpoint/2010/main" val="14775170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642C1E-B2DD-48F7-9C49-8FFA68E68D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51C886B-7C70-4488-BEC2-16A2EC2838F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D87D22D-F1AC-4BDD-8868-0A08B76F156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657F6A3-3335-4538-8239-908CBF24781F}"/>
              </a:ext>
            </a:extLst>
          </p:cNvPr>
          <p:cNvSpPr>
            <a:spLocks noGrp="1"/>
          </p:cNvSpPr>
          <p:nvPr>
            <p:ph type="dt" sz="half" idx="10"/>
          </p:nvPr>
        </p:nvSpPr>
        <p:spPr/>
        <p:txBody>
          <a:bodyPr/>
          <a:lstStyle/>
          <a:p>
            <a:fld id="{44406094-5728-4309-A5D5-1F65EA550AED}" type="datetimeFigureOut">
              <a:rPr lang="en-US" smtClean="0"/>
              <a:t>8/22/2023</a:t>
            </a:fld>
            <a:endParaRPr lang="en-US"/>
          </a:p>
        </p:txBody>
      </p:sp>
      <p:sp>
        <p:nvSpPr>
          <p:cNvPr id="6" name="Footer Placeholder 5">
            <a:extLst>
              <a:ext uri="{FF2B5EF4-FFF2-40B4-BE49-F238E27FC236}">
                <a16:creationId xmlns:a16="http://schemas.microsoft.com/office/drawing/2014/main" id="{02D03168-0F86-4FBD-91DF-5C665B03B3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706C1F-BB6D-4D03-BB16-25C02B2502CC}"/>
              </a:ext>
            </a:extLst>
          </p:cNvPr>
          <p:cNvSpPr>
            <a:spLocks noGrp="1"/>
          </p:cNvSpPr>
          <p:nvPr>
            <p:ph type="sldNum" sz="quarter" idx="12"/>
          </p:nvPr>
        </p:nvSpPr>
        <p:spPr/>
        <p:txBody>
          <a:bodyPr/>
          <a:lstStyle/>
          <a:p>
            <a:fld id="{0592B5E6-927B-4F67-BE8E-C25ADC3B36FB}" type="slidenum">
              <a:rPr lang="en-US" smtClean="0"/>
              <a:t>‹#›</a:t>
            </a:fld>
            <a:endParaRPr lang="en-US"/>
          </a:p>
        </p:txBody>
      </p:sp>
    </p:spTree>
    <p:extLst>
      <p:ext uri="{BB962C8B-B14F-4D97-AF65-F5344CB8AC3E}">
        <p14:creationId xmlns:p14="http://schemas.microsoft.com/office/powerpoint/2010/main" val="24544041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3AE062-163C-44AC-BB29-DD3CCBB9800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003059-866C-46B3-936C-11B94AC72F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E0120A9-9FA5-47F0-805C-3E1DD790296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3FE0ED4-87B3-42D0-9044-C2F40DCBE4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EB838D-75CD-43DA-8589-B38745EBCF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BC3A36C-DBF4-4111-A5EC-7355E750A8B6}"/>
              </a:ext>
            </a:extLst>
          </p:cNvPr>
          <p:cNvSpPr>
            <a:spLocks noGrp="1"/>
          </p:cNvSpPr>
          <p:nvPr>
            <p:ph type="dt" sz="half" idx="10"/>
          </p:nvPr>
        </p:nvSpPr>
        <p:spPr/>
        <p:txBody>
          <a:bodyPr/>
          <a:lstStyle/>
          <a:p>
            <a:fld id="{44406094-5728-4309-A5D5-1F65EA550AED}" type="datetimeFigureOut">
              <a:rPr lang="en-US" smtClean="0"/>
              <a:t>8/22/2023</a:t>
            </a:fld>
            <a:endParaRPr lang="en-US"/>
          </a:p>
        </p:txBody>
      </p:sp>
      <p:sp>
        <p:nvSpPr>
          <p:cNvPr id="8" name="Footer Placeholder 7">
            <a:extLst>
              <a:ext uri="{FF2B5EF4-FFF2-40B4-BE49-F238E27FC236}">
                <a16:creationId xmlns:a16="http://schemas.microsoft.com/office/drawing/2014/main" id="{D39B2BE5-594C-4D38-913D-E446010619A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998456B-A251-427A-8CF8-D0504BF5CC67}"/>
              </a:ext>
            </a:extLst>
          </p:cNvPr>
          <p:cNvSpPr>
            <a:spLocks noGrp="1"/>
          </p:cNvSpPr>
          <p:nvPr>
            <p:ph type="sldNum" sz="quarter" idx="12"/>
          </p:nvPr>
        </p:nvSpPr>
        <p:spPr/>
        <p:txBody>
          <a:bodyPr/>
          <a:lstStyle/>
          <a:p>
            <a:fld id="{0592B5E6-927B-4F67-BE8E-C25ADC3B36FB}" type="slidenum">
              <a:rPr lang="en-US" smtClean="0"/>
              <a:t>‹#›</a:t>
            </a:fld>
            <a:endParaRPr lang="en-US"/>
          </a:p>
        </p:txBody>
      </p:sp>
    </p:spTree>
    <p:extLst>
      <p:ext uri="{BB962C8B-B14F-4D97-AF65-F5344CB8AC3E}">
        <p14:creationId xmlns:p14="http://schemas.microsoft.com/office/powerpoint/2010/main" val="1955983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DEC60-8FE6-4E5A-A192-2E449533BFB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5290F9C-F26D-4DA8-8146-E062C30E57B7}"/>
              </a:ext>
            </a:extLst>
          </p:cNvPr>
          <p:cNvSpPr>
            <a:spLocks noGrp="1"/>
          </p:cNvSpPr>
          <p:nvPr>
            <p:ph type="dt" sz="half" idx="10"/>
          </p:nvPr>
        </p:nvSpPr>
        <p:spPr/>
        <p:txBody>
          <a:bodyPr/>
          <a:lstStyle/>
          <a:p>
            <a:fld id="{44406094-5728-4309-A5D5-1F65EA550AED}" type="datetimeFigureOut">
              <a:rPr lang="en-US" smtClean="0"/>
              <a:t>8/22/2023</a:t>
            </a:fld>
            <a:endParaRPr lang="en-US"/>
          </a:p>
        </p:txBody>
      </p:sp>
      <p:sp>
        <p:nvSpPr>
          <p:cNvPr id="4" name="Footer Placeholder 3">
            <a:extLst>
              <a:ext uri="{FF2B5EF4-FFF2-40B4-BE49-F238E27FC236}">
                <a16:creationId xmlns:a16="http://schemas.microsoft.com/office/drawing/2014/main" id="{2200657E-287E-4FAC-A73E-DEC34FFA42B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3D4D300-5022-4763-ACF2-FDABA1376172}"/>
              </a:ext>
            </a:extLst>
          </p:cNvPr>
          <p:cNvSpPr>
            <a:spLocks noGrp="1"/>
          </p:cNvSpPr>
          <p:nvPr>
            <p:ph type="sldNum" sz="quarter" idx="12"/>
          </p:nvPr>
        </p:nvSpPr>
        <p:spPr/>
        <p:txBody>
          <a:bodyPr/>
          <a:lstStyle/>
          <a:p>
            <a:fld id="{0592B5E6-927B-4F67-BE8E-C25ADC3B36FB}" type="slidenum">
              <a:rPr lang="en-US" smtClean="0"/>
              <a:t>‹#›</a:t>
            </a:fld>
            <a:endParaRPr lang="en-US"/>
          </a:p>
        </p:txBody>
      </p:sp>
    </p:spTree>
    <p:extLst>
      <p:ext uri="{BB962C8B-B14F-4D97-AF65-F5344CB8AC3E}">
        <p14:creationId xmlns:p14="http://schemas.microsoft.com/office/powerpoint/2010/main" val="3804607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266BF6-F633-4781-840A-92CBE98E1684}"/>
              </a:ext>
            </a:extLst>
          </p:cNvPr>
          <p:cNvSpPr>
            <a:spLocks noGrp="1"/>
          </p:cNvSpPr>
          <p:nvPr>
            <p:ph type="dt" sz="half" idx="10"/>
          </p:nvPr>
        </p:nvSpPr>
        <p:spPr/>
        <p:txBody>
          <a:bodyPr/>
          <a:lstStyle/>
          <a:p>
            <a:fld id="{44406094-5728-4309-A5D5-1F65EA550AED}" type="datetimeFigureOut">
              <a:rPr lang="en-US" smtClean="0"/>
              <a:t>8/22/2023</a:t>
            </a:fld>
            <a:endParaRPr lang="en-US"/>
          </a:p>
        </p:txBody>
      </p:sp>
      <p:sp>
        <p:nvSpPr>
          <p:cNvPr id="3" name="Footer Placeholder 2">
            <a:extLst>
              <a:ext uri="{FF2B5EF4-FFF2-40B4-BE49-F238E27FC236}">
                <a16:creationId xmlns:a16="http://schemas.microsoft.com/office/drawing/2014/main" id="{459AE12F-483D-4C41-8B19-EF9D0DBA032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B791AF4-A229-4605-9C83-BBE01CB024EC}"/>
              </a:ext>
            </a:extLst>
          </p:cNvPr>
          <p:cNvSpPr>
            <a:spLocks noGrp="1"/>
          </p:cNvSpPr>
          <p:nvPr>
            <p:ph type="sldNum" sz="quarter" idx="12"/>
          </p:nvPr>
        </p:nvSpPr>
        <p:spPr/>
        <p:txBody>
          <a:bodyPr/>
          <a:lstStyle/>
          <a:p>
            <a:fld id="{0592B5E6-927B-4F67-BE8E-C25ADC3B36FB}" type="slidenum">
              <a:rPr lang="en-US" smtClean="0"/>
              <a:t>‹#›</a:t>
            </a:fld>
            <a:endParaRPr lang="en-US"/>
          </a:p>
        </p:txBody>
      </p:sp>
    </p:spTree>
    <p:extLst>
      <p:ext uri="{BB962C8B-B14F-4D97-AF65-F5344CB8AC3E}">
        <p14:creationId xmlns:p14="http://schemas.microsoft.com/office/powerpoint/2010/main" val="418765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AB69B-08CA-44FC-A3CF-64837C15BB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B66F837-EC9C-4D58-A776-4BB5463314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827460-C71D-492C-9E6A-803DF15ADB1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368714-406C-4987-8BD9-660930F90BC2}"/>
              </a:ext>
            </a:extLst>
          </p:cNvPr>
          <p:cNvSpPr>
            <a:spLocks noGrp="1"/>
          </p:cNvSpPr>
          <p:nvPr>
            <p:ph type="dt" sz="half" idx="10"/>
          </p:nvPr>
        </p:nvSpPr>
        <p:spPr/>
        <p:txBody>
          <a:bodyPr/>
          <a:lstStyle/>
          <a:p>
            <a:fld id="{44406094-5728-4309-A5D5-1F65EA550AED}" type="datetimeFigureOut">
              <a:rPr lang="en-US" smtClean="0"/>
              <a:t>8/22/2023</a:t>
            </a:fld>
            <a:endParaRPr lang="en-US"/>
          </a:p>
        </p:txBody>
      </p:sp>
      <p:sp>
        <p:nvSpPr>
          <p:cNvPr id="6" name="Footer Placeholder 5">
            <a:extLst>
              <a:ext uri="{FF2B5EF4-FFF2-40B4-BE49-F238E27FC236}">
                <a16:creationId xmlns:a16="http://schemas.microsoft.com/office/drawing/2014/main" id="{EA632EE8-FB91-4FBA-AE25-110463B8D3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1C7573-DB57-48E7-AC8A-197D675A815C}"/>
              </a:ext>
            </a:extLst>
          </p:cNvPr>
          <p:cNvSpPr>
            <a:spLocks noGrp="1"/>
          </p:cNvSpPr>
          <p:nvPr>
            <p:ph type="sldNum" sz="quarter" idx="12"/>
          </p:nvPr>
        </p:nvSpPr>
        <p:spPr/>
        <p:txBody>
          <a:bodyPr/>
          <a:lstStyle/>
          <a:p>
            <a:fld id="{0592B5E6-927B-4F67-BE8E-C25ADC3B36FB}" type="slidenum">
              <a:rPr lang="en-US" smtClean="0"/>
              <a:t>‹#›</a:t>
            </a:fld>
            <a:endParaRPr lang="en-US"/>
          </a:p>
        </p:txBody>
      </p:sp>
    </p:spTree>
    <p:extLst>
      <p:ext uri="{BB962C8B-B14F-4D97-AF65-F5344CB8AC3E}">
        <p14:creationId xmlns:p14="http://schemas.microsoft.com/office/powerpoint/2010/main" val="21929915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5B717F-84AF-4399-ADAE-50194468258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903CE9-A3EB-4ABB-B629-F0FC1AFD87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9FCDA61-35FC-4B6D-B0B4-453F3938F5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048D0DB-6F6B-4B3A-8964-63F9A70DACA5}"/>
              </a:ext>
            </a:extLst>
          </p:cNvPr>
          <p:cNvSpPr>
            <a:spLocks noGrp="1"/>
          </p:cNvSpPr>
          <p:nvPr>
            <p:ph type="dt" sz="half" idx="10"/>
          </p:nvPr>
        </p:nvSpPr>
        <p:spPr/>
        <p:txBody>
          <a:bodyPr/>
          <a:lstStyle/>
          <a:p>
            <a:fld id="{44406094-5728-4309-A5D5-1F65EA550AED}" type="datetimeFigureOut">
              <a:rPr lang="en-US" smtClean="0"/>
              <a:t>8/22/2023</a:t>
            </a:fld>
            <a:endParaRPr lang="en-US"/>
          </a:p>
        </p:txBody>
      </p:sp>
      <p:sp>
        <p:nvSpPr>
          <p:cNvPr id="6" name="Footer Placeholder 5">
            <a:extLst>
              <a:ext uri="{FF2B5EF4-FFF2-40B4-BE49-F238E27FC236}">
                <a16:creationId xmlns:a16="http://schemas.microsoft.com/office/drawing/2014/main" id="{4FE5F717-5A68-412B-9B9A-1C55BC1C49C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51C3F0-A8B8-4A88-820D-ABECE659CC21}"/>
              </a:ext>
            </a:extLst>
          </p:cNvPr>
          <p:cNvSpPr>
            <a:spLocks noGrp="1"/>
          </p:cNvSpPr>
          <p:nvPr>
            <p:ph type="sldNum" sz="quarter" idx="12"/>
          </p:nvPr>
        </p:nvSpPr>
        <p:spPr/>
        <p:txBody>
          <a:bodyPr/>
          <a:lstStyle/>
          <a:p>
            <a:fld id="{0592B5E6-927B-4F67-BE8E-C25ADC3B36FB}" type="slidenum">
              <a:rPr lang="en-US" smtClean="0"/>
              <a:t>‹#›</a:t>
            </a:fld>
            <a:endParaRPr lang="en-US"/>
          </a:p>
        </p:txBody>
      </p:sp>
    </p:spTree>
    <p:extLst>
      <p:ext uri="{BB962C8B-B14F-4D97-AF65-F5344CB8AC3E}">
        <p14:creationId xmlns:p14="http://schemas.microsoft.com/office/powerpoint/2010/main" val="24060452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C757A-71A5-4A3B-83A7-4911EA2BE3F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B0B0E32-7692-4F69-B725-D2B083D4933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BF295CC-F237-4160-B26B-8106A38DA2DE}"/>
              </a:ext>
            </a:extLst>
          </p:cNvPr>
          <p:cNvSpPr>
            <a:spLocks noGrp="1"/>
          </p:cNvSpPr>
          <p:nvPr>
            <p:ph type="dt" sz="half" idx="10"/>
          </p:nvPr>
        </p:nvSpPr>
        <p:spPr/>
        <p:txBody>
          <a:bodyPr/>
          <a:lstStyle/>
          <a:p>
            <a:fld id="{44406094-5728-4309-A5D5-1F65EA550AED}" type="datetimeFigureOut">
              <a:rPr lang="en-US" smtClean="0"/>
              <a:t>8/22/2023</a:t>
            </a:fld>
            <a:endParaRPr lang="en-US"/>
          </a:p>
        </p:txBody>
      </p:sp>
      <p:sp>
        <p:nvSpPr>
          <p:cNvPr id="5" name="Footer Placeholder 4">
            <a:extLst>
              <a:ext uri="{FF2B5EF4-FFF2-40B4-BE49-F238E27FC236}">
                <a16:creationId xmlns:a16="http://schemas.microsoft.com/office/drawing/2014/main" id="{1C063669-663F-4B4D-BB2D-1CF8A90FC3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E363A8-A45E-4958-93EE-2EC469C933FE}"/>
              </a:ext>
            </a:extLst>
          </p:cNvPr>
          <p:cNvSpPr>
            <a:spLocks noGrp="1"/>
          </p:cNvSpPr>
          <p:nvPr>
            <p:ph type="sldNum" sz="quarter" idx="12"/>
          </p:nvPr>
        </p:nvSpPr>
        <p:spPr/>
        <p:txBody>
          <a:bodyPr/>
          <a:lstStyle/>
          <a:p>
            <a:fld id="{0592B5E6-927B-4F67-BE8E-C25ADC3B36FB}" type="slidenum">
              <a:rPr lang="en-US" smtClean="0"/>
              <a:t>‹#›</a:t>
            </a:fld>
            <a:endParaRPr lang="en-US"/>
          </a:p>
        </p:txBody>
      </p:sp>
    </p:spTree>
    <p:extLst>
      <p:ext uri="{BB962C8B-B14F-4D97-AF65-F5344CB8AC3E}">
        <p14:creationId xmlns:p14="http://schemas.microsoft.com/office/powerpoint/2010/main" val="38170974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F25A595-4645-46C3-8972-A89A0114A1A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C32AE3D-3DBA-48C9-9747-29B097A2FD3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942231-6373-43E3-A088-61535E2BB4C7}"/>
              </a:ext>
            </a:extLst>
          </p:cNvPr>
          <p:cNvSpPr>
            <a:spLocks noGrp="1"/>
          </p:cNvSpPr>
          <p:nvPr>
            <p:ph type="dt" sz="half" idx="10"/>
          </p:nvPr>
        </p:nvSpPr>
        <p:spPr/>
        <p:txBody>
          <a:bodyPr/>
          <a:lstStyle/>
          <a:p>
            <a:fld id="{44406094-5728-4309-A5D5-1F65EA550AED}" type="datetimeFigureOut">
              <a:rPr lang="en-US" smtClean="0"/>
              <a:t>8/22/2023</a:t>
            </a:fld>
            <a:endParaRPr lang="en-US"/>
          </a:p>
        </p:txBody>
      </p:sp>
      <p:sp>
        <p:nvSpPr>
          <p:cNvPr id="5" name="Footer Placeholder 4">
            <a:extLst>
              <a:ext uri="{FF2B5EF4-FFF2-40B4-BE49-F238E27FC236}">
                <a16:creationId xmlns:a16="http://schemas.microsoft.com/office/drawing/2014/main" id="{44E47D1C-E538-4BFD-9CF0-4FC6670282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E3CBEE-ED0A-4202-ACB0-2D56F83B5469}"/>
              </a:ext>
            </a:extLst>
          </p:cNvPr>
          <p:cNvSpPr>
            <a:spLocks noGrp="1"/>
          </p:cNvSpPr>
          <p:nvPr>
            <p:ph type="sldNum" sz="quarter" idx="12"/>
          </p:nvPr>
        </p:nvSpPr>
        <p:spPr/>
        <p:txBody>
          <a:bodyPr/>
          <a:lstStyle/>
          <a:p>
            <a:fld id="{0592B5E6-927B-4F67-BE8E-C25ADC3B36FB}" type="slidenum">
              <a:rPr lang="en-US" smtClean="0"/>
              <a:t>‹#›</a:t>
            </a:fld>
            <a:endParaRPr lang="en-US"/>
          </a:p>
        </p:txBody>
      </p:sp>
    </p:spTree>
    <p:extLst>
      <p:ext uri="{BB962C8B-B14F-4D97-AF65-F5344CB8AC3E}">
        <p14:creationId xmlns:p14="http://schemas.microsoft.com/office/powerpoint/2010/main" val="39089739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A5698-A494-42AB-A40E-0DCA2273676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D289440-2D55-4320-A66E-B1C79FA581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1DE1014-1C2D-4EF4-84CC-C9CA56C194B2}"/>
              </a:ext>
            </a:extLst>
          </p:cNvPr>
          <p:cNvSpPr>
            <a:spLocks noGrp="1"/>
          </p:cNvSpPr>
          <p:nvPr>
            <p:ph type="dt" sz="half" idx="10"/>
          </p:nvPr>
        </p:nvSpPr>
        <p:spPr/>
        <p:txBody>
          <a:bodyPr/>
          <a:lstStyle/>
          <a:p>
            <a:fld id="{B0E1CC25-D104-47CB-814B-0F29443D7DE7}" type="datetimeFigureOut">
              <a:rPr lang="en-US" smtClean="0"/>
              <a:t>8/22/2023</a:t>
            </a:fld>
            <a:endParaRPr lang="en-US"/>
          </a:p>
        </p:txBody>
      </p:sp>
      <p:sp>
        <p:nvSpPr>
          <p:cNvPr id="5" name="Footer Placeholder 4">
            <a:extLst>
              <a:ext uri="{FF2B5EF4-FFF2-40B4-BE49-F238E27FC236}">
                <a16:creationId xmlns:a16="http://schemas.microsoft.com/office/drawing/2014/main" id="{57D52EA9-197D-4BF0-91EF-2FA54084D1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14602E-F59B-4F40-ABFA-83EF51A8893A}"/>
              </a:ext>
            </a:extLst>
          </p:cNvPr>
          <p:cNvSpPr>
            <a:spLocks noGrp="1"/>
          </p:cNvSpPr>
          <p:nvPr>
            <p:ph type="sldNum" sz="quarter" idx="12"/>
          </p:nvPr>
        </p:nvSpPr>
        <p:spPr/>
        <p:txBody>
          <a:bodyPr/>
          <a:lstStyle/>
          <a:p>
            <a:fld id="{DFCF7FBF-61E4-4B3F-B40F-CC68AA6E96DE}" type="slidenum">
              <a:rPr lang="en-US" smtClean="0"/>
              <a:t>‹#›</a:t>
            </a:fld>
            <a:endParaRPr lang="en-US"/>
          </a:p>
        </p:txBody>
      </p:sp>
    </p:spTree>
    <p:extLst>
      <p:ext uri="{BB962C8B-B14F-4D97-AF65-F5344CB8AC3E}">
        <p14:creationId xmlns:p14="http://schemas.microsoft.com/office/powerpoint/2010/main" val="2770971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E4D1A-D79F-43A3-BA71-C770C6A74C3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03A3A6D-A2D0-41FD-8E14-27A1CAC88B3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9B6AB5-A4DD-41FF-9ECC-36905CC96516}"/>
              </a:ext>
            </a:extLst>
          </p:cNvPr>
          <p:cNvSpPr>
            <a:spLocks noGrp="1"/>
          </p:cNvSpPr>
          <p:nvPr>
            <p:ph type="dt" sz="half" idx="10"/>
          </p:nvPr>
        </p:nvSpPr>
        <p:spPr/>
        <p:txBody>
          <a:bodyPr/>
          <a:lstStyle/>
          <a:p>
            <a:fld id="{B0E1CC25-D104-47CB-814B-0F29443D7DE7}" type="datetimeFigureOut">
              <a:rPr lang="en-US" smtClean="0"/>
              <a:t>8/22/2023</a:t>
            </a:fld>
            <a:endParaRPr lang="en-US"/>
          </a:p>
        </p:txBody>
      </p:sp>
      <p:sp>
        <p:nvSpPr>
          <p:cNvPr id="5" name="Footer Placeholder 4">
            <a:extLst>
              <a:ext uri="{FF2B5EF4-FFF2-40B4-BE49-F238E27FC236}">
                <a16:creationId xmlns:a16="http://schemas.microsoft.com/office/drawing/2014/main" id="{4B2A5597-5926-4076-8C9E-D4731A9DEB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EB8ACD-3FFE-4317-9C12-32EE70CEDE01}"/>
              </a:ext>
            </a:extLst>
          </p:cNvPr>
          <p:cNvSpPr>
            <a:spLocks noGrp="1"/>
          </p:cNvSpPr>
          <p:nvPr>
            <p:ph type="sldNum" sz="quarter" idx="12"/>
          </p:nvPr>
        </p:nvSpPr>
        <p:spPr/>
        <p:txBody>
          <a:bodyPr/>
          <a:lstStyle/>
          <a:p>
            <a:fld id="{DFCF7FBF-61E4-4B3F-B40F-CC68AA6E96DE}" type="slidenum">
              <a:rPr lang="en-US" smtClean="0"/>
              <a:t>‹#›</a:t>
            </a:fld>
            <a:endParaRPr lang="en-US"/>
          </a:p>
        </p:txBody>
      </p:sp>
    </p:spTree>
    <p:extLst>
      <p:ext uri="{BB962C8B-B14F-4D97-AF65-F5344CB8AC3E}">
        <p14:creationId xmlns:p14="http://schemas.microsoft.com/office/powerpoint/2010/main" val="27573038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A9ADF-B406-4B2A-8630-3C64FD8308C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0A33A59-B0A0-4868-A41D-83B6703A0F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7E227BD-C181-438B-851E-BCEC4473ABC1}"/>
              </a:ext>
            </a:extLst>
          </p:cNvPr>
          <p:cNvSpPr>
            <a:spLocks noGrp="1"/>
          </p:cNvSpPr>
          <p:nvPr>
            <p:ph type="dt" sz="half" idx="10"/>
          </p:nvPr>
        </p:nvSpPr>
        <p:spPr/>
        <p:txBody>
          <a:bodyPr/>
          <a:lstStyle/>
          <a:p>
            <a:fld id="{B0E1CC25-D104-47CB-814B-0F29443D7DE7}" type="datetimeFigureOut">
              <a:rPr lang="en-US" smtClean="0"/>
              <a:t>8/22/2023</a:t>
            </a:fld>
            <a:endParaRPr lang="en-US"/>
          </a:p>
        </p:txBody>
      </p:sp>
      <p:sp>
        <p:nvSpPr>
          <p:cNvPr id="5" name="Footer Placeholder 4">
            <a:extLst>
              <a:ext uri="{FF2B5EF4-FFF2-40B4-BE49-F238E27FC236}">
                <a16:creationId xmlns:a16="http://schemas.microsoft.com/office/drawing/2014/main" id="{FA93EEE5-7B46-45EC-8845-5B6E8861E9B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B04608-C5B6-41C8-9613-4CAF6AEAA2CB}"/>
              </a:ext>
            </a:extLst>
          </p:cNvPr>
          <p:cNvSpPr>
            <a:spLocks noGrp="1"/>
          </p:cNvSpPr>
          <p:nvPr>
            <p:ph type="sldNum" sz="quarter" idx="12"/>
          </p:nvPr>
        </p:nvSpPr>
        <p:spPr/>
        <p:txBody>
          <a:bodyPr/>
          <a:lstStyle/>
          <a:p>
            <a:fld id="{DFCF7FBF-61E4-4B3F-B40F-CC68AA6E96DE}" type="slidenum">
              <a:rPr lang="en-US" smtClean="0"/>
              <a:t>‹#›</a:t>
            </a:fld>
            <a:endParaRPr lang="en-US"/>
          </a:p>
        </p:txBody>
      </p:sp>
    </p:spTree>
    <p:extLst>
      <p:ext uri="{BB962C8B-B14F-4D97-AF65-F5344CB8AC3E}">
        <p14:creationId xmlns:p14="http://schemas.microsoft.com/office/powerpoint/2010/main" val="4033739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CC9CF-72CB-421F-8F57-ED478B11C66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CCEFC39-77D5-4796-A36D-94D881B1FB2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D177A85-98A1-4F60-99D9-003356FEBF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1366C52-CCC1-44C9-87A6-19C96A9043CF}"/>
              </a:ext>
            </a:extLst>
          </p:cNvPr>
          <p:cNvSpPr>
            <a:spLocks noGrp="1"/>
          </p:cNvSpPr>
          <p:nvPr>
            <p:ph type="dt" sz="half" idx="10"/>
          </p:nvPr>
        </p:nvSpPr>
        <p:spPr/>
        <p:txBody>
          <a:bodyPr/>
          <a:lstStyle/>
          <a:p>
            <a:fld id="{B0E1CC25-D104-47CB-814B-0F29443D7DE7}" type="datetimeFigureOut">
              <a:rPr lang="en-US" smtClean="0"/>
              <a:t>8/22/2023</a:t>
            </a:fld>
            <a:endParaRPr lang="en-US"/>
          </a:p>
        </p:txBody>
      </p:sp>
      <p:sp>
        <p:nvSpPr>
          <p:cNvPr id="6" name="Footer Placeholder 5">
            <a:extLst>
              <a:ext uri="{FF2B5EF4-FFF2-40B4-BE49-F238E27FC236}">
                <a16:creationId xmlns:a16="http://schemas.microsoft.com/office/drawing/2014/main" id="{16D06A7C-2AA1-4702-BBDD-64028007DC4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A547F3-5F7F-4ADC-ABB6-3E84030BEF89}"/>
              </a:ext>
            </a:extLst>
          </p:cNvPr>
          <p:cNvSpPr>
            <a:spLocks noGrp="1"/>
          </p:cNvSpPr>
          <p:nvPr>
            <p:ph type="sldNum" sz="quarter" idx="12"/>
          </p:nvPr>
        </p:nvSpPr>
        <p:spPr/>
        <p:txBody>
          <a:bodyPr/>
          <a:lstStyle/>
          <a:p>
            <a:fld id="{DFCF7FBF-61E4-4B3F-B40F-CC68AA6E96DE}" type="slidenum">
              <a:rPr lang="en-US" smtClean="0"/>
              <a:t>‹#›</a:t>
            </a:fld>
            <a:endParaRPr lang="en-US"/>
          </a:p>
        </p:txBody>
      </p:sp>
    </p:spTree>
    <p:extLst>
      <p:ext uri="{BB962C8B-B14F-4D97-AF65-F5344CB8AC3E}">
        <p14:creationId xmlns:p14="http://schemas.microsoft.com/office/powerpoint/2010/main" val="3553409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696E0-A341-4443-A51D-FA912B5B124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D64AB6F-7579-4BA3-BF7F-EA02E9597D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70860DC-F707-4BE6-937C-0E2935087A7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68B971-DAC6-428F-91E0-211F6099AB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9EECD2-3ADF-4D2C-A9C6-DAAF7925168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CD887F9-F626-45BA-B191-0BDC16EF9B8B}"/>
              </a:ext>
            </a:extLst>
          </p:cNvPr>
          <p:cNvSpPr>
            <a:spLocks noGrp="1"/>
          </p:cNvSpPr>
          <p:nvPr>
            <p:ph type="dt" sz="half" idx="10"/>
          </p:nvPr>
        </p:nvSpPr>
        <p:spPr/>
        <p:txBody>
          <a:bodyPr/>
          <a:lstStyle/>
          <a:p>
            <a:fld id="{B0E1CC25-D104-47CB-814B-0F29443D7DE7}" type="datetimeFigureOut">
              <a:rPr lang="en-US" smtClean="0"/>
              <a:t>8/22/2023</a:t>
            </a:fld>
            <a:endParaRPr lang="en-US"/>
          </a:p>
        </p:txBody>
      </p:sp>
      <p:sp>
        <p:nvSpPr>
          <p:cNvPr id="8" name="Footer Placeholder 7">
            <a:extLst>
              <a:ext uri="{FF2B5EF4-FFF2-40B4-BE49-F238E27FC236}">
                <a16:creationId xmlns:a16="http://schemas.microsoft.com/office/drawing/2014/main" id="{3FCCC1E8-4C57-4494-A871-408C1244A31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003838A-CF3B-479E-B1BE-813133EB6C60}"/>
              </a:ext>
            </a:extLst>
          </p:cNvPr>
          <p:cNvSpPr>
            <a:spLocks noGrp="1"/>
          </p:cNvSpPr>
          <p:nvPr>
            <p:ph type="sldNum" sz="quarter" idx="12"/>
          </p:nvPr>
        </p:nvSpPr>
        <p:spPr/>
        <p:txBody>
          <a:bodyPr/>
          <a:lstStyle/>
          <a:p>
            <a:fld id="{DFCF7FBF-61E4-4B3F-B40F-CC68AA6E96DE}" type="slidenum">
              <a:rPr lang="en-US" smtClean="0"/>
              <a:t>‹#›</a:t>
            </a:fld>
            <a:endParaRPr lang="en-US"/>
          </a:p>
        </p:txBody>
      </p:sp>
    </p:spTree>
    <p:extLst>
      <p:ext uri="{BB962C8B-B14F-4D97-AF65-F5344CB8AC3E}">
        <p14:creationId xmlns:p14="http://schemas.microsoft.com/office/powerpoint/2010/main" val="6327425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87235-0933-4327-86D7-B54DAA777E5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16D0154-C362-4F4F-81E7-295E0D176202}"/>
              </a:ext>
            </a:extLst>
          </p:cNvPr>
          <p:cNvSpPr>
            <a:spLocks noGrp="1"/>
          </p:cNvSpPr>
          <p:nvPr>
            <p:ph type="dt" sz="half" idx="10"/>
          </p:nvPr>
        </p:nvSpPr>
        <p:spPr/>
        <p:txBody>
          <a:bodyPr/>
          <a:lstStyle/>
          <a:p>
            <a:fld id="{B0E1CC25-D104-47CB-814B-0F29443D7DE7}" type="datetimeFigureOut">
              <a:rPr lang="en-US" smtClean="0"/>
              <a:t>8/22/2023</a:t>
            </a:fld>
            <a:endParaRPr lang="en-US"/>
          </a:p>
        </p:txBody>
      </p:sp>
      <p:sp>
        <p:nvSpPr>
          <p:cNvPr id="4" name="Footer Placeholder 3">
            <a:extLst>
              <a:ext uri="{FF2B5EF4-FFF2-40B4-BE49-F238E27FC236}">
                <a16:creationId xmlns:a16="http://schemas.microsoft.com/office/drawing/2014/main" id="{F0A7FEDB-6B23-4AF1-BA7E-E8F6EB625D7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E394F73-1EC0-433B-BAF1-A5BB674B8595}"/>
              </a:ext>
            </a:extLst>
          </p:cNvPr>
          <p:cNvSpPr>
            <a:spLocks noGrp="1"/>
          </p:cNvSpPr>
          <p:nvPr>
            <p:ph type="sldNum" sz="quarter" idx="12"/>
          </p:nvPr>
        </p:nvSpPr>
        <p:spPr/>
        <p:txBody>
          <a:bodyPr/>
          <a:lstStyle/>
          <a:p>
            <a:fld id="{DFCF7FBF-61E4-4B3F-B40F-CC68AA6E96DE}" type="slidenum">
              <a:rPr lang="en-US" smtClean="0"/>
              <a:t>‹#›</a:t>
            </a:fld>
            <a:endParaRPr lang="en-US"/>
          </a:p>
        </p:txBody>
      </p:sp>
    </p:spTree>
    <p:extLst>
      <p:ext uri="{BB962C8B-B14F-4D97-AF65-F5344CB8AC3E}">
        <p14:creationId xmlns:p14="http://schemas.microsoft.com/office/powerpoint/2010/main" val="962339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019D422-7D91-4510-84D5-4A86D13B4B98}"/>
              </a:ext>
            </a:extLst>
          </p:cNvPr>
          <p:cNvSpPr>
            <a:spLocks noGrp="1"/>
          </p:cNvSpPr>
          <p:nvPr>
            <p:ph type="dt" sz="half" idx="10"/>
          </p:nvPr>
        </p:nvSpPr>
        <p:spPr/>
        <p:txBody>
          <a:bodyPr/>
          <a:lstStyle/>
          <a:p>
            <a:fld id="{B0E1CC25-D104-47CB-814B-0F29443D7DE7}" type="datetimeFigureOut">
              <a:rPr lang="en-US" smtClean="0"/>
              <a:t>8/22/2023</a:t>
            </a:fld>
            <a:endParaRPr lang="en-US"/>
          </a:p>
        </p:txBody>
      </p:sp>
      <p:sp>
        <p:nvSpPr>
          <p:cNvPr id="3" name="Footer Placeholder 2">
            <a:extLst>
              <a:ext uri="{FF2B5EF4-FFF2-40B4-BE49-F238E27FC236}">
                <a16:creationId xmlns:a16="http://schemas.microsoft.com/office/drawing/2014/main" id="{19A1513C-0B70-47FB-9665-9A9C35400D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D59BA44-709E-4BCF-AA59-598684BB0AAC}"/>
              </a:ext>
            </a:extLst>
          </p:cNvPr>
          <p:cNvSpPr>
            <a:spLocks noGrp="1"/>
          </p:cNvSpPr>
          <p:nvPr>
            <p:ph type="sldNum" sz="quarter" idx="12"/>
          </p:nvPr>
        </p:nvSpPr>
        <p:spPr/>
        <p:txBody>
          <a:bodyPr/>
          <a:lstStyle/>
          <a:p>
            <a:fld id="{DFCF7FBF-61E4-4B3F-B40F-CC68AA6E96DE}" type="slidenum">
              <a:rPr lang="en-US" smtClean="0"/>
              <a:t>‹#›</a:t>
            </a:fld>
            <a:endParaRPr lang="en-US"/>
          </a:p>
        </p:txBody>
      </p:sp>
    </p:spTree>
    <p:extLst>
      <p:ext uri="{BB962C8B-B14F-4D97-AF65-F5344CB8AC3E}">
        <p14:creationId xmlns:p14="http://schemas.microsoft.com/office/powerpoint/2010/main" val="9837223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5090C-3AB9-44A5-B99D-53C9E30448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84EECC7-6F94-4857-887B-A5C67B8F77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CC9DA1E-9BCF-4C29-B2D0-6B7CC73903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EEBCFF-700E-4535-944D-01EF19302BD0}"/>
              </a:ext>
            </a:extLst>
          </p:cNvPr>
          <p:cNvSpPr>
            <a:spLocks noGrp="1"/>
          </p:cNvSpPr>
          <p:nvPr>
            <p:ph type="dt" sz="half" idx="10"/>
          </p:nvPr>
        </p:nvSpPr>
        <p:spPr/>
        <p:txBody>
          <a:bodyPr/>
          <a:lstStyle/>
          <a:p>
            <a:fld id="{B0E1CC25-D104-47CB-814B-0F29443D7DE7}" type="datetimeFigureOut">
              <a:rPr lang="en-US" smtClean="0"/>
              <a:t>8/22/2023</a:t>
            </a:fld>
            <a:endParaRPr lang="en-US"/>
          </a:p>
        </p:txBody>
      </p:sp>
      <p:sp>
        <p:nvSpPr>
          <p:cNvPr id="6" name="Footer Placeholder 5">
            <a:extLst>
              <a:ext uri="{FF2B5EF4-FFF2-40B4-BE49-F238E27FC236}">
                <a16:creationId xmlns:a16="http://schemas.microsoft.com/office/drawing/2014/main" id="{5FC493A6-BABC-44CA-8A84-DDD2959FF5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D61BCDF-D2C9-4966-8D41-B825474B06F7}"/>
              </a:ext>
            </a:extLst>
          </p:cNvPr>
          <p:cNvSpPr>
            <a:spLocks noGrp="1"/>
          </p:cNvSpPr>
          <p:nvPr>
            <p:ph type="sldNum" sz="quarter" idx="12"/>
          </p:nvPr>
        </p:nvSpPr>
        <p:spPr/>
        <p:txBody>
          <a:bodyPr/>
          <a:lstStyle/>
          <a:p>
            <a:fld id="{DFCF7FBF-61E4-4B3F-B40F-CC68AA6E96DE}" type="slidenum">
              <a:rPr lang="en-US" smtClean="0"/>
              <a:t>‹#›</a:t>
            </a:fld>
            <a:endParaRPr lang="en-US"/>
          </a:p>
        </p:txBody>
      </p:sp>
    </p:spTree>
    <p:extLst>
      <p:ext uri="{BB962C8B-B14F-4D97-AF65-F5344CB8AC3E}">
        <p14:creationId xmlns:p14="http://schemas.microsoft.com/office/powerpoint/2010/main" val="5436334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1B42F-710A-4877-9888-A546690ABA0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275563E-5E5A-4833-B191-5328213DB8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1DB1B22-2F6D-4CA8-8A48-A5729AF2BB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1453E1D-51FD-40FC-BE2D-000B7407BBD0}"/>
              </a:ext>
            </a:extLst>
          </p:cNvPr>
          <p:cNvSpPr>
            <a:spLocks noGrp="1"/>
          </p:cNvSpPr>
          <p:nvPr>
            <p:ph type="dt" sz="half" idx="10"/>
          </p:nvPr>
        </p:nvSpPr>
        <p:spPr/>
        <p:txBody>
          <a:bodyPr/>
          <a:lstStyle/>
          <a:p>
            <a:fld id="{B0E1CC25-D104-47CB-814B-0F29443D7DE7}" type="datetimeFigureOut">
              <a:rPr lang="en-US" smtClean="0"/>
              <a:t>8/22/2023</a:t>
            </a:fld>
            <a:endParaRPr lang="en-US"/>
          </a:p>
        </p:txBody>
      </p:sp>
      <p:sp>
        <p:nvSpPr>
          <p:cNvPr id="6" name="Footer Placeholder 5">
            <a:extLst>
              <a:ext uri="{FF2B5EF4-FFF2-40B4-BE49-F238E27FC236}">
                <a16:creationId xmlns:a16="http://schemas.microsoft.com/office/drawing/2014/main" id="{185EDD31-AA65-4ECD-A9A7-12B0B4B306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0A9262-7065-412D-BF07-FE3165BC23A8}"/>
              </a:ext>
            </a:extLst>
          </p:cNvPr>
          <p:cNvSpPr>
            <a:spLocks noGrp="1"/>
          </p:cNvSpPr>
          <p:nvPr>
            <p:ph type="sldNum" sz="quarter" idx="12"/>
          </p:nvPr>
        </p:nvSpPr>
        <p:spPr/>
        <p:txBody>
          <a:bodyPr/>
          <a:lstStyle/>
          <a:p>
            <a:fld id="{DFCF7FBF-61E4-4B3F-B40F-CC68AA6E96DE}" type="slidenum">
              <a:rPr lang="en-US" smtClean="0"/>
              <a:t>‹#›</a:t>
            </a:fld>
            <a:endParaRPr lang="en-US"/>
          </a:p>
        </p:txBody>
      </p:sp>
    </p:spTree>
    <p:extLst>
      <p:ext uri="{BB962C8B-B14F-4D97-AF65-F5344CB8AC3E}">
        <p14:creationId xmlns:p14="http://schemas.microsoft.com/office/powerpoint/2010/main" val="405446579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67C28B-0681-46F8-9F17-CF6AFE98D66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5AA0B22-AC7D-4176-B537-0107CB765F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A9E150-3E30-4E33-816A-5E513CD6DF82}"/>
              </a:ext>
            </a:extLst>
          </p:cNvPr>
          <p:cNvSpPr>
            <a:spLocks noGrp="1"/>
          </p:cNvSpPr>
          <p:nvPr>
            <p:ph type="dt" sz="half" idx="10"/>
          </p:nvPr>
        </p:nvSpPr>
        <p:spPr/>
        <p:txBody>
          <a:bodyPr/>
          <a:lstStyle/>
          <a:p>
            <a:fld id="{B0E1CC25-D104-47CB-814B-0F29443D7DE7}" type="datetimeFigureOut">
              <a:rPr lang="en-US" smtClean="0"/>
              <a:t>8/22/2023</a:t>
            </a:fld>
            <a:endParaRPr lang="en-US"/>
          </a:p>
        </p:txBody>
      </p:sp>
      <p:sp>
        <p:nvSpPr>
          <p:cNvPr id="5" name="Footer Placeholder 4">
            <a:extLst>
              <a:ext uri="{FF2B5EF4-FFF2-40B4-BE49-F238E27FC236}">
                <a16:creationId xmlns:a16="http://schemas.microsoft.com/office/drawing/2014/main" id="{72104470-B289-4213-8235-234CAEDE2B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131746-51AF-44A5-B6F0-DFDC51B4E979}"/>
              </a:ext>
            </a:extLst>
          </p:cNvPr>
          <p:cNvSpPr>
            <a:spLocks noGrp="1"/>
          </p:cNvSpPr>
          <p:nvPr>
            <p:ph type="sldNum" sz="quarter" idx="12"/>
          </p:nvPr>
        </p:nvSpPr>
        <p:spPr/>
        <p:txBody>
          <a:bodyPr/>
          <a:lstStyle/>
          <a:p>
            <a:fld id="{DFCF7FBF-61E4-4B3F-B40F-CC68AA6E96DE}" type="slidenum">
              <a:rPr lang="en-US" smtClean="0"/>
              <a:t>‹#›</a:t>
            </a:fld>
            <a:endParaRPr lang="en-US"/>
          </a:p>
        </p:txBody>
      </p:sp>
    </p:spTree>
    <p:extLst>
      <p:ext uri="{BB962C8B-B14F-4D97-AF65-F5344CB8AC3E}">
        <p14:creationId xmlns:p14="http://schemas.microsoft.com/office/powerpoint/2010/main" val="15325452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9BBAA3-3DDC-477A-9F8C-F17F8834BC7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147B663-CCEC-4A43-B66D-91CE604B51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18E9E1C-0FAE-4D0D-BA1B-CC94E2B487B6}"/>
              </a:ext>
            </a:extLst>
          </p:cNvPr>
          <p:cNvSpPr>
            <a:spLocks noGrp="1"/>
          </p:cNvSpPr>
          <p:nvPr>
            <p:ph type="dt" sz="half" idx="10"/>
          </p:nvPr>
        </p:nvSpPr>
        <p:spPr/>
        <p:txBody>
          <a:bodyPr/>
          <a:lstStyle/>
          <a:p>
            <a:fld id="{B0E1CC25-D104-47CB-814B-0F29443D7DE7}" type="datetimeFigureOut">
              <a:rPr lang="en-US" smtClean="0"/>
              <a:t>8/22/2023</a:t>
            </a:fld>
            <a:endParaRPr lang="en-US"/>
          </a:p>
        </p:txBody>
      </p:sp>
      <p:sp>
        <p:nvSpPr>
          <p:cNvPr id="5" name="Footer Placeholder 4">
            <a:extLst>
              <a:ext uri="{FF2B5EF4-FFF2-40B4-BE49-F238E27FC236}">
                <a16:creationId xmlns:a16="http://schemas.microsoft.com/office/drawing/2014/main" id="{85D7851E-362E-4849-AF1E-66F1EF5BAD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9CF5FB-1EF2-46BA-959E-1A794996CDAC}"/>
              </a:ext>
            </a:extLst>
          </p:cNvPr>
          <p:cNvSpPr>
            <a:spLocks noGrp="1"/>
          </p:cNvSpPr>
          <p:nvPr>
            <p:ph type="sldNum" sz="quarter" idx="12"/>
          </p:nvPr>
        </p:nvSpPr>
        <p:spPr/>
        <p:txBody>
          <a:bodyPr/>
          <a:lstStyle/>
          <a:p>
            <a:fld id="{DFCF7FBF-61E4-4B3F-B40F-CC68AA6E96DE}" type="slidenum">
              <a:rPr lang="en-US" smtClean="0"/>
              <a:t>‹#›</a:t>
            </a:fld>
            <a:endParaRPr lang="en-US"/>
          </a:p>
        </p:txBody>
      </p:sp>
    </p:spTree>
    <p:extLst>
      <p:ext uri="{BB962C8B-B14F-4D97-AF65-F5344CB8AC3E}">
        <p14:creationId xmlns:p14="http://schemas.microsoft.com/office/powerpoint/2010/main" val="2814786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Shape 142"/>
        <p:cNvGrpSpPr/>
        <p:nvPr/>
      </p:nvGrpSpPr>
      <p:grpSpPr>
        <a:xfrm>
          <a:off x="0" y="0"/>
          <a:ext cx="0" cy="0"/>
          <a:chOff x="0" y="0"/>
          <a:chExt cx="0" cy="0"/>
        </a:xfrm>
      </p:grpSpPr>
      <p:sp>
        <p:nvSpPr>
          <p:cNvPr id="143" name="Shape 143"/>
          <p:cNvSpPr txBox="1">
            <a:spLocks noGrp="1"/>
          </p:cNvSpPr>
          <p:nvPr>
            <p:ph type="title"/>
          </p:nvPr>
        </p:nvSpPr>
        <p:spPr>
          <a:xfrm>
            <a:off x="609600" y="457201"/>
            <a:ext cx="10972800" cy="1371599"/>
          </a:xfrm>
          <a:prstGeom prst="rect">
            <a:avLst/>
          </a:prstGeom>
          <a:noFill/>
          <a:ln>
            <a:noFill/>
          </a:ln>
        </p:spPr>
        <p:txBody>
          <a:bodyPr lIns="91425" tIns="91425" rIns="91425" bIns="91425" anchor="t" anchorCtr="0"/>
          <a:lstStyle>
            <a:lvl1pPr algn="l" rtl="0">
              <a:spcBef>
                <a:spcPts val="0"/>
              </a:spcBef>
              <a:buClr>
                <a:schemeClr val="accent1"/>
              </a:buClr>
              <a:buFont typeface="Trebuchet MS"/>
              <a:buNone/>
              <a:defRPr/>
            </a:lvl1pPr>
            <a:lvl2pPr rtl="0">
              <a:spcBef>
                <a:spcPts val="0"/>
              </a:spcBef>
              <a:defRPr/>
            </a:lvl2pPr>
            <a:lvl3pPr rtl="0">
              <a:spcBef>
                <a:spcPts val="0"/>
              </a:spcBef>
              <a:defRPr/>
            </a:lvl3pPr>
            <a:lvl4pPr rtl="0">
              <a:spcBef>
                <a:spcPts val="0"/>
              </a:spcBef>
              <a:defRPr/>
            </a:lvl4pPr>
            <a:lvl5pPr rtl="0">
              <a:spcBef>
                <a:spcPts val="0"/>
              </a:spcBef>
              <a:defRPr/>
            </a:lvl5pPr>
            <a:lvl6pPr rtl="0">
              <a:spcBef>
                <a:spcPts val="0"/>
              </a:spcBef>
              <a:defRPr/>
            </a:lvl6pPr>
            <a:lvl7pPr rtl="0">
              <a:spcBef>
                <a:spcPts val="0"/>
              </a:spcBef>
              <a:defRPr/>
            </a:lvl7pPr>
            <a:lvl8pPr rtl="0">
              <a:spcBef>
                <a:spcPts val="0"/>
              </a:spcBef>
              <a:defRPr/>
            </a:lvl8pPr>
            <a:lvl9pPr rtl="0">
              <a:spcBef>
                <a:spcPts val="0"/>
              </a:spcBef>
              <a:defRPr/>
            </a:lvl9pPr>
          </a:lstStyle>
          <a:p>
            <a:endParaRPr/>
          </a:p>
        </p:txBody>
      </p:sp>
      <p:sp>
        <p:nvSpPr>
          <p:cNvPr id="144" name="Shape 144"/>
          <p:cNvSpPr txBox="1">
            <a:spLocks noGrp="1"/>
          </p:cNvSpPr>
          <p:nvPr>
            <p:ph type="ftr" idx="11"/>
          </p:nvPr>
        </p:nvSpPr>
        <p:spPr>
          <a:xfrm>
            <a:off x="812798" y="6041363"/>
            <a:ext cx="6163963" cy="365125"/>
          </a:xfrm>
          <a:prstGeom prst="rect">
            <a:avLst/>
          </a:prstGeom>
          <a:noFill/>
          <a:ln>
            <a:noFill/>
          </a:ln>
        </p:spPr>
        <p:txBody>
          <a:bodyPr lIns="91425" tIns="91425" rIns="91425" bIns="91425" anchor="ctr" anchorCtr="0"/>
          <a:lstStyle>
            <a:lvl1pPr marL="0" marR="0" indent="0" algn="l" rtl="0">
              <a:spcBef>
                <a:spcPts val="0"/>
              </a:spcBef>
              <a:defRPr/>
            </a:lvl1pPr>
            <a:lvl2pPr marL="457200" marR="0" indent="0" algn="l" rtl="0">
              <a:spcBef>
                <a:spcPts val="0"/>
              </a:spcBef>
              <a:defRPr/>
            </a:lvl2pPr>
            <a:lvl3pPr marL="914400" marR="0" indent="0" algn="l" rtl="0">
              <a:spcBef>
                <a:spcPts val="0"/>
              </a:spcBef>
              <a:defRPr/>
            </a:lvl3pPr>
            <a:lvl4pPr marL="1371600" marR="0" indent="0" algn="l" rtl="0">
              <a:spcBef>
                <a:spcPts val="0"/>
              </a:spcBef>
              <a:defRPr/>
            </a:lvl4pPr>
            <a:lvl5pPr marL="1828800" marR="0" indent="0" algn="l" rtl="0">
              <a:spcBef>
                <a:spcPts val="0"/>
              </a:spcBef>
              <a:defRPr/>
            </a:lvl5pPr>
            <a:lvl6pPr marL="2286000" marR="0" indent="0" algn="l" rtl="0">
              <a:spcBef>
                <a:spcPts val="0"/>
              </a:spcBef>
              <a:defRPr/>
            </a:lvl6pPr>
            <a:lvl7pPr marL="2743200" marR="0" indent="0" algn="l" rtl="0">
              <a:spcBef>
                <a:spcPts val="0"/>
              </a:spcBef>
              <a:defRPr/>
            </a:lvl7pPr>
            <a:lvl8pPr marL="3200400" marR="0" indent="0" algn="l" rtl="0">
              <a:spcBef>
                <a:spcPts val="0"/>
              </a:spcBef>
              <a:defRPr/>
            </a:lvl8pPr>
            <a:lvl9pPr marL="3657600" marR="0" indent="0" algn="l" rtl="0">
              <a:spcBef>
                <a:spcPts val="0"/>
              </a:spcBef>
              <a:defRPr/>
            </a:lvl9pPr>
          </a:lstStyle>
          <a:p>
            <a:endParaRPr/>
          </a:p>
        </p:txBody>
      </p:sp>
      <p:sp>
        <p:nvSpPr>
          <p:cNvPr id="145" name="Shape 145"/>
          <p:cNvSpPr txBox="1">
            <a:spLocks noGrp="1"/>
          </p:cNvSpPr>
          <p:nvPr>
            <p:ph type="sldNum" idx="12"/>
          </p:nvPr>
        </p:nvSpPr>
        <p:spPr>
          <a:xfrm>
            <a:off x="8592902" y="6041363"/>
            <a:ext cx="683517" cy="365125"/>
          </a:xfrm>
          <a:prstGeom prst="rect">
            <a:avLst/>
          </a:prstGeom>
          <a:noFill/>
          <a:ln>
            <a:noFill/>
          </a:ln>
        </p:spPr>
        <p:txBody>
          <a:bodyPr lIns="91425" tIns="91425" rIns="91425" bIns="91425" anchor="ctr" anchorCtr="0"/>
          <a:lstStyle>
            <a:lvl1pPr marL="0" marR="0" indent="0" algn="r" rtl="0">
              <a:spcBef>
                <a:spcPts val="0"/>
              </a:spcBef>
              <a:defRPr/>
            </a:lvl1pPr>
            <a:lvl2pPr marL="457200" marR="0" indent="0" algn="l" rtl="0">
              <a:spcBef>
                <a:spcPts val="0"/>
              </a:spcBef>
              <a:defRPr/>
            </a:lvl2pPr>
            <a:lvl3pPr marL="914400" marR="0" indent="0" algn="l" rtl="0">
              <a:spcBef>
                <a:spcPts val="0"/>
              </a:spcBef>
              <a:defRPr/>
            </a:lvl3pPr>
            <a:lvl4pPr marL="1371600" marR="0" indent="0" algn="l" rtl="0">
              <a:spcBef>
                <a:spcPts val="0"/>
              </a:spcBef>
              <a:defRPr/>
            </a:lvl4pPr>
            <a:lvl5pPr marL="1828800" marR="0" indent="0" algn="l" rtl="0">
              <a:spcBef>
                <a:spcPts val="0"/>
              </a:spcBef>
              <a:defRPr/>
            </a:lvl5pPr>
            <a:lvl6pPr marL="2286000" marR="0" indent="0" algn="l" rtl="0">
              <a:spcBef>
                <a:spcPts val="0"/>
              </a:spcBef>
              <a:defRPr/>
            </a:lvl6pPr>
            <a:lvl7pPr marL="2743200" marR="0" indent="0" algn="l" rtl="0">
              <a:spcBef>
                <a:spcPts val="0"/>
              </a:spcBef>
              <a:defRPr/>
            </a:lvl7pPr>
            <a:lvl8pPr marL="3200400" marR="0" indent="0" algn="l" rtl="0">
              <a:spcBef>
                <a:spcPts val="0"/>
              </a:spcBef>
              <a:defRPr/>
            </a:lvl8pPr>
            <a:lvl9pPr marL="3657600" marR="0" indent="0" algn="l" rtl="0">
              <a:spcBef>
                <a:spcPts val="0"/>
              </a:spcBef>
              <a:defRPr/>
            </a:lvl9pPr>
          </a:lstStyle>
          <a:p>
            <a:endParaRPr/>
          </a:p>
        </p:txBody>
      </p:sp>
      <p:sp>
        <p:nvSpPr>
          <p:cNvPr id="146" name="Shape 146"/>
          <p:cNvSpPr txBox="1">
            <a:spLocks noGrp="1"/>
          </p:cNvSpPr>
          <p:nvPr>
            <p:ph type="dt" idx="10"/>
          </p:nvPr>
        </p:nvSpPr>
        <p:spPr>
          <a:xfrm>
            <a:off x="7207009" y="6041363"/>
            <a:ext cx="912176" cy="365125"/>
          </a:xfrm>
          <a:prstGeom prst="rect">
            <a:avLst/>
          </a:prstGeom>
          <a:noFill/>
          <a:ln>
            <a:noFill/>
          </a:ln>
        </p:spPr>
        <p:txBody>
          <a:bodyPr lIns="91425" tIns="91425" rIns="91425" bIns="91425" anchor="ctr" anchorCtr="0"/>
          <a:lstStyle>
            <a:lvl1pPr marL="0" marR="0" indent="0" algn="r" rtl="0">
              <a:spcBef>
                <a:spcPts val="0"/>
              </a:spcBef>
              <a:defRPr/>
            </a:lvl1pPr>
            <a:lvl2pPr marL="457200" marR="0" indent="0" algn="l" rtl="0">
              <a:spcBef>
                <a:spcPts val="0"/>
              </a:spcBef>
              <a:defRPr/>
            </a:lvl2pPr>
            <a:lvl3pPr marL="914400" marR="0" indent="0" algn="l" rtl="0">
              <a:spcBef>
                <a:spcPts val="0"/>
              </a:spcBef>
              <a:defRPr/>
            </a:lvl3pPr>
            <a:lvl4pPr marL="1371600" marR="0" indent="0" algn="l" rtl="0">
              <a:spcBef>
                <a:spcPts val="0"/>
              </a:spcBef>
              <a:defRPr/>
            </a:lvl4pPr>
            <a:lvl5pPr marL="1828800" marR="0" indent="0" algn="l" rtl="0">
              <a:spcBef>
                <a:spcPts val="0"/>
              </a:spcBef>
              <a:defRPr/>
            </a:lvl5pPr>
            <a:lvl6pPr marL="2286000" marR="0" indent="0" algn="l" rtl="0">
              <a:spcBef>
                <a:spcPts val="0"/>
              </a:spcBef>
              <a:defRPr/>
            </a:lvl6pPr>
            <a:lvl7pPr marL="2743200" marR="0" indent="0" algn="l" rtl="0">
              <a:spcBef>
                <a:spcPts val="0"/>
              </a:spcBef>
              <a:defRPr/>
            </a:lvl7pPr>
            <a:lvl8pPr marL="3200400" marR="0" indent="0" algn="l" rtl="0">
              <a:spcBef>
                <a:spcPts val="0"/>
              </a:spcBef>
              <a:defRPr/>
            </a:lvl8pPr>
            <a:lvl9pPr marL="3657600" marR="0" indent="0" algn="l" rtl="0">
              <a:spcBef>
                <a:spcPts val="0"/>
              </a:spcBef>
              <a:defRPr/>
            </a:lvl9pPr>
          </a:lstStyle>
          <a:p>
            <a:endParaRPr/>
          </a:p>
        </p:txBody>
      </p:sp>
    </p:spTree>
    <p:extLst>
      <p:ext uri="{BB962C8B-B14F-4D97-AF65-F5344CB8AC3E}">
        <p14:creationId xmlns:p14="http://schemas.microsoft.com/office/powerpoint/2010/main" val="2146272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DC823F-C9A1-4FD5-9794-9F856FB7E34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0460A53-0ABB-4BE5-8C04-740E66F13C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C326528-F514-4FEF-8D7A-3565064B88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4406094-5728-4309-A5D5-1F65EA550AED}" type="datetimeFigureOut">
              <a:rPr lang="en-US" smtClean="0"/>
              <a:t>8/22/2023</a:t>
            </a:fld>
            <a:endParaRPr lang="en-US"/>
          </a:p>
        </p:txBody>
      </p:sp>
      <p:sp>
        <p:nvSpPr>
          <p:cNvPr id="5" name="Footer Placeholder 4">
            <a:extLst>
              <a:ext uri="{FF2B5EF4-FFF2-40B4-BE49-F238E27FC236}">
                <a16:creationId xmlns:a16="http://schemas.microsoft.com/office/drawing/2014/main" id="{2AD07E21-9A69-4C17-A11C-EEEBC61AE2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3A4EA94-AF59-4594-9678-D01B9418FF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92B5E6-927B-4F67-BE8E-C25ADC3B36FB}" type="slidenum">
              <a:rPr lang="en-US" smtClean="0"/>
              <a:t>‹#›</a:t>
            </a:fld>
            <a:endParaRPr lang="en-US"/>
          </a:p>
        </p:txBody>
      </p:sp>
    </p:spTree>
    <p:extLst>
      <p:ext uri="{BB962C8B-B14F-4D97-AF65-F5344CB8AC3E}">
        <p14:creationId xmlns:p14="http://schemas.microsoft.com/office/powerpoint/2010/main" val="1221969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0BFE73-2B1E-4AA8-BAA4-AA3EE25C2ED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58868FA-12A1-4905-9931-3A9108D842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290CCB-E21C-409B-BFA4-7FD3708AFD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0E1CC25-D104-47CB-814B-0F29443D7DE7}" type="datetimeFigureOut">
              <a:rPr lang="en-US" smtClean="0"/>
              <a:t>8/22/2023</a:t>
            </a:fld>
            <a:endParaRPr lang="en-US"/>
          </a:p>
        </p:txBody>
      </p:sp>
      <p:sp>
        <p:nvSpPr>
          <p:cNvPr id="5" name="Footer Placeholder 4">
            <a:extLst>
              <a:ext uri="{FF2B5EF4-FFF2-40B4-BE49-F238E27FC236}">
                <a16:creationId xmlns:a16="http://schemas.microsoft.com/office/drawing/2014/main" id="{B3D37F84-A0FC-4B0A-8DF5-6E9AEE780F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E7AE8E9-6BA4-4C5F-99D4-8224A8C93A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CF7FBF-61E4-4B3F-B40F-CC68AA6E96DE}" type="slidenum">
              <a:rPr lang="en-US" smtClean="0"/>
              <a:t>‹#›</a:t>
            </a:fld>
            <a:endParaRPr lang="en-US"/>
          </a:p>
        </p:txBody>
      </p:sp>
    </p:spTree>
    <p:extLst>
      <p:ext uri="{BB962C8B-B14F-4D97-AF65-F5344CB8AC3E}">
        <p14:creationId xmlns:p14="http://schemas.microsoft.com/office/powerpoint/2010/main" val="9336452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28914-ED0C-433D-B23A-F6491A128566}"/>
              </a:ext>
            </a:extLst>
          </p:cNvPr>
          <p:cNvSpPr>
            <a:spLocks noGrp="1"/>
          </p:cNvSpPr>
          <p:nvPr>
            <p:ph type="ctrTitle"/>
          </p:nvPr>
        </p:nvSpPr>
        <p:spPr/>
        <p:txBody>
          <a:bodyPr/>
          <a:lstStyle/>
          <a:p>
            <a:r>
              <a:rPr lang="en-US" b="1" dirty="0">
                <a:solidFill>
                  <a:srgbClr val="002060"/>
                </a:solidFill>
                <a:latin typeface="+mn-lt"/>
              </a:rPr>
              <a:t>Scientific Method</a:t>
            </a:r>
          </a:p>
        </p:txBody>
      </p:sp>
    </p:spTree>
    <p:extLst>
      <p:ext uri="{BB962C8B-B14F-4D97-AF65-F5344CB8AC3E}">
        <p14:creationId xmlns:p14="http://schemas.microsoft.com/office/powerpoint/2010/main" val="28557156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65596-EB60-4C52-9970-C8A64746DF92}"/>
              </a:ext>
            </a:extLst>
          </p:cNvPr>
          <p:cNvSpPr>
            <a:spLocks noGrp="1"/>
          </p:cNvSpPr>
          <p:nvPr>
            <p:ph type="title"/>
          </p:nvPr>
        </p:nvSpPr>
        <p:spPr>
          <a:xfrm>
            <a:off x="838200" y="941901"/>
            <a:ext cx="10515600" cy="1325563"/>
          </a:xfrm>
        </p:spPr>
        <p:txBody>
          <a:bodyPr/>
          <a:lstStyle/>
          <a:p>
            <a:r>
              <a:rPr lang="en-US" dirty="0">
                <a:solidFill>
                  <a:srgbClr val="002060"/>
                </a:solidFill>
                <a:latin typeface="+mn-lt"/>
              </a:rPr>
              <a:t>Scientific Method</a:t>
            </a:r>
          </a:p>
        </p:txBody>
      </p:sp>
      <p:sp>
        <p:nvSpPr>
          <p:cNvPr id="3" name="Content Placeholder 2">
            <a:extLst>
              <a:ext uri="{FF2B5EF4-FFF2-40B4-BE49-F238E27FC236}">
                <a16:creationId xmlns:a16="http://schemas.microsoft.com/office/drawing/2014/main" id="{B3C98E97-B5C5-40FA-AFAD-62B845A88034}"/>
              </a:ext>
            </a:extLst>
          </p:cNvPr>
          <p:cNvSpPr>
            <a:spLocks noGrp="1"/>
          </p:cNvSpPr>
          <p:nvPr>
            <p:ph idx="1"/>
          </p:nvPr>
        </p:nvSpPr>
        <p:spPr>
          <a:xfrm>
            <a:off x="838200" y="3305907"/>
            <a:ext cx="10515600" cy="2871055"/>
          </a:xfrm>
        </p:spPr>
        <p:txBody>
          <a:bodyPr>
            <a:normAutofit/>
          </a:bodyPr>
          <a:lstStyle/>
          <a:p>
            <a:pPr marL="0" indent="0" algn="ctr">
              <a:buNone/>
            </a:pPr>
            <a:r>
              <a:rPr lang="en-US" sz="3600" dirty="0">
                <a:solidFill>
                  <a:srgbClr val="002060"/>
                </a:solidFill>
              </a:rPr>
              <a:t>Steps that a scientist follows to test ideas</a:t>
            </a:r>
          </a:p>
        </p:txBody>
      </p:sp>
    </p:spTree>
    <p:extLst>
      <p:ext uri="{BB962C8B-B14F-4D97-AF65-F5344CB8AC3E}">
        <p14:creationId xmlns:p14="http://schemas.microsoft.com/office/powerpoint/2010/main" val="19483381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A5B4B-DFB2-4314-9FCF-0E206DA0EC49}"/>
              </a:ext>
            </a:extLst>
          </p:cNvPr>
          <p:cNvSpPr>
            <a:spLocks noGrp="1"/>
          </p:cNvSpPr>
          <p:nvPr>
            <p:ph type="title"/>
          </p:nvPr>
        </p:nvSpPr>
        <p:spPr>
          <a:xfrm>
            <a:off x="838199" y="290946"/>
            <a:ext cx="11006797" cy="886900"/>
          </a:xfrm>
        </p:spPr>
        <p:txBody>
          <a:bodyPr>
            <a:normAutofit fontScale="90000"/>
          </a:bodyPr>
          <a:lstStyle/>
          <a:p>
            <a:pPr algn="ctr"/>
            <a:r>
              <a:rPr lang="en-US" b="1" dirty="0" smtClean="0"/>
              <a:t>Overview of the Steps </a:t>
            </a:r>
            <a:r>
              <a:rPr lang="en-US" b="1" dirty="0"/>
              <a:t>that scientists follow in the Scientific Method:</a:t>
            </a:r>
          </a:p>
        </p:txBody>
      </p:sp>
      <p:pic>
        <p:nvPicPr>
          <p:cNvPr id="6" name="Picture 5"/>
          <p:cNvPicPr>
            <a:picLocks noChangeAspect="1"/>
          </p:cNvPicPr>
          <p:nvPr/>
        </p:nvPicPr>
        <p:blipFill rotWithShape="1">
          <a:blip r:embed="rId2"/>
          <a:srcRect l="15606" t="28503" r="30194" b="17141"/>
          <a:stretch/>
        </p:blipFill>
        <p:spPr>
          <a:xfrm>
            <a:off x="2493818" y="1593272"/>
            <a:ext cx="7051964" cy="5070764"/>
          </a:xfrm>
          <a:prstGeom prst="rect">
            <a:avLst/>
          </a:prstGeom>
        </p:spPr>
      </p:pic>
    </p:spTree>
    <p:extLst>
      <p:ext uri="{BB962C8B-B14F-4D97-AF65-F5344CB8AC3E}">
        <p14:creationId xmlns:p14="http://schemas.microsoft.com/office/powerpoint/2010/main" val="6340256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BE3F6-3BE6-4BC1-9FC8-DF75D2A5B7F7}"/>
              </a:ext>
            </a:extLst>
          </p:cNvPr>
          <p:cNvSpPr>
            <a:spLocks noGrp="1"/>
          </p:cNvSpPr>
          <p:nvPr>
            <p:ph type="title"/>
          </p:nvPr>
        </p:nvSpPr>
        <p:spPr/>
        <p:txBody>
          <a:bodyPr/>
          <a:lstStyle/>
          <a:p>
            <a:r>
              <a:rPr lang="en-US" sz="4400" b="0" i="0" dirty="0">
                <a:solidFill>
                  <a:srgbClr val="002060"/>
                </a:solidFill>
                <a:effectLst/>
                <a:latin typeface="Calibri" panose="020F0502020204030204" pitchFamily="34" charset="0"/>
              </a:rPr>
              <a:t>Example: Pumpkin throwing investigation to understand the parts of experiment design  </a:t>
            </a:r>
            <a:endParaRPr lang="en-US" dirty="0">
              <a:solidFill>
                <a:srgbClr val="002060"/>
              </a:solidFill>
            </a:endParaRPr>
          </a:p>
        </p:txBody>
      </p:sp>
      <p:sp>
        <p:nvSpPr>
          <p:cNvPr id="3" name="Content Placeholder 2">
            <a:extLst>
              <a:ext uri="{FF2B5EF4-FFF2-40B4-BE49-F238E27FC236}">
                <a16:creationId xmlns:a16="http://schemas.microsoft.com/office/drawing/2014/main" id="{8B6C8588-399A-4A58-975E-19BB729130F7}"/>
              </a:ext>
            </a:extLst>
          </p:cNvPr>
          <p:cNvSpPr>
            <a:spLocks noGrp="1"/>
          </p:cNvSpPr>
          <p:nvPr>
            <p:ph idx="1"/>
          </p:nvPr>
        </p:nvSpPr>
        <p:spPr>
          <a:xfrm>
            <a:off x="838200" y="1825625"/>
            <a:ext cx="8981049" cy="4898732"/>
          </a:xfrm>
        </p:spPr>
        <p:txBody>
          <a:bodyPr>
            <a:normAutofit/>
          </a:bodyPr>
          <a:lstStyle/>
          <a:p>
            <a:pPr marL="0" indent="0" algn="l" rtl="0" fontAlgn="base">
              <a:buNone/>
            </a:pPr>
            <a:r>
              <a:rPr lang="en-US" sz="2000" b="1" i="0" dirty="0">
                <a:solidFill>
                  <a:srgbClr val="002060"/>
                </a:solidFill>
                <a:effectLst/>
              </a:rPr>
              <a:t>Background research:</a:t>
            </a:r>
            <a:r>
              <a:rPr lang="en-US" sz="2000" b="0" i="0" dirty="0">
                <a:solidFill>
                  <a:srgbClr val="002060"/>
                </a:solidFill>
                <a:effectLst/>
              </a:rPr>
              <a:t> </a:t>
            </a:r>
            <a:endParaRPr lang="en-US" sz="3200" b="0" i="0" dirty="0">
              <a:solidFill>
                <a:srgbClr val="002060"/>
              </a:solidFill>
              <a:effectLst/>
            </a:endParaRPr>
          </a:p>
          <a:p>
            <a:pPr algn="l" rtl="0" fontAlgn="base">
              <a:buFont typeface="Arial" panose="020B0604020202020204" pitchFamily="34" charset="0"/>
              <a:buChar char="•"/>
            </a:pPr>
            <a:r>
              <a:rPr lang="en-US" sz="2000" b="0" i="0" dirty="0">
                <a:solidFill>
                  <a:srgbClr val="002060"/>
                </a:solidFill>
                <a:effectLst/>
              </a:rPr>
              <a:t>Pumpkin is  vegetable which is very heavy and huge. </a:t>
            </a:r>
          </a:p>
          <a:p>
            <a:pPr algn="l" rtl="0" fontAlgn="base">
              <a:buFont typeface="Arial" panose="020B0604020202020204" pitchFamily="34" charset="0"/>
              <a:buChar char="•"/>
            </a:pPr>
            <a:r>
              <a:rPr lang="en-US" sz="2000" b="0" i="0" dirty="0">
                <a:solidFill>
                  <a:srgbClr val="002060"/>
                </a:solidFill>
                <a:effectLst/>
              </a:rPr>
              <a:t>They come in different masses and sizes. </a:t>
            </a:r>
          </a:p>
          <a:p>
            <a:pPr algn="l" rtl="0" fontAlgn="base">
              <a:buFont typeface="Arial" panose="020B0604020202020204" pitchFamily="34" charset="0"/>
              <a:buChar char="•"/>
            </a:pPr>
            <a:r>
              <a:rPr lang="en-US" sz="2000" b="0" i="0" dirty="0">
                <a:solidFill>
                  <a:srgbClr val="002060"/>
                </a:solidFill>
                <a:effectLst/>
              </a:rPr>
              <a:t>When throwing a pumpkin, it has to be thrown a certain way / technique so that it travels max. distance. </a:t>
            </a:r>
          </a:p>
          <a:p>
            <a:pPr marL="0" indent="0" algn="l" rtl="0" fontAlgn="base">
              <a:buNone/>
            </a:pPr>
            <a:endParaRPr lang="en-US" sz="3200" b="0" i="0" dirty="0">
              <a:solidFill>
                <a:srgbClr val="002060"/>
              </a:solidFill>
              <a:effectLst/>
            </a:endParaRPr>
          </a:p>
          <a:p>
            <a:pPr marL="0" indent="0" algn="l" rtl="0" fontAlgn="base">
              <a:buNone/>
            </a:pPr>
            <a:r>
              <a:rPr lang="en-US" sz="2000" b="1" i="0" dirty="0">
                <a:solidFill>
                  <a:srgbClr val="002060"/>
                </a:solidFill>
                <a:effectLst/>
              </a:rPr>
              <a:t>Research Topic:</a:t>
            </a:r>
            <a:r>
              <a:rPr lang="en-US" sz="2000" b="0" i="0" dirty="0">
                <a:solidFill>
                  <a:srgbClr val="002060"/>
                </a:solidFill>
                <a:effectLst/>
              </a:rPr>
              <a:t> I want to investigate if the mass of a pumpkin will have an impact on the distance travelled by the pumpkin.  </a:t>
            </a:r>
            <a:endParaRPr lang="en-US" sz="3200" b="0" i="0" dirty="0">
              <a:solidFill>
                <a:srgbClr val="002060"/>
              </a:solidFill>
              <a:effectLst/>
            </a:endParaRPr>
          </a:p>
          <a:p>
            <a:pPr marL="0" indent="0" algn="l" rtl="0" fontAlgn="base">
              <a:buNone/>
            </a:pPr>
            <a:endParaRPr lang="en-US" sz="3200" b="0" i="0" dirty="0">
              <a:solidFill>
                <a:srgbClr val="002060"/>
              </a:solidFill>
              <a:effectLst/>
            </a:endParaRPr>
          </a:p>
          <a:p>
            <a:pPr marL="0" indent="0" algn="l" rtl="0" fontAlgn="base">
              <a:buNone/>
            </a:pPr>
            <a:r>
              <a:rPr lang="en-US" sz="2000" b="0" i="0" dirty="0">
                <a:solidFill>
                  <a:srgbClr val="002060"/>
                </a:solidFill>
                <a:effectLst/>
              </a:rPr>
              <a:t>So, converting it into a question form – </a:t>
            </a:r>
          </a:p>
          <a:p>
            <a:pPr marL="0" indent="0" algn="l" rtl="0" fontAlgn="base">
              <a:buNone/>
            </a:pPr>
            <a:r>
              <a:rPr lang="en-US" sz="2000" b="1" i="0" dirty="0">
                <a:solidFill>
                  <a:srgbClr val="002060"/>
                </a:solidFill>
                <a:effectLst/>
              </a:rPr>
              <a:t>Research Question: How</a:t>
            </a:r>
            <a:r>
              <a:rPr lang="en-US" sz="2000" b="0" i="0" dirty="0">
                <a:solidFill>
                  <a:srgbClr val="002060"/>
                </a:solidFill>
                <a:effectLst/>
              </a:rPr>
              <a:t> does the </a:t>
            </a:r>
            <a:r>
              <a:rPr lang="en-US" sz="2000" b="0" i="0" dirty="0">
                <a:solidFill>
                  <a:srgbClr val="FF0000"/>
                </a:solidFill>
                <a:effectLst/>
              </a:rPr>
              <a:t>mass of a pumpkin </a:t>
            </a:r>
            <a:r>
              <a:rPr lang="en-US" sz="2000" b="0" i="0" dirty="0">
                <a:solidFill>
                  <a:srgbClr val="002060"/>
                </a:solidFill>
                <a:effectLst/>
              </a:rPr>
              <a:t>impact on the </a:t>
            </a:r>
            <a:r>
              <a:rPr lang="en-US" sz="2000" b="0" i="0" dirty="0">
                <a:solidFill>
                  <a:srgbClr val="FF0000"/>
                </a:solidFill>
                <a:effectLst/>
              </a:rPr>
              <a:t>distance travelled </a:t>
            </a:r>
            <a:r>
              <a:rPr lang="en-US" sz="2000" b="0" i="0" dirty="0">
                <a:solidFill>
                  <a:srgbClr val="002060"/>
                </a:solidFill>
                <a:effectLst/>
              </a:rPr>
              <a:t>by the pumpkin? </a:t>
            </a:r>
            <a:endParaRPr lang="en-US" sz="3200" dirty="0">
              <a:solidFill>
                <a:srgbClr val="002060"/>
              </a:solidFill>
            </a:endParaRPr>
          </a:p>
        </p:txBody>
      </p:sp>
      <p:pic>
        <p:nvPicPr>
          <p:cNvPr id="4" name="Picture 3">
            <a:extLst>
              <a:ext uri="{FF2B5EF4-FFF2-40B4-BE49-F238E27FC236}">
                <a16:creationId xmlns:a16="http://schemas.microsoft.com/office/drawing/2014/main" id="{F9B01C06-FDE5-4D68-A845-B20C083E74A0}"/>
              </a:ext>
            </a:extLst>
          </p:cNvPr>
          <p:cNvPicPr>
            <a:picLocks noChangeAspect="1"/>
          </p:cNvPicPr>
          <p:nvPr/>
        </p:nvPicPr>
        <p:blipFill>
          <a:blip r:embed="rId2"/>
          <a:stretch>
            <a:fillRect/>
          </a:stretch>
        </p:blipFill>
        <p:spPr>
          <a:xfrm>
            <a:off x="9652708" y="1690688"/>
            <a:ext cx="2248560" cy="2248560"/>
          </a:xfrm>
          <a:prstGeom prst="rect">
            <a:avLst/>
          </a:prstGeom>
        </p:spPr>
      </p:pic>
    </p:spTree>
    <p:extLst>
      <p:ext uri="{BB962C8B-B14F-4D97-AF65-F5344CB8AC3E}">
        <p14:creationId xmlns:p14="http://schemas.microsoft.com/office/powerpoint/2010/main" val="8003161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E0A9A-58D1-4695-8521-4D135ACA66A2}"/>
              </a:ext>
            </a:extLst>
          </p:cNvPr>
          <p:cNvSpPr>
            <a:spLocks noGrp="1"/>
          </p:cNvSpPr>
          <p:nvPr>
            <p:ph type="title"/>
          </p:nvPr>
        </p:nvSpPr>
        <p:spPr/>
        <p:txBody>
          <a:bodyPr/>
          <a:lstStyle/>
          <a:p>
            <a:r>
              <a:rPr lang="en-US" dirty="0"/>
              <a:t>Variables in a Scientific experiment</a:t>
            </a:r>
          </a:p>
        </p:txBody>
      </p:sp>
      <p:sp>
        <p:nvSpPr>
          <p:cNvPr id="3" name="Content Placeholder 2">
            <a:extLst>
              <a:ext uri="{FF2B5EF4-FFF2-40B4-BE49-F238E27FC236}">
                <a16:creationId xmlns:a16="http://schemas.microsoft.com/office/drawing/2014/main" id="{C36F1695-7223-4A2B-B801-19A984BA3466}"/>
              </a:ext>
            </a:extLst>
          </p:cNvPr>
          <p:cNvSpPr>
            <a:spLocks noGrp="1"/>
          </p:cNvSpPr>
          <p:nvPr>
            <p:ph idx="1"/>
          </p:nvPr>
        </p:nvSpPr>
        <p:spPr>
          <a:xfrm>
            <a:off x="778328" y="1600201"/>
            <a:ext cx="10972800" cy="914399"/>
          </a:xfrm>
        </p:spPr>
        <p:txBody>
          <a:bodyPr/>
          <a:lstStyle/>
          <a:p>
            <a:pPr marL="0" indent="0">
              <a:buNone/>
            </a:pPr>
            <a:r>
              <a:rPr lang="en-US" sz="2800" b="1" dirty="0">
                <a:solidFill>
                  <a:srgbClr val="0D405F"/>
                </a:solidFill>
                <a:effectLst/>
                <a:ea typeface="Calibri" panose="020F0502020204030204" pitchFamily="34" charset="0"/>
                <a:cs typeface="Times New Roman" panose="02020603050405020304" pitchFamily="18" charset="0"/>
              </a:rPr>
              <a:t>In your experiment, the quantity that you change is called the </a:t>
            </a:r>
            <a:r>
              <a:rPr lang="en-US" sz="2800" b="1" dirty="0">
                <a:solidFill>
                  <a:srgbClr val="C00000"/>
                </a:solidFill>
                <a:effectLst/>
                <a:ea typeface="Calibri" panose="020F0502020204030204" pitchFamily="34" charset="0"/>
                <a:cs typeface="Times New Roman" panose="02020603050405020304" pitchFamily="18" charset="0"/>
              </a:rPr>
              <a:t>Independent Variable</a:t>
            </a:r>
            <a:r>
              <a:rPr lang="en-US" sz="2800" b="1" dirty="0">
                <a:solidFill>
                  <a:srgbClr val="0D405F"/>
                </a:solidFill>
                <a:effectLst/>
                <a:ea typeface="Calibri" panose="020F0502020204030204" pitchFamily="34" charset="0"/>
                <a:cs typeface="Times New Roman" panose="02020603050405020304" pitchFamily="18" charset="0"/>
              </a:rPr>
              <a:t>.</a:t>
            </a:r>
            <a:endParaRPr lang="en-US" sz="2800" dirty="0">
              <a:effectLst/>
              <a:ea typeface="Calibri" panose="020F0502020204030204" pitchFamily="34" charset="0"/>
              <a:cs typeface="Times New Roman" panose="02020603050405020304" pitchFamily="18" charset="0"/>
            </a:endParaRPr>
          </a:p>
          <a:p>
            <a:endParaRPr lang="en-US" sz="2800" dirty="0"/>
          </a:p>
        </p:txBody>
      </p:sp>
      <p:sp>
        <p:nvSpPr>
          <p:cNvPr id="4" name="Content Placeholder 2">
            <a:extLst>
              <a:ext uri="{FF2B5EF4-FFF2-40B4-BE49-F238E27FC236}">
                <a16:creationId xmlns:a16="http://schemas.microsoft.com/office/drawing/2014/main" id="{15664C30-B826-4871-B070-92F4C6A82C73}"/>
              </a:ext>
            </a:extLst>
          </p:cNvPr>
          <p:cNvSpPr txBox="1">
            <a:spLocks/>
          </p:cNvSpPr>
          <p:nvPr/>
        </p:nvSpPr>
        <p:spPr bwMode="auto">
          <a:xfrm>
            <a:off x="778328" y="2697163"/>
            <a:ext cx="10972800" cy="91439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buNone/>
              <a:defRPr/>
            </a:pPr>
            <a:r>
              <a:rPr kumimoji="0" lang="en-US" sz="2800" b="1" i="0" u="none" strike="noStrike" kern="1200" cap="none" spc="0" normalizeH="0" baseline="0" noProof="0" dirty="0">
                <a:ln>
                  <a:noFill/>
                </a:ln>
                <a:solidFill>
                  <a:srgbClr val="0D405F"/>
                </a:solidFill>
                <a:effectLst/>
                <a:uLnTx/>
                <a:uFillTx/>
                <a:latin typeface="Calibri"/>
                <a:ea typeface="Calibri" panose="020F0502020204030204" pitchFamily="34" charset="0"/>
                <a:cs typeface="Times New Roman" panose="02020603050405020304" pitchFamily="18" charset="0"/>
              </a:rPr>
              <a:t>In your experiment, the </a:t>
            </a:r>
            <a:r>
              <a:rPr lang="en-US" sz="2800" b="1" dirty="0">
                <a:solidFill>
                  <a:srgbClr val="0D405F"/>
                </a:solidFill>
                <a:ea typeface="Calibri" panose="020F0502020204030204" pitchFamily="34" charset="0"/>
                <a:cs typeface="Times New Roman" panose="02020603050405020304" pitchFamily="18" charset="0"/>
              </a:rPr>
              <a:t>quantities</a:t>
            </a:r>
            <a:r>
              <a:rPr kumimoji="0" lang="en-US" sz="2800" b="1" i="0" u="none" strike="noStrike" kern="1200" cap="none" spc="0" normalizeH="0" baseline="0" noProof="0" dirty="0">
                <a:ln>
                  <a:noFill/>
                </a:ln>
                <a:solidFill>
                  <a:srgbClr val="0D405F"/>
                </a:solidFill>
                <a:effectLst/>
                <a:uLnTx/>
                <a:uFillTx/>
                <a:latin typeface="Calibri"/>
                <a:ea typeface="Calibri" panose="020F0502020204030204" pitchFamily="34" charset="0"/>
                <a:cs typeface="Times New Roman" panose="02020603050405020304" pitchFamily="18" charset="0"/>
              </a:rPr>
              <a:t> that you control and keep as constant  are called the </a:t>
            </a:r>
            <a:r>
              <a:rPr kumimoji="0" lang="en-US" sz="2800" b="1" i="0" u="none" strike="noStrike" kern="1200" cap="none" spc="0" normalizeH="0" baseline="0" noProof="0" dirty="0">
                <a:ln>
                  <a:noFill/>
                </a:ln>
                <a:solidFill>
                  <a:srgbClr val="C00000"/>
                </a:solidFill>
                <a:effectLst/>
                <a:uLnTx/>
                <a:uFillTx/>
                <a:latin typeface="Calibri"/>
                <a:ea typeface="Calibri" panose="020F0502020204030204" pitchFamily="34" charset="0"/>
                <a:cs typeface="Times New Roman" panose="02020603050405020304" pitchFamily="18" charset="0"/>
              </a:rPr>
              <a:t>Control Variables.</a:t>
            </a:r>
            <a:endParaRPr kumimoji="0" lang="en-US" sz="2800" b="0" i="0" u="none" strike="noStrike" kern="1200" cap="none" spc="0" normalizeH="0" baseline="0" noProof="0" dirty="0">
              <a:ln>
                <a:noFill/>
              </a:ln>
              <a:solidFill>
                <a:srgbClr val="C00000"/>
              </a:solidFill>
              <a:effectLst/>
              <a:uLnTx/>
              <a:uFillTx/>
              <a:latin typeface="Calibri"/>
              <a:ea typeface="Calibri" panose="020F0502020204030204" pitchFamily="34" charset="0"/>
              <a:cs typeface="Times New Roman" panose="02020603050405020304" pitchFamily="18" charset="0"/>
            </a:endParaRPr>
          </a:p>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
        <p:nvSpPr>
          <p:cNvPr id="6" name="Content Placeholder 2">
            <a:extLst>
              <a:ext uri="{FF2B5EF4-FFF2-40B4-BE49-F238E27FC236}">
                <a16:creationId xmlns:a16="http://schemas.microsoft.com/office/drawing/2014/main" id="{2F8C98E2-0EDB-480C-AF21-9684AAA5B60A}"/>
              </a:ext>
            </a:extLst>
          </p:cNvPr>
          <p:cNvSpPr txBox="1">
            <a:spLocks/>
          </p:cNvSpPr>
          <p:nvPr/>
        </p:nvSpPr>
        <p:spPr bwMode="auto">
          <a:xfrm>
            <a:off x="778328" y="3982584"/>
            <a:ext cx="10972800" cy="914399"/>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lvl="0" indent="0">
              <a:buNone/>
              <a:defRPr/>
            </a:pPr>
            <a:r>
              <a:rPr kumimoji="0" lang="en-US" sz="2800" b="1" i="0" u="none" strike="noStrike" kern="1200" cap="none" spc="0" normalizeH="0" baseline="0" noProof="0" dirty="0">
                <a:ln>
                  <a:noFill/>
                </a:ln>
                <a:solidFill>
                  <a:srgbClr val="0D405F"/>
                </a:solidFill>
                <a:effectLst/>
                <a:uLnTx/>
                <a:uFillTx/>
                <a:latin typeface="Calibri"/>
                <a:ea typeface="Calibri" panose="020F0502020204030204" pitchFamily="34" charset="0"/>
                <a:cs typeface="Times New Roman" panose="02020603050405020304" pitchFamily="18" charset="0"/>
              </a:rPr>
              <a:t>In your experiment, the </a:t>
            </a:r>
            <a:r>
              <a:rPr lang="en-US" sz="2800" b="1" dirty="0">
                <a:solidFill>
                  <a:srgbClr val="0D405F"/>
                </a:solidFill>
                <a:ea typeface="Calibri" panose="020F0502020204030204" pitchFamily="34" charset="0"/>
                <a:cs typeface="Times New Roman" panose="02020603050405020304" pitchFamily="18" charset="0"/>
              </a:rPr>
              <a:t>quantities</a:t>
            </a:r>
            <a:r>
              <a:rPr kumimoji="0" lang="en-US" sz="2800" b="1" i="0" u="none" strike="noStrike" kern="1200" cap="none" spc="0" normalizeH="0" baseline="0" noProof="0" dirty="0">
                <a:ln>
                  <a:noFill/>
                </a:ln>
                <a:solidFill>
                  <a:srgbClr val="0D405F"/>
                </a:solidFill>
                <a:effectLst/>
                <a:uLnTx/>
                <a:uFillTx/>
                <a:latin typeface="Calibri"/>
                <a:ea typeface="Calibri" panose="020F0502020204030204" pitchFamily="34" charset="0"/>
                <a:cs typeface="Times New Roman" panose="02020603050405020304" pitchFamily="18" charset="0"/>
              </a:rPr>
              <a:t> that depends on the independent variable and what you measure is called the </a:t>
            </a:r>
            <a:r>
              <a:rPr kumimoji="0" lang="en-US" sz="2800" b="1" i="0" u="none" strike="noStrike" kern="1200" cap="none" spc="0" normalizeH="0" baseline="0" noProof="0" dirty="0">
                <a:ln>
                  <a:noFill/>
                </a:ln>
                <a:solidFill>
                  <a:srgbClr val="C00000"/>
                </a:solidFill>
                <a:effectLst/>
                <a:uLnTx/>
                <a:uFillTx/>
                <a:latin typeface="Calibri"/>
                <a:ea typeface="Calibri" panose="020F0502020204030204" pitchFamily="34" charset="0"/>
                <a:cs typeface="Times New Roman" panose="02020603050405020304" pitchFamily="18" charset="0"/>
              </a:rPr>
              <a:t>Dependent Variable</a:t>
            </a:r>
            <a:r>
              <a:rPr kumimoji="0" lang="en-US" sz="2800" b="1" i="0" u="none" strike="noStrike" kern="1200" cap="none" spc="0" normalizeH="0" baseline="0" noProof="0" dirty="0">
                <a:ln>
                  <a:noFill/>
                </a:ln>
                <a:solidFill>
                  <a:srgbClr val="0D405F"/>
                </a:solidFill>
                <a:effectLst/>
                <a:uLnTx/>
                <a:uFillTx/>
                <a:latin typeface="Calibri"/>
                <a:ea typeface="Calibri" panose="020F0502020204030204" pitchFamily="34" charset="0"/>
                <a:cs typeface="Times New Roman" panose="02020603050405020304" pitchFamily="18" charset="0"/>
              </a:rPr>
              <a:t>.</a:t>
            </a:r>
            <a:endParaRPr kumimoji="0" lang="en-US" sz="2800" b="0" i="0" u="none" strike="noStrike" kern="1200" cap="none" spc="0" normalizeH="0" baseline="0" noProof="0" dirty="0">
              <a:ln>
                <a:noFill/>
              </a:ln>
              <a:solidFill>
                <a:prstClr val="black"/>
              </a:solidFill>
              <a:effectLst/>
              <a:uLnTx/>
              <a:uFillTx/>
              <a:latin typeface="Calibri"/>
              <a:ea typeface="Calibri" panose="020F0502020204030204" pitchFamily="34" charset="0"/>
              <a:cs typeface="Times New Roman" panose="02020603050405020304" pitchFamily="18" charset="0"/>
            </a:endParaRPr>
          </a:p>
          <a:p>
            <a:pPr marL="342900" marR="0" lvl="0" indent="-342900" algn="l" defTabSz="914400" rtl="0" eaLnBrk="0" fontAlgn="base" latinLnBrk="0" hangingPunct="0">
              <a:lnSpc>
                <a:spcPct val="100000"/>
              </a:lnSpc>
              <a:spcBef>
                <a:spcPct val="20000"/>
              </a:spcBef>
              <a:spcAft>
                <a:spcPct val="0"/>
              </a:spcAft>
              <a:buClrTx/>
              <a:buSzTx/>
              <a:buFont typeface="Arial" charset="0"/>
              <a:buChar char="•"/>
              <a:tabLst/>
              <a:defRPr/>
            </a:pPr>
            <a:endParaRPr kumimoji="0" lang="en-US" sz="2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89964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2F158-4807-47BE-B36F-E132F64971DE}"/>
              </a:ext>
            </a:extLst>
          </p:cNvPr>
          <p:cNvSpPr>
            <a:spLocks noGrp="1"/>
          </p:cNvSpPr>
          <p:nvPr>
            <p:ph type="title"/>
          </p:nvPr>
        </p:nvSpPr>
        <p:spPr/>
        <p:txBody>
          <a:bodyPr/>
          <a:lstStyle/>
          <a:p>
            <a:r>
              <a:rPr lang="en-US" b="1" dirty="0">
                <a:solidFill>
                  <a:srgbClr val="002060"/>
                </a:solidFill>
                <a:latin typeface="+mn-lt"/>
              </a:rPr>
              <a:t>Variables in Pumpkin Throwing Investigation</a:t>
            </a:r>
          </a:p>
        </p:txBody>
      </p:sp>
      <p:sp>
        <p:nvSpPr>
          <p:cNvPr id="3" name="Content Placeholder 2">
            <a:extLst>
              <a:ext uri="{FF2B5EF4-FFF2-40B4-BE49-F238E27FC236}">
                <a16:creationId xmlns:a16="http://schemas.microsoft.com/office/drawing/2014/main" id="{53B872A1-2210-4200-8DE6-FAD64ED52123}"/>
              </a:ext>
            </a:extLst>
          </p:cNvPr>
          <p:cNvSpPr>
            <a:spLocks noGrp="1"/>
          </p:cNvSpPr>
          <p:nvPr>
            <p:ph idx="1"/>
          </p:nvPr>
        </p:nvSpPr>
        <p:spPr>
          <a:xfrm>
            <a:off x="838200" y="2250831"/>
            <a:ext cx="10515600" cy="3926132"/>
          </a:xfrm>
        </p:spPr>
        <p:txBody>
          <a:bodyPr/>
          <a:lstStyle/>
          <a:p>
            <a:r>
              <a:rPr lang="en-US" dirty="0">
                <a:solidFill>
                  <a:srgbClr val="002060"/>
                </a:solidFill>
              </a:rPr>
              <a:t>Independent Variable (IV): Mass of pumpkin</a:t>
            </a:r>
          </a:p>
          <a:p>
            <a:endParaRPr lang="en-US" dirty="0">
              <a:solidFill>
                <a:srgbClr val="002060"/>
              </a:solidFill>
            </a:endParaRPr>
          </a:p>
          <a:p>
            <a:r>
              <a:rPr lang="en-US" dirty="0">
                <a:solidFill>
                  <a:srgbClr val="002060"/>
                </a:solidFill>
              </a:rPr>
              <a:t>Dependent Variable (DV): distance travelled, max. height attained</a:t>
            </a:r>
            <a:br>
              <a:rPr lang="en-US" dirty="0">
                <a:solidFill>
                  <a:srgbClr val="002060"/>
                </a:solidFill>
              </a:rPr>
            </a:br>
            <a:endParaRPr lang="en-US" dirty="0">
              <a:solidFill>
                <a:srgbClr val="002060"/>
              </a:solidFill>
            </a:endParaRPr>
          </a:p>
          <a:p>
            <a:r>
              <a:rPr lang="en-US" dirty="0">
                <a:solidFill>
                  <a:srgbClr val="002060"/>
                </a:solidFill>
              </a:rPr>
              <a:t>Controlled Variable (CV): </a:t>
            </a:r>
            <a:r>
              <a:rPr lang="en-US" dirty="0" smtClean="0">
                <a:solidFill>
                  <a:srgbClr val="002060"/>
                </a:solidFill>
              </a:rPr>
              <a:t>the </a:t>
            </a:r>
            <a:r>
              <a:rPr lang="en-US" dirty="0">
                <a:solidFill>
                  <a:srgbClr val="002060"/>
                </a:solidFill>
              </a:rPr>
              <a:t>force </a:t>
            </a:r>
            <a:r>
              <a:rPr lang="en-US" dirty="0" smtClean="0">
                <a:solidFill>
                  <a:srgbClr val="002060"/>
                </a:solidFill>
              </a:rPr>
              <a:t>applied to throw </a:t>
            </a:r>
            <a:r>
              <a:rPr lang="en-US" smtClean="0">
                <a:solidFill>
                  <a:srgbClr val="002060"/>
                </a:solidFill>
              </a:rPr>
              <a:t>the pumpkin , </a:t>
            </a:r>
            <a:r>
              <a:rPr lang="en-US" dirty="0">
                <a:solidFill>
                  <a:srgbClr val="002060"/>
                </a:solidFill>
              </a:rPr>
              <a:t>the location where the experiment is taking place, the starting point</a:t>
            </a:r>
          </a:p>
        </p:txBody>
      </p:sp>
    </p:spTree>
    <p:extLst>
      <p:ext uri="{BB962C8B-B14F-4D97-AF65-F5344CB8AC3E}">
        <p14:creationId xmlns:p14="http://schemas.microsoft.com/office/powerpoint/2010/main" val="1686229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Table 17">
            <a:extLst>
              <a:ext uri="{FF2B5EF4-FFF2-40B4-BE49-F238E27FC236}">
                <a16:creationId xmlns:a16="http://schemas.microsoft.com/office/drawing/2014/main" id="{51C7F6CD-A31B-4166-BD26-D2886F664207}"/>
              </a:ext>
            </a:extLst>
          </p:cNvPr>
          <p:cNvGraphicFramePr>
            <a:graphicFrameLocks noGrp="1"/>
          </p:cNvGraphicFramePr>
          <p:nvPr>
            <p:extLst>
              <p:ext uri="{D42A27DB-BD31-4B8C-83A1-F6EECF244321}">
                <p14:modId xmlns:p14="http://schemas.microsoft.com/office/powerpoint/2010/main" val="2992378466"/>
              </p:ext>
            </p:extLst>
          </p:nvPr>
        </p:nvGraphicFramePr>
        <p:xfrm>
          <a:off x="910366" y="1690688"/>
          <a:ext cx="9911444" cy="5288784"/>
        </p:xfrm>
        <a:graphic>
          <a:graphicData uri="http://schemas.openxmlformats.org/drawingml/2006/table">
            <a:tbl>
              <a:tblPr firstRow="1" bandRow="1">
                <a:tableStyleId>{5C22544A-7EE6-4342-B048-85BDC9FD1C3A}</a:tableStyleId>
              </a:tblPr>
              <a:tblGrid>
                <a:gridCol w="4955722">
                  <a:extLst>
                    <a:ext uri="{9D8B030D-6E8A-4147-A177-3AD203B41FA5}">
                      <a16:colId xmlns:a16="http://schemas.microsoft.com/office/drawing/2014/main" val="4112385608"/>
                    </a:ext>
                  </a:extLst>
                </a:gridCol>
                <a:gridCol w="4955722">
                  <a:extLst>
                    <a:ext uri="{9D8B030D-6E8A-4147-A177-3AD203B41FA5}">
                      <a16:colId xmlns:a16="http://schemas.microsoft.com/office/drawing/2014/main" val="2421635129"/>
                    </a:ext>
                  </a:extLst>
                </a:gridCol>
              </a:tblGrid>
              <a:tr h="989313">
                <a:tc>
                  <a:txBody>
                    <a:bodyPr/>
                    <a:lstStyle/>
                    <a:p>
                      <a:pPr algn="ctr"/>
                      <a:r>
                        <a:rPr lang="en-US" sz="2400" dirty="0">
                          <a:solidFill>
                            <a:srgbClr val="002060"/>
                          </a:solidFill>
                        </a:rPr>
                        <a:t>Independent Variable</a:t>
                      </a:r>
                    </a:p>
                  </a:txBody>
                  <a:tcPr>
                    <a:noFill/>
                  </a:tcPr>
                </a:tc>
                <a:tc>
                  <a:txBody>
                    <a:bodyPr/>
                    <a:lstStyle/>
                    <a:p>
                      <a:endParaRPr lang="en-US" dirty="0">
                        <a:solidFill>
                          <a:srgbClr val="002060"/>
                        </a:solidFill>
                      </a:endParaRPr>
                    </a:p>
                  </a:txBody>
                  <a:tcPr>
                    <a:noFill/>
                  </a:tcPr>
                </a:tc>
                <a:extLst>
                  <a:ext uri="{0D108BD9-81ED-4DB2-BD59-A6C34878D82A}">
                    <a16:rowId xmlns:a16="http://schemas.microsoft.com/office/drawing/2014/main" val="2587713569"/>
                  </a:ext>
                </a:extLst>
              </a:tr>
              <a:tr h="2782537">
                <a:tc>
                  <a:txBody>
                    <a:bodyPr/>
                    <a:lstStyle/>
                    <a:p>
                      <a:pPr algn="ctr"/>
                      <a:r>
                        <a:rPr lang="en-US" sz="2400" b="1" dirty="0">
                          <a:solidFill>
                            <a:srgbClr val="002060"/>
                          </a:solidFill>
                        </a:rPr>
                        <a:t>Controlled Variables</a:t>
                      </a:r>
                    </a:p>
                  </a:txBody>
                  <a:tcPr>
                    <a:noFill/>
                  </a:tcPr>
                </a:tc>
                <a:tc>
                  <a:txBody>
                    <a:bodyPr/>
                    <a:lstStyle/>
                    <a:p>
                      <a:endParaRPr lang="en-US" dirty="0"/>
                    </a:p>
                  </a:txBody>
                  <a:tcPr>
                    <a:noFill/>
                  </a:tcPr>
                </a:tc>
                <a:extLst>
                  <a:ext uri="{0D108BD9-81ED-4DB2-BD59-A6C34878D82A}">
                    <a16:rowId xmlns:a16="http://schemas.microsoft.com/office/drawing/2014/main" val="2617647838"/>
                  </a:ext>
                </a:extLst>
              </a:tr>
              <a:tr h="1516934">
                <a:tc>
                  <a:txBody>
                    <a:bodyPr/>
                    <a:lstStyle/>
                    <a:p>
                      <a:pPr algn="ctr"/>
                      <a:r>
                        <a:rPr lang="en-US" sz="2400" b="1" dirty="0">
                          <a:solidFill>
                            <a:srgbClr val="002060"/>
                          </a:solidFill>
                        </a:rPr>
                        <a:t>Dependent Variable</a:t>
                      </a:r>
                    </a:p>
                  </a:txBody>
                  <a:tcPr>
                    <a:noFill/>
                  </a:tcPr>
                </a:tc>
                <a:tc>
                  <a:txBody>
                    <a:bodyPr/>
                    <a:lstStyle/>
                    <a:p>
                      <a:endParaRPr lang="en-US" sz="2800" dirty="0"/>
                    </a:p>
                  </a:txBody>
                  <a:tcPr>
                    <a:noFill/>
                  </a:tcPr>
                </a:tc>
                <a:extLst>
                  <a:ext uri="{0D108BD9-81ED-4DB2-BD59-A6C34878D82A}">
                    <a16:rowId xmlns:a16="http://schemas.microsoft.com/office/drawing/2014/main" val="3629721083"/>
                  </a:ext>
                </a:extLst>
              </a:tr>
            </a:tbl>
          </a:graphicData>
        </a:graphic>
      </p:graphicFrame>
      <p:sp>
        <p:nvSpPr>
          <p:cNvPr id="2" name="Title 1">
            <a:extLst>
              <a:ext uri="{FF2B5EF4-FFF2-40B4-BE49-F238E27FC236}">
                <a16:creationId xmlns:a16="http://schemas.microsoft.com/office/drawing/2014/main" id="{83763D1F-53FF-47BE-971D-6A88AC231C07}"/>
              </a:ext>
            </a:extLst>
          </p:cNvPr>
          <p:cNvSpPr>
            <a:spLocks noGrp="1"/>
          </p:cNvSpPr>
          <p:nvPr>
            <p:ph type="title"/>
          </p:nvPr>
        </p:nvSpPr>
        <p:spPr/>
        <p:txBody>
          <a:bodyPr>
            <a:normAutofit/>
          </a:bodyPr>
          <a:lstStyle/>
          <a:p>
            <a:r>
              <a:rPr lang="en-US" sz="2800" b="1" dirty="0">
                <a:solidFill>
                  <a:srgbClr val="002060"/>
                </a:solidFill>
                <a:latin typeface="+mn-lt"/>
              </a:rPr>
              <a:t>Clare wants to find out if water boils faster when salt is added to it or does it boil faster without salt added to it.</a:t>
            </a:r>
          </a:p>
        </p:txBody>
      </p:sp>
    </p:spTree>
    <p:extLst>
      <p:ext uri="{BB962C8B-B14F-4D97-AF65-F5344CB8AC3E}">
        <p14:creationId xmlns:p14="http://schemas.microsoft.com/office/powerpoint/2010/main" val="5559621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Table 17">
            <a:extLst>
              <a:ext uri="{FF2B5EF4-FFF2-40B4-BE49-F238E27FC236}">
                <a16:creationId xmlns:a16="http://schemas.microsoft.com/office/drawing/2014/main" id="{51C7F6CD-A31B-4166-BD26-D2886F664207}"/>
              </a:ext>
            </a:extLst>
          </p:cNvPr>
          <p:cNvGraphicFramePr>
            <a:graphicFrameLocks noGrp="1"/>
          </p:cNvGraphicFramePr>
          <p:nvPr/>
        </p:nvGraphicFramePr>
        <p:xfrm>
          <a:off x="910366" y="1375375"/>
          <a:ext cx="9911444" cy="5604097"/>
        </p:xfrm>
        <a:graphic>
          <a:graphicData uri="http://schemas.openxmlformats.org/drawingml/2006/table">
            <a:tbl>
              <a:tblPr firstRow="1" bandRow="1">
                <a:tableStyleId>{5C22544A-7EE6-4342-B048-85BDC9FD1C3A}</a:tableStyleId>
              </a:tblPr>
              <a:tblGrid>
                <a:gridCol w="4955722">
                  <a:extLst>
                    <a:ext uri="{9D8B030D-6E8A-4147-A177-3AD203B41FA5}">
                      <a16:colId xmlns:a16="http://schemas.microsoft.com/office/drawing/2014/main" val="4112385608"/>
                    </a:ext>
                  </a:extLst>
                </a:gridCol>
                <a:gridCol w="4955722">
                  <a:extLst>
                    <a:ext uri="{9D8B030D-6E8A-4147-A177-3AD203B41FA5}">
                      <a16:colId xmlns:a16="http://schemas.microsoft.com/office/drawing/2014/main" val="2421635129"/>
                    </a:ext>
                  </a:extLst>
                </a:gridCol>
              </a:tblGrid>
              <a:tr h="1048295">
                <a:tc>
                  <a:txBody>
                    <a:bodyPr/>
                    <a:lstStyle/>
                    <a:p>
                      <a:pPr algn="ctr"/>
                      <a:r>
                        <a:rPr lang="en-US" sz="2400" dirty="0">
                          <a:solidFill>
                            <a:srgbClr val="002060"/>
                          </a:solidFill>
                        </a:rPr>
                        <a:t>Independent Variable</a:t>
                      </a:r>
                    </a:p>
                  </a:txBody>
                  <a:tcPr>
                    <a:noFill/>
                  </a:tcPr>
                </a:tc>
                <a:tc>
                  <a:txBody>
                    <a:bodyPr/>
                    <a:lstStyle/>
                    <a:p>
                      <a:endParaRPr lang="en-US" dirty="0"/>
                    </a:p>
                  </a:txBody>
                  <a:tcPr>
                    <a:noFill/>
                  </a:tcPr>
                </a:tc>
                <a:extLst>
                  <a:ext uri="{0D108BD9-81ED-4DB2-BD59-A6C34878D82A}">
                    <a16:rowId xmlns:a16="http://schemas.microsoft.com/office/drawing/2014/main" val="2587713569"/>
                  </a:ext>
                </a:extLst>
              </a:tr>
              <a:tr h="2948430">
                <a:tc>
                  <a:txBody>
                    <a:bodyPr/>
                    <a:lstStyle/>
                    <a:p>
                      <a:pPr algn="ctr"/>
                      <a:r>
                        <a:rPr lang="en-US" sz="2400" b="1" dirty="0">
                          <a:solidFill>
                            <a:srgbClr val="002060"/>
                          </a:solidFill>
                        </a:rPr>
                        <a:t>Controlled Variables</a:t>
                      </a:r>
                    </a:p>
                  </a:txBody>
                  <a:tcPr>
                    <a:noFill/>
                  </a:tcPr>
                </a:tc>
                <a:tc>
                  <a:txBody>
                    <a:bodyPr/>
                    <a:lstStyle/>
                    <a:p>
                      <a:endParaRPr lang="en-US" dirty="0"/>
                    </a:p>
                  </a:txBody>
                  <a:tcPr>
                    <a:noFill/>
                  </a:tcPr>
                </a:tc>
                <a:extLst>
                  <a:ext uri="{0D108BD9-81ED-4DB2-BD59-A6C34878D82A}">
                    <a16:rowId xmlns:a16="http://schemas.microsoft.com/office/drawing/2014/main" val="2617647838"/>
                  </a:ext>
                </a:extLst>
              </a:tr>
              <a:tr h="1607372">
                <a:tc>
                  <a:txBody>
                    <a:bodyPr/>
                    <a:lstStyle/>
                    <a:p>
                      <a:pPr algn="ctr"/>
                      <a:r>
                        <a:rPr lang="en-US" sz="2400" b="1" dirty="0">
                          <a:solidFill>
                            <a:srgbClr val="002060"/>
                          </a:solidFill>
                        </a:rPr>
                        <a:t>Dependent Variable</a:t>
                      </a:r>
                    </a:p>
                  </a:txBody>
                  <a:tcPr>
                    <a:noFill/>
                  </a:tcPr>
                </a:tc>
                <a:tc>
                  <a:txBody>
                    <a:bodyPr/>
                    <a:lstStyle/>
                    <a:p>
                      <a:endParaRPr lang="en-US" sz="2800" dirty="0"/>
                    </a:p>
                  </a:txBody>
                  <a:tcPr>
                    <a:noFill/>
                  </a:tcPr>
                </a:tc>
                <a:extLst>
                  <a:ext uri="{0D108BD9-81ED-4DB2-BD59-A6C34878D82A}">
                    <a16:rowId xmlns:a16="http://schemas.microsoft.com/office/drawing/2014/main" val="3629721083"/>
                  </a:ext>
                </a:extLst>
              </a:tr>
            </a:tbl>
          </a:graphicData>
        </a:graphic>
      </p:graphicFrame>
      <p:sp>
        <p:nvSpPr>
          <p:cNvPr id="2" name="Title 1">
            <a:extLst>
              <a:ext uri="{FF2B5EF4-FFF2-40B4-BE49-F238E27FC236}">
                <a16:creationId xmlns:a16="http://schemas.microsoft.com/office/drawing/2014/main" id="{83763D1F-53FF-47BE-971D-6A88AC231C07}"/>
              </a:ext>
            </a:extLst>
          </p:cNvPr>
          <p:cNvSpPr>
            <a:spLocks noGrp="1"/>
          </p:cNvSpPr>
          <p:nvPr>
            <p:ph type="title"/>
          </p:nvPr>
        </p:nvSpPr>
        <p:spPr/>
        <p:txBody>
          <a:bodyPr/>
          <a:lstStyle/>
          <a:p>
            <a:r>
              <a:rPr lang="en-US" dirty="0">
                <a:solidFill>
                  <a:srgbClr val="002060"/>
                </a:solidFill>
              </a:rPr>
              <a:t>Boiling water with / without salt experiment</a:t>
            </a:r>
          </a:p>
        </p:txBody>
      </p:sp>
      <p:sp>
        <p:nvSpPr>
          <p:cNvPr id="4" name="TextBox 3">
            <a:extLst>
              <a:ext uri="{FF2B5EF4-FFF2-40B4-BE49-F238E27FC236}">
                <a16:creationId xmlns:a16="http://schemas.microsoft.com/office/drawing/2014/main" id="{C70F1162-49BA-431C-B4DA-819006A957DB}"/>
              </a:ext>
            </a:extLst>
          </p:cNvPr>
          <p:cNvSpPr txBox="1"/>
          <p:nvPr/>
        </p:nvSpPr>
        <p:spPr>
          <a:xfrm>
            <a:off x="5866089" y="2710543"/>
            <a:ext cx="3269810"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Pot Size</a:t>
            </a:r>
          </a:p>
        </p:txBody>
      </p:sp>
      <p:sp>
        <p:nvSpPr>
          <p:cNvPr id="6" name="TextBox 5">
            <a:extLst>
              <a:ext uri="{FF2B5EF4-FFF2-40B4-BE49-F238E27FC236}">
                <a16:creationId xmlns:a16="http://schemas.microsoft.com/office/drawing/2014/main" id="{056C5ACC-F59F-429E-99CD-BFB1CE6F8CD6}"/>
              </a:ext>
            </a:extLst>
          </p:cNvPr>
          <p:cNvSpPr txBox="1"/>
          <p:nvPr/>
        </p:nvSpPr>
        <p:spPr>
          <a:xfrm>
            <a:off x="5866089" y="3123417"/>
            <a:ext cx="4867273"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Quantity of water in pot</a:t>
            </a:r>
          </a:p>
        </p:txBody>
      </p:sp>
      <p:sp>
        <p:nvSpPr>
          <p:cNvPr id="8" name="TextBox 7">
            <a:extLst>
              <a:ext uri="{FF2B5EF4-FFF2-40B4-BE49-F238E27FC236}">
                <a16:creationId xmlns:a16="http://schemas.microsoft.com/office/drawing/2014/main" id="{09F23E73-9EB2-4A03-8FFF-D64CD0399984}"/>
              </a:ext>
            </a:extLst>
          </p:cNvPr>
          <p:cNvSpPr txBox="1"/>
          <p:nvPr/>
        </p:nvSpPr>
        <p:spPr>
          <a:xfrm>
            <a:off x="5866088" y="3661347"/>
            <a:ext cx="4551109"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Amount of heat applied</a:t>
            </a:r>
          </a:p>
        </p:txBody>
      </p:sp>
      <p:sp>
        <p:nvSpPr>
          <p:cNvPr id="10" name="TextBox 9">
            <a:extLst>
              <a:ext uri="{FF2B5EF4-FFF2-40B4-BE49-F238E27FC236}">
                <a16:creationId xmlns:a16="http://schemas.microsoft.com/office/drawing/2014/main" id="{E1F135E0-8096-4547-9B8F-05CDAA362E13}"/>
              </a:ext>
            </a:extLst>
          </p:cNvPr>
          <p:cNvSpPr txBox="1"/>
          <p:nvPr/>
        </p:nvSpPr>
        <p:spPr>
          <a:xfrm>
            <a:off x="5866088" y="4250740"/>
            <a:ext cx="559112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Time the heat is applied for</a:t>
            </a:r>
          </a:p>
        </p:txBody>
      </p:sp>
      <p:sp>
        <p:nvSpPr>
          <p:cNvPr id="12" name="TextBox 11">
            <a:extLst>
              <a:ext uri="{FF2B5EF4-FFF2-40B4-BE49-F238E27FC236}">
                <a16:creationId xmlns:a16="http://schemas.microsoft.com/office/drawing/2014/main" id="{7C807CE2-3180-4B98-BAB4-14684752DCDA}"/>
              </a:ext>
            </a:extLst>
          </p:cNvPr>
          <p:cNvSpPr txBox="1"/>
          <p:nvPr/>
        </p:nvSpPr>
        <p:spPr>
          <a:xfrm>
            <a:off x="5866088" y="4773960"/>
            <a:ext cx="4867275"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prstClr val="black"/>
                </a:solidFill>
                <a:effectLst/>
                <a:uLnTx/>
                <a:uFillTx/>
                <a:latin typeface="Calibri"/>
                <a:ea typeface="+mn-ea"/>
                <a:cs typeface="+mn-cs"/>
              </a:rPr>
              <a:t>Pots kept without stirring</a:t>
            </a:r>
          </a:p>
        </p:txBody>
      </p:sp>
      <p:sp>
        <p:nvSpPr>
          <p:cNvPr id="20" name="Content Placeholder 2">
            <a:extLst>
              <a:ext uri="{FF2B5EF4-FFF2-40B4-BE49-F238E27FC236}">
                <a16:creationId xmlns:a16="http://schemas.microsoft.com/office/drawing/2014/main" id="{F130B8AD-CB04-40F3-9660-7055A461C982}"/>
              </a:ext>
            </a:extLst>
          </p:cNvPr>
          <p:cNvSpPr>
            <a:spLocks noGrp="1"/>
          </p:cNvSpPr>
          <p:nvPr>
            <p:ph idx="1"/>
          </p:nvPr>
        </p:nvSpPr>
        <p:spPr>
          <a:xfrm>
            <a:off x="5778955" y="1842962"/>
            <a:ext cx="5225143" cy="670555"/>
          </a:xfrm>
        </p:spPr>
        <p:txBody>
          <a:bodyPr/>
          <a:lstStyle/>
          <a:p>
            <a:pPr marL="0" indent="0">
              <a:buNone/>
            </a:pPr>
            <a:r>
              <a:rPr lang="en-US" dirty="0"/>
              <a:t>Water with or without salt </a:t>
            </a:r>
          </a:p>
        </p:txBody>
      </p:sp>
      <p:sp>
        <p:nvSpPr>
          <p:cNvPr id="21" name="TextBox 20">
            <a:extLst>
              <a:ext uri="{FF2B5EF4-FFF2-40B4-BE49-F238E27FC236}">
                <a16:creationId xmlns:a16="http://schemas.microsoft.com/office/drawing/2014/main" id="{B1FC53B3-FB31-4938-A0F8-31EDE89551A9}"/>
              </a:ext>
            </a:extLst>
          </p:cNvPr>
          <p:cNvSpPr txBox="1"/>
          <p:nvPr/>
        </p:nvSpPr>
        <p:spPr>
          <a:xfrm>
            <a:off x="5866088" y="5715000"/>
            <a:ext cx="4682169" cy="73866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Time required to boil the water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92340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10" grpId="0"/>
      <p:bldP spid="12" grpId="0"/>
      <p:bldP spid="20" grpId="0" build="p"/>
      <p:bldP spid="2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D4A7F59-3AAA-445A-93CB-CA4C67502155}"/>
              </a:ext>
            </a:extLst>
          </p:cNvPr>
          <p:cNvSpPr txBox="1"/>
          <p:nvPr/>
        </p:nvSpPr>
        <p:spPr>
          <a:xfrm>
            <a:off x="1813810" y="1163095"/>
            <a:ext cx="9683645" cy="440120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A student thinks that orange juice will freeze faster than any other substance. She fills identical containers with the same amount of different liquids, and then places each in the freezer. She checks them every five minutes and discovers that the orange juice is the last one to freeze and the water is the first to freeze.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002060"/>
                </a:solidFill>
                <a:effectLst/>
                <a:uLnTx/>
                <a:uFillTx/>
                <a:latin typeface="Calibri" panose="020F0502020204030204"/>
                <a:ea typeface="+mn-ea"/>
                <a:cs typeface="+mn-cs"/>
              </a:rPr>
              <a:t>Independent </a:t>
            </a:r>
            <a:r>
              <a:rPr kumimoji="0" lang="en-US" sz="2000" b="1" i="0" u="sng" strike="noStrike" kern="1200" cap="none" spc="0" normalizeH="0" baseline="0" noProof="0" dirty="0" smtClean="0">
                <a:ln>
                  <a:noFill/>
                </a:ln>
                <a:solidFill>
                  <a:srgbClr val="002060"/>
                </a:solidFill>
                <a:effectLst/>
                <a:uLnTx/>
                <a:uFillTx/>
                <a:latin typeface="Calibri" panose="020F0502020204030204"/>
                <a:ea typeface="+mn-ea"/>
                <a:cs typeface="+mn-cs"/>
              </a:rPr>
              <a:t>Variable:</a:t>
            </a:r>
            <a:endParaRPr kumimoji="0" lang="en-US" sz="2000" b="0"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002060"/>
                </a:solidFill>
                <a:effectLst/>
                <a:uLnTx/>
                <a:uFillTx/>
                <a:latin typeface="Calibri" panose="020F0502020204030204"/>
                <a:ea typeface="+mn-ea"/>
                <a:cs typeface="+mn-cs"/>
              </a:rPr>
              <a:t>Dependent Variable</a:t>
            </a:r>
            <a:r>
              <a:rPr kumimoji="0" lang="en-US" sz="2000" b="0" i="0" u="none" strike="noStrike" kern="1200" cap="none" spc="0" normalizeH="0" baseline="0" noProof="0" dirty="0" smtClean="0">
                <a:ln>
                  <a:noFill/>
                </a:ln>
                <a:solidFill>
                  <a:srgbClr val="002060"/>
                </a:solidFill>
                <a:effectLst/>
                <a:uLnTx/>
                <a:uFillTx/>
                <a:latin typeface="Calibri" panose="020F0502020204030204"/>
                <a:ea typeface="+mn-ea"/>
                <a:cs typeface="+mn-cs"/>
              </a:rPr>
              <a:t>:</a:t>
            </a:r>
            <a:endParaRPr kumimoji="0" lang="en-US" sz="2000" b="0"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002060"/>
                </a:solidFill>
                <a:effectLst/>
                <a:uLnTx/>
                <a:uFillTx/>
                <a:latin typeface="Calibri" panose="020F0502020204030204"/>
                <a:ea typeface="+mn-ea"/>
                <a:cs typeface="+mn-cs"/>
              </a:rPr>
              <a:t>Controlled Variables</a:t>
            </a:r>
            <a:r>
              <a:rPr kumimoji="0" lang="en-US" sz="2000" b="0" i="0" u="none" strike="noStrike" kern="1200" cap="none" spc="0" normalizeH="0" baseline="0" noProof="0" dirty="0" smtClean="0">
                <a:ln>
                  <a:noFill/>
                </a:ln>
                <a:solidFill>
                  <a:srgbClr val="002060"/>
                </a:solidFill>
                <a:effectLst/>
                <a:uLnTx/>
                <a:uFillTx/>
                <a:latin typeface="Calibri" panose="020F0502020204030204"/>
                <a:ea typeface="+mn-ea"/>
                <a:cs typeface="+mn-cs"/>
              </a:rPr>
              <a:t>:</a:t>
            </a:r>
            <a:endParaRPr kumimoji="0" lang="en-US" sz="2000" b="1" i="0" u="sng" strike="noStrike" kern="1200" cap="none" spc="0" normalizeH="0" baseline="0" noProof="0" dirty="0">
              <a:ln>
                <a:noFill/>
              </a:ln>
              <a:solidFill>
                <a:srgbClr val="00206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002060"/>
                </a:solidFill>
                <a:effectLst/>
                <a:uLnTx/>
                <a:uFillTx/>
                <a:latin typeface="Calibri" panose="020F0502020204030204"/>
                <a:ea typeface="+mn-ea"/>
                <a:cs typeface="+mn-cs"/>
              </a:rPr>
              <a:t>Hypothesis: If I pour orange juice in the ice tray then I think it will freeze faster because I have seen it happen before. (This can be valid or invalid and the student will have to do an experiment to see it is valid) </a:t>
            </a:r>
            <a:endParaRPr kumimoji="0" lang="en-US" sz="2000" b="0"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F49B9F7D-B7B4-4966-9C19-1F10F1874289}"/>
              </a:ext>
            </a:extLst>
          </p:cNvPr>
          <p:cNvPicPr>
            <a:picLocks noChangeAspect="1"/>
          </p:cNvPicPr>
          <p:nvPr/>
        </p:nvPicPr>
        <p:blipFill>
          <a:blip r:embed="rId3"/>
          <a:stretch>
            <a:fillRect/>
          </a:stretch>
        </p:blipFill>
        <p:spPr>
          <a:xfrm>
            <a:off x="1" y="1174339"/>
            <a:ext cx="1864760" cy="1403970"/>
          </a:xfrm>
          <a:prstGeom prst="rect">
            <a:avLst/>
          </a:prstGeom>
        </p:spPr>
      </p:pic>
      <p:sp>
        <p:nvSpPr>
          <p:cNvPr id="2" name="TextBox 1">
            <a:extLst>
              <a:ext uri="{FF2B5EF4-FFF2-40B4-BE49-F238E27FC236}">
                <a16:creationId xmlns:a16="http://schemas.microsoft.com/office/drawing/2014/main" id="{C115CDCF-AB9E-4B9E-BE6F-F49EEAA52571}"/>
              </a:ext>
            </a:extLst>
          </p:cNvPr>
          <p:cNvSpPr txBox="1"/>
          <p:nvPr/>
        </p:nvSpPr>
        <p:spPr>
          <a:xfrm>
            <a:off x="2053652" y="344774"/>
            <a:ext cx="506667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Practise</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5411128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D4A7F59-3AAA-445A-93CB-CA4C67502155}"/>
              </a:ext>
            </a:extLst>
          </p:cNvPr>
          <p:cNvSpPr txBox="1"/>
          <p:nvPr/>
        </p:nvSpPr>
        <p:spPr>
          <a:xfrm>
            <a:off x="1813810" y="1163095"/>
            <a:ext cx="9683645" cy="501675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1" u="none" strike="noStrike" kern="1200" cap="none" spc="0" normalizeH="0" baseline="0" noProof="0" dirty="0">
                <a:ln>
                  <a:noFill/>
                </a:ln>
                <a:solidFill>
                  <a:srgbClr val="70AD47">
                    <a:lumMod val="50000"/>
                  </a:srgbClr>
                </a:solidFill>
                <a:effectLst/>
                <a:uLnTx/>
                <a:uFillTx/>
                <a:latin typeface="Calibri" panose="020F0502020204030204"/>
                <a:ea typeface="+mn-ea"/>
                <a:cs typeface="+mn-cs"/>
              </a:rPr>
              <a:t>A student thinks that orange juice will freeze faster than any other substance. She fills identical containers with the same amount of different liquids, and then places each in the freezer. She checks them every five minutes and discovers that the orange juice is the last one to freeze and the water is the first to freeze.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002060"/>
                </a:solidFill>
                <a:effectLst/>
                <a:uLnTx/>
                <a:uFillTx/>
                <a:latin typeface="Calibri" panose="020F0502020204030204"/>
                <a:ea typeface="+mn-ea"/>
                <a:cs typeface="+mn-cs"/>
              </a:rPr>
              <a:t>Independent </a:t>
            </a:r>
            <a:r>
              <a:rPr kumimoji="0" lang="en-US" sz="2000" b="1" i="0" u="sng" strike="noStrike" kern="1200" cap="none" spc="0" normalizeH="0" baseline="0" noProof="0" dirty="0" err="1">
                <a:ln>
                  <a:noFill/>
                </a:ln>
                <a:solidFill>
                  <a:srgbClr val="002060"/>
                </a:solidFill>
                <a:effectLst/>
                <a:uLnTx/>
                <a:uFillTx/>
                <a:latin typeface="Calibri" panose="020F0502020204030204"/>
                <a:ea typeface="+mn-ea"/>
                <a:cs typeface="+mn-cs"/>
              </a:rPr>
              <a:t>Variable:</a:t>
            </a:r>
            <a:r>
              <a:rPr kumimoji="0" lang="en-US" sz="2000" b="0" i="0" u="none" strike="noStrike" kern="1200" cap="none" spc="0" normalizeH="0" baseline="0" noProof="0" dirty="0" err="1">
                <a:ln>
                  <a:noFill/>
                </a:ln>
                <a:solidFill>
                  <a:srgbClr val="002060"/>
                </a:solidFill>
                <a:effectLst/>
                <a:uLnTx/>
                <a:uFillTx/>
                <a:latin typeface="Calibri" panose="020F0502020204030204"/>
                <a:ea typeface="+mn-ea"/>
                <a:cs typeface="+mn-cs"/>
              </a:rPr>
              <a:t>Type</a:t>
            </a:r>
            <a:r>
              <a:rPr kumimoji="0" lang="en-US" sz="2000" b="0" i="0" u="none" strike="noStrike" kern="1200" cap="none" spc="0" normalizeH="0" baseline="0" noProof="0" dirty="0">
                <a:ln>
                  <a:noFill/>
                </a:ln>
                <a:solidFill>
                  <a:srgbClr val="002060"/>
                </a:solidFill>
                <a:effectLst/>
                <a:uLnTx/>
                <a:uFillTx/>
                <a:latin typeface="Calibri" panose="020F0502020204030204"/>
                <a:ea typeface="+mn-ea"/>
                <a:cs typeface="+mn-cs"/>
              </a:rPr>
              <a:t> of liquid</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002060"/>
                </a:solidFill>
                <a:effectLst/>
                <a:uLnTx/>
                <a:uFillTx/>
                <a:latin typeface="Calibri" panose="020F0502020204030204"/>
                <a:ea typeface="+mn-ea"/>
                <a:cs typeface="+mn-cs"/>
              </a:rPr>
              <a:t>Dependent Variable</a:t>
            </a:r>
            <a:r>
              <a:rPr kumimoji="0" lang="en-US" sz="2000" b="0" i="0" u="none" strike="noStrike" kern="1200" cap="none" spc="0" normalizeH="0" baseline="0" noProof="0" dirty="0">
                <a:ln>
                  <a:noFill/>
                </a:ln>
                <a:solidFill>
                  <a:srgbClr val="002060"/>
                </a:solidFill>
                <a:effectLst/>
                <a:uLnTx/>
                <a:uFillTx/>
                <a:latin typeface="Calibri" panose="020F0502020204030204"/>
                <a:ea typeface="+mn-ea"/>
                <a:cs typeface="+mn-cs"/>
              </a:rPr>
              <a:t>: freezing time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srgbClr val="00206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002060"/>
                </a:solidFill>
                <a:effectLst/>
                <a:uLnTx/>
                <a:uFillTx/>
                <a:latin typeface="Calibri" panose="020F0502020204030204"/>
                <a:ea typeface="+mn-ea"/>
                <a:cs typeface="+mn-cs"/>
              </a:rPr>
              <a:t>Controlled Variables</a:t>
            </a:r>
            <a:r>
              <a:rPr kumimoji="0" lang="en-US" sz="2000" b="0" i="0" u="none" strike="noStrike" kern="1200" cap="none" spc="0" normalizeH="0" baseline="0" noProof="0" dirty="0">
                <a:ln>
                  <a:noFill/>
                </a:ln>
                <a:solidFill>
                  <a:srgbClr val="002060"/>
                </a:solidFill>
                <a:effectLst/>
                <a:uLnTx/>
                <a:uFillTx/>
                <a:latin typeface="Calibri" panose="020F0502020204030204"/>
                <a:ea typeface="+mn-ea"/>
                <a:cs typeface="+mn-cs"/>
              </a:rPr>
              <a:t>: identical containers, time, freezer, temp. settings of the freezer</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1" i="0" u="sng" strike="noStrike" kern="1200" cap="none" spc="0" normalizeH="0" baseline="0" noProof="0" dirty="0">
              <a:ln>
                <a:noFill/>
              </a:ln>
              <a:solidFill>
                <a:srgbClr val="002060"/>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sng" strike="noStrike" kern="1200" cap="none" spc="0" normalizeH="0" baseline="0" noProof="0" dirty="0">
                <a:ln>
                  <a:noFill/>
                </a:ln>
                <a:solidFill>
                  <a:srgbClr val="002060"/>
                </a:solidFill>
                <a:effectLst/>
                <a:uLnTx/>
                <a:uFillTx/>
                <a:latin typeface="Calibri" panose="020F0502020204030204"/>
                <a:ea typeface="+mn-ea"/>
                <a:cs typeface="+mn-cs"/>
              </a:rPr>
              <a:t>Hypothesis: If I pour orange juice in the ice tray then I think it will freeze faster because I have seen it happen before. (This can be valid or invalid and the student will have to do an experiment to see it is valid) </a:t>
            </a:r>
            <a:endParaRPr kumimoji="0" lang="en-US" sz="2000" b="0" i="0" u="none" strike="noStrike" kern="1200" cap="none" spc="0" normalizeH="0" baseline="0" noProof="0" dirty="0">
              <a:ln>
                <a:noFill/>
              </a:ln>
              <a:solidFill>
                <a:srgbClr val="002060"/>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F49B9F7D-B7B4-4966-9C19-1F10F1874289}"/>
              </a:ext>
            </a:extLst>
          </p:cNvPr>
          <p:cNvPicPr>
            <a:picLocks noChangeAspect="1"/>
          </p:cNvPicPr>
          <p:nvPr/>
        </p:nvPicPr>
        <p:blipFill>
          <a:blip r:embed="rId3"/>
          <a:stretch>
            <a:fillRect/>
          </a:stretch>
        </p:blipFill>
        <p:spPr>
          <a:xfrm>
            <a:off x="1" y="1174339"/>
            <a:ext cx="1864760" cy="1403970"/>
          </a:xfrm>
          <a:prstGeom prst="rect">
            <a:avLst/>
          </a:prstGeom>
        </p:spPr>
      </p:pic>
      <p:sp>
        <p:nvSpPr>
          <p:cNvPr id="2" name="TextBox 1">
            <a:extLst>
              <a:ext uri="{FF2B5EF4-FFF2-40B4-BE49-F238E27FC236}">
                <a16:creationId xmlns:a16="http://schemas.microsoft.com/office/drawing/2014/main" id="{C115CDCF-AB9E-4B9E-BE6F-F49EEAA52571}"/>
              </a:ext>
            </a:extLst>
          </p:cNvPr>
          <p:cNvSpPr txBox="1"/>
          <p:nvPr/>
        </p:nvSpPr>
        <p:spPr>
          <a:xfrm>
            <a:off x="2053652" y="344774"/>
            <a:ext cx="5066676"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err="1">
                <a:ln>
                  <a:noFill/>
                </a:ln>
                <a:solidFill>
                  <a:prstClr val="black"/>
                </a:solidFill>
                <a:effectLst/>
                <a:uLnTx/>
                <a:uFillTx/>
                <a:latin typeface="Calibri" panose="020F0502020204030204"/>
                <a:ea typeface="+mn-ea"/>
                <a:cs typeface="+mn-cs"/>
              </a:rPr>
              <a:t>Practise</a:t>
            </a:r>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Tree>
    <p:extLst>
      <p:ext uri="{BB962C8B-B14F-4D97-AF65-F5344CB8AC3E}">
        <p14:creationId xmlns:p14="http://schemas.microsoft.com/office/powerpoint/2010/main" val="3582083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44BB3-74E2-4DC1-9778-9EF8344AF813}"/>
              </a:ext>
            </a:extLst>
          </p:cNvPr>
          <p:cNvSpPr>
            <a:spLocks noGrp="1"/>
          </p:cNvSpPr>
          <p:nvPr>
            <p:ph type="title"/>
          </p:nvPr>
        </p:nvSpPr>
        <p:spPr/>
        <p:txBody>
          <a:bodyPr/>
          <a:lstStyle/>
          <a:p>
            <a:r>
              <a:rPr lang="en-US" sz="4400" b="1" u="sng"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rPr>
              <a:t>Research question:</a:t>
            </a:r>
            <a:endParaRPr lang="en-US" dirty="0">
              <a:solidFill>
                <a:srgbClr val="002060"/>
              </a:solidFill>
            </a:endParaRPr>
          </a:p>
        </p:txBody>
      </p:sp>
      <p:sp>
        <p:nvSpPr>
          <p:cNvPr id="3" name="Content Placeholder 2">
            <a:extLst>
              <a:ext uri="{FF2B5EF4-FFF2-40B4-BE49-F238E27FC236}">
                <a16:creationId xmlns:a16="http://schemas.microsoft.com/office/drawing/2014/main" id="{46E6E785-DA72-4776-9819-B613BA617055}"/>
              </a:ext>
            </a:extLst>
          </p:cNvPr>
          <p:cNvSpPr>
            <a:spLocks noGrp="1"/>
          </p:cNvSpPr>
          <p:nvPr>
            <p:ph idx="1"/>
          </p:nvPr>
        </p:nvSpPr>
        <p:spPr>
          <a:xfrm>
            <a:off x="838200" y="1825625"/>
            <a:ext cx="10515600" cy="1874178"/>
          </a:xfrm>
        </p:spPr>
        <p:txBody>
          <a:bodyPr>
            <a:normAutofit/>
          </a:bodyPr>
          <a:lstStyle/>
          <a:p>
            <a:pPr marL="0" marR="0" indent="0">
              <a:lnSpc>
                <a:spcPct val="107000"/>
              </a:lnSpc>
              <a:spcBef>
                <a:spcPts val="0"/>
              </a:spcBef>
              <a:spcAft>
                <a:spcPts val="800"/>
              </a:spcAft>
              <a:buNone/>
            </a:pPr>
            <a:r>
              <a:rPr lang="en-US" sz="3200" dirty="0">
                <a:solidFill>
                  <a:srgbClr val="002060"/>
                </a:solidFill>
                <a:effectLst/>
                <a:ea typeface="Calibri" panose="020F0502020204030204" pitchFamily="34" charset="0"/>
                <a:cs typeface="Times New Roman" panose="02020603050405020304" pitchFamily="18" charset="0"/>
              </a:rPr>
              <a:t>H</a:t>
            </a:r>
            <a:r>
              <a:rPr lang="en-US" sz="3200" dirty="0">
                <a:solidFill>
                  <a:srgbClr val="002060"/>
                </a:solidFill>
                <a:effectLst/>
                <a:ea typeface="Times New Roman" panose="02020603050405020304" pitchFamily="18" charset="0"/>
                <a:cs typeface="Times New Roman" panose="02020603050405020304" pitchFamily="18" charset="0"/>
              </a:rPr>
              <a:t>ow does the mass of a ball affect the distance it travels?</a:t>
            </a:r>
            <a:endParaRPr lang="en-US" sz="3200" dirty="0">
              <a:solidFill>
                <a:srgbClr val="002060"/>
              </a:solidFill>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653398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Shape 223"/>
          <p:cNvSpPr txBox="1">
            <a:spLocks noGrp="1"/>
          </p:cNvSpPr>
          <p:nvPr>
            <p:ph type="title"/>
          </p:nvPr>
        </p:nvSpPr>
        <p:spPr>
          <a:xfrm>
            <a:off x="1034668" y="232119"/>
            <a:ext cx="9282332" cy="817800"/>
          </a:xfrm>
          <a:prstGeom prst="rect">
            <a:avLst/>
          </a:prstGeom>
          <a:noFill/>
          <a:ln>
            <a:noFill/>
          </a:ln>
        </p:spPr>
        <p:txBody>
          <a:bodyPr vert="horz" lIns="91425" tIns="45700" rIns="91425" bIns="45700" rtlCol="0" anchor="t" anchorCtr="0">
            <a:noAutofit/>
          </a:bodyPr>
          <a:lstStyle/>
          <a:p>
            <a:pPr>
              <a:buClr>
                <a:srgbClr val="20404E"/>
              </a:buClr>
              <a:buSzPct val="25000"/>
            </a:pPr>
            <a:r>
              <a:rPr lang="en-US" sz="3600" dirty="0">
                <a:solidFill>
                  <a:srgbClr val="20404E"/>
                </a:solidFill>
                <a:latin typeface="Lobster"/>
                <a:ea typeface="Lobster"/>
                <a:cs typeface="Lobster"/>
                <a:sym typeface="Lobster"/>
              </a:rPr>
              <a:t>Independent Variable vs. Dependent Variable</a:t>
            </a:r>
          </a:p>
        </p:txBody>
      </p:sp>
      <p:graphicFrame>
        <p:nvGraphicFramePr>
          <p:cNvPr id="224" name="Shape 224"/>
          <p:cNvGraphicFramePr/>
          <p:nvPr>
            <p:extLst>
              <p:ext uri="{D42A27DB-BD31-4B8C-83A1-F6EECF244321}">
                <p14:modId xmlns:p14="http://schemas.microsoft.com/office/powerpoint/2010/main" val="1691818293"/>
              </p:ext>
            </p:extLst>
          </p:nvPr>
        </p:nvGraphicFramePr>
        <p:xfrm>
          <a:off x="1527036" y="2529918"/>
          <a:ext cx="8789964" cy="4286260"/>
        </p:xfrm>
        <a:graphic>
          <a:graphicData uri="http://schemas.openxmlformats.org/drawingml/2006/table">
            <a:tbl>
              <a:tblPr>
                <a:noFill/>
              </a:tblPr>
              <a:tblGrid>
                <a:gridCol w="2929988">
                  <a:extLst>
                    <a:ext uri="{9D8B030D-6E8A-4147-A177-3AD203B41FA5}">
                      <a16:colId xmlns:a16="http://schemas.microsoft.com/office/drawing/2014/main" val="20000"/>
                    </a:ext>
                  </a:extLst>
                </a:gridCol>
                <a:gridCol w="2929988">
                  <a:extLst>
                    <a:ext uri="{9D8B030D-6E8A-4147-A177-3AD203B41FA5}">
                      <a16:colId xmlns:a16="http://schemas.microsoft.com/office/drawing/2014/main" val="20001"/>
                    </a:ext>
                  </a:extLst>
                </a:gridCol>
                <a:gridCol w="2929988">
                  <a:extLst>
                    <a:ext uri="{9D8B030D-6E8A-4147-A177-3AD203B41FA5}">
                      <a16:colId xmlns:a16="http://schemas.microsoft.com/office/drawing/2014/main" val="20002"/>
                    </a:ext>
                  </a:extLst>
                </a:gridCol>
              </a:tblGrid>
              <a:tr h="971550">
                <a:tc>
                  <a:txBody>
                    <a:bodyPr/>
                    <a:lstStyle/>
                    <a:p>
                      <a:pPr marL="0" marR="0" lvl="0" indent="0" algn="l" rtl="0">
                        <a:lnSpc>
                          <a:spcPct val="100000"/>
                        </a:lnSpc>
                        <a:spcBef>
                          <a:spcPts val="0"/>
                        </a:spcBef>
                        <a:spcAft>
                          <a:spcPts val="0"/>
                        </a:spcAft>
                        <a:buClr>
                          <a:schemeClr val="lt2"/>
                        </a:buClr>
                        <a:buFont typeface="Arial"/>
                        <a:buNone/>
                      </a:pPr>
                      <a:endParaRPr sz="2800" b="0" i="0" u="none" strike="noStrike" cap="none" baseline="0">
                        <a:solidFill>
                          <a:schemeClr val="dk1"/>
                        </a:solidFill>
                        <a:latin typeface="Arial"/>
                        <a:ea typeface="Arial"/>
                        <a:cs typeface="Arial"/>
                        <a:sym typeface="Arial"/>
                      </a:endParaRPr>
                    </a:p>
                  </a:txBody>
                  <a:tcPr marL="91450" marR="91450" marT="45725" marB="45725">
                    <a:lnL w="28575" cap="flat">
                      <a:solidFill>
                        <a:schemeClr val="dk1"/>
                      </a:solidFill>
                      <a:prstDash val="solid"/>
                      <a:round/>
                      <a:headEnd type="none" w="med" len="med"/>
                      <a:tailEnd type="none" w="med" len="med"/>
                    </a:lnL>
                    <a:lnR w="12700" cap="flat">
                      <a:solidFill>
                        <a:schemeClr val="dk1"/>
                      </a:solidFill>
                      <a:prstDash val="solid"/>
                      <a:round/>
                      <a:headEnd type="none" w="med" len="med"/>
                      <a:tailEnd type="none" w="med" len="med"/>
                    </a:lnR>
                    <a:lnT w="28575" cap="flat">
                      <a:solidFill>
                        <a:schemeClr val="dk1"/>
                      </a:solidFill>
                      <a:prstDash val="solid"/>
                      <a:round/>
                      <a:headEnd type="none" w="med" len="med"/>
                      <a:tailEnd type="none" w="med" len="med"/>
                    </a:lnT>
                    <a:lnB w="12700" cap="flat">
                      <a:solidFill>
                        <a:schemeClr val="dk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chemeClr val="lt2"/>
                        </a:buClr>
                        <a:buSzPct val="25000"/>
                        <a:buFont typeface="Arial"/>
                        <a:buNone/>
                      </a:pPr>
                      <a:r>
                        <a:rPr lang="en-US" sz="2400" b="1" i="0" u="none" strike="noStrike" cap="none" baseline="0">
                          <a:solidFill>
                            <a:srgbClr val="0000FF"/>
                          </a:solidFill>
                          <a:latin typeface="Arial"/>
                          <a:ea typeface="Arial"/>
                          <a:cs typeface="Arial"/>
                          <a:sym typeface="Arial"/>
                        </a:rPr>
                        <a:t>Independent Variable</a:t>
                      </a:r>
                    </a:p>
                  </a:txBody>
                  <a:tcPr marL="91450" marR="91450" marT="45725" marB="45725">
                    <a:lnL w="12700" cap="flat">
                      <a:solidFill>
                        <a:schemeClr val="dk1"/>
                      </a:solidFill>
                      <a:prstDash val="solid"/>
                      <a:round/>
                      <a:headEnd type="none" w="med" len="med"/>
                      <a:tailEnd type="none" w="med" len="med"/>
                    </a:lnL>
                    <a:lnR w="12700" cap="flat">
                      <a:solidFill>
                        <a:schemeClr val="dk1"/>
                      </a:solidFill>
                      <a:prstDash val="solid"/>
                      <a:round/>
                      <a:headEnd type="none" w="med" len="med"/>
                      <a:tailEnd type="none" w="med" len="med"/>
                    </a:lnR>
                    <a:lnT w="28575" cap="flat">
                      <a:solidFill>
                        <a:schemeClr val="dk1"/>
                      </a:solidFill>
                      <a:prstDash val="solid"/>
                      <a:round/>
                      <a:headEnd type="none" w="med" len="med"/>
                      <a:tailEnd type="none" w="med" len="med"/>
                    </a:lnT>
                    <a:lnB w="12700" cap="flat">
                      <a:solidFill>
                        <a:schemeClr val="dk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chemeClr val="lt2"/>
                        </a:buClr>
                        <a:buSzPct val="25000"/>
                        <a:buFont typeface="Arial"/>
                        <a:buNone/>
                      </a:pPr>
                      <a:r>
                        <a:rPr lang="en-US" sz="2400" b="1" i="0" u="none" strike="noStrike" cap="none" baseline="0">
                          <a:solidFill>
                            <a:srgbClr val="009900"/>
                          </a:solidFill>
                          <a:latin typeface="Arial"/>
                          <a:ea typeface="Arial"/>
                          <a:cs typeface="Arial"/>
                          <a:sym typeface="Arial"/>
                        </a:rPr>
                        <a:t>Dependent </a:t>
                      </a:r>
                    </a:p>
                    <a:p>
                      <a:pPr marL="0" marR="0" lvl="0" indent="0" algn="l" rtl="0">
                        <a:lnSpc>
                          <a:spcPct val="100000"/>
                        </a:lnSpc>
                        <a:spcBef>
                          <a:spcPts val="560"/>
                        </a:spcBef>
                        <a:spcAft>
                          <a:spcPts val="0"/>
                        </a:spcAft>
                        <a:buClr>
                          <a:schemeClr val="lt2"/>
                        </a:buClr>
                        <a:buSzPct val="25000"/>
                        <a:buFont typeface="Arial"/>
                        <a:buNone/>
                      </a:pPr>
                      <a:r>
                        <a:rPr lang="en-US" sz="2400" b="1" i="0" u="none" strike="noStrike" cap="none" baseline="0">
                          <a:solidFill>
                            <a:srgbClr val="009900"/>
                          </a:solidFill>
                          <a:latin typeface="Arial"/>
                          <a:ea typeface="Arial"/>
                          <a:cs typeface="Arial"/>
                          <a:sym typeface="Arial"/>
                        </a:rPr>
                        <a:t>Variable</a:t>
                      </a:r>
                    </a:p>
                  </a:txBody>
                  <a:tcPr marL="91450" marR="91450" marT="45725" marB="45725">
                    <a:lnL w="12700" cap="flat">
                      <a:solidFill>
                        <a:schemeClr val="dk1"/>
                      </a:solidFill>
                      <a:prstDash val="solid"/>
                      <a:round/>
                      <a:headEnd type="none" w="med" len="med"/>
                      <a:tailEnd type="none" w="med" len="med"/>
                    </a:lnL>
                    <a:lnR w="28575" cap="flat">
                      <a:solidFill>
                        <a:schemeClr val="dk1"/>
                      </a:solidFill>
                      <a:prstDash val="solid"/>
                      <a:round/>
                      <a:headEnd type="none" w="med" len="med"/>
                      <a:tailEnd type="none" w="med" len="med"/>
                    </a:lnR>
                    <a:lnT w="28575" cap="flat">
                      <a:solidFill>
                        <a:schemeClr val="dk1"/>
                      </a:solidFill>
                      <a:prstDash val="solid"/>
                      <a:round/>
                      <a:headEnd type="none" w="med" len="med"/>
                      <a:tailEnd type="none" w="med" len="med"/>
                    </a:lnT>
                    <a:lnB w="12700" cap="flat">
                      <a:solidFill>
                        <a:schemeClr val="dk1"/>
                      </a:solidFill>
                      <a:prstDash val="solid"/>
                      <a:round/>
                      <a:headEnd type="none" w="med" len="med"/>
                      <a:tailEnd type="none" w="med" len="med"/>
                    </a:lnB>
                  </a:tcPr>
                </a:tc>
                <a:extLst>
                  <a:ext uri="{0D108BD9-81ED-4DB2-BD59-A6C34878D82A}">
                    <a16:rowId xmlns:a16="http://schemas.microsoft.com/office/drawing/2014/main" val="10000"/>
                  </a:ext>
                </a:extLst>
              </a:tr>
              <a:tr h="971550">
                <a:tc>
                  <a:txBody>
                    <a:bodyPr/>
                    <a:lstStyle/>
                    <a:p>
                      <a:pPr marL="0" marR="0" lvl="0" indent="0" algn="l" rtl="0">
                        <a:lnSpc>
                          <a:spcPct val="100000"/>
                        </a:lnSpc>
                        <a:spcBef>
                          <a:spcPts val="0"/>
                        </a:spcBef>
                        <a:spcAft>
                          <a:spcPts val="0"/>
                        </a:spcAft>
                        <a:buClr>
                          <a:schemeClr val="lt2"/>
                        </a:buClr>
                        <a:buSzPct val="25000"/>
                        <a:buFont typeface="Arial"/>
                        <a:buNone/>
                      </a:pPr>
                      <a:r>
                        <a:rPr lang="en-US" sz="2800" b="1" i="0" u="none" strike="noStrike" cap="none" baseline="0">
                          <a:solidFill>
                            <a:schemeClr val="dk1"/>
                          </a:solidFill>
                          <a:latin typeface="Arial"/>
                          <a:ea typeface="Arial"/>
                          <a:cs typeface="Arial"/>
                          <a:sym typeface="Arial"/>
                        </a:rPr>
                        <a:t>Also Known As:</a:t>
                      </a:r>
                    </a:p>
                  </a:txBody>
                  <a:tcPr marL="91450" marR="91450" marT="45725" marB="45725">
                    <a:lnL w="28575" cap="flat">
                      <a:solidFill>
                        <a:schemeClr val="dk1"/>
                      </a:solidFill>
                      <a:prstDash val="solid"/>
                      <a:round/>
                      <a:headEnd type="none" w="med" len="med"/>
                      <a:tailEnd type="none" w="med" len="med"/>
                    </a:lnL>
                    <a:lnR w="12700" cap="flat">
                      <a:solidFill>
                        <a:schemeClr val="dk1"/>
                      </a:solidFill>
                      <a:prstDash val="solid"/>
                      <a:round/>
                      <a:headEnd type="none" w="med" len="med"/>
                      <a:tailEnd type="none" w="med" len="med"/>
                    </a:lnR>
                    <a:lnT w="12700" cap="flat">
                      <a:solidFill>
                        <a:schemeClr val="dk1"/>
                      </a:solidFill>
                      <a:prstDash val="solid"/>
                      <a:round/>
                      <a:headEnd type="none" w="med" len="med"/>
                      <a:tailEnd type="none" w="med" len="med"/>
                    </a:lnT>
                    <a:lnB w="12700" cap="flat">
                      <a:solidFill>
                        <a:schemeClr val="dk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chemeClr val="lt2"/>
                        </a:buClr>
                        <a:buSzPct val="25000"/>
                        <a:buFont typeface="Arial"/>
                        <a:buNone/>
                      </a:pPr>
                      <a:r>
                        <a:rPr lang="en-US" sz="2400" b="0" i="0" u="none" strike="noStrike" cap="none" baseline="0">
                          <a:solidFill>
                            <a:srgbClr val="0000FF"/>
                          </a:solidFill>
                          <a:latin typeface="Arial"/>
                          <a:ea typeface="Arial"/>
                          <a:cs typeface="Arial"/>
                          <a:sym typeface="Arial"/>
                        </a:rPr>
                        <a:t>Manipulated Variable</a:t>
                      </a:r>
                    </a:p>
                  </a:txBody>
                  <a:tcPr marL="91450" marR="91450" marT="45725" marB="45725">
                    <a:lnL w="12700" cap="flat">
                      <a:solidFill>
                        <a:schemeClr val="dk1"/>
                      </a:solidFill>
                      <a:prstDash val="solid"/>
                      <a:round/>
                      <a:headEnd type="none" w="med" len="med"/>
                      <a:tailEnd type="none" w="med" len="med"/>
                    </a:lnL>
                    <a:lnR w="12700" cap="flat">
                      <a:solidFill>
                        <a:schemeClr val="dk1"/>
                      </a:solidFill>
                      <a:prstDash val="solid"/>
                      <a:round/>
                      <a:headEnd type="none" w="med" len="med"/>
                      <a:tailEnd type="none" w="med" len="med"/>
                    </a:lnR>
                    <a:lnT w="12700" cap="flat">
                      <a:solidFill>
                        <a:schemeClr val="dk1"/>
                      </a:solidFill>
                      <a:prstDash val="solid"/>
                      <a:round/>
                      <a:headEnd type="none" w="med" len="med"/>
                      <a:tailEnd type="none" w="med" len="med"/>
                    </a:lnT>
                    <a:lnB w="12700" cap="flat">
                      <a:solidFill>
                        <a:schemeClr val="dk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chemeClr val="lt2"/>
                        </a:buClr>
                        <a:buSzPct val="25000"/>
                        <a:buFont typeface="Arial"/>
                        <a:buNone/>
                      </a:pPr>
                      <a:r>
                        <a:rPr lang="en-US" sz="2400" b="0" i="0" u="none" strike="noStrike" cap="none" baseline="0">
                          <a:solidFill>
                            <a:srgbClr val="009900"/>
                          </a:solidFill>
                          <a:latin typeface="Arial"/>
                          <a:ea typeface="Arial"/>
                          <a:cs typeface="Arial"/>
                          <a:sym typeface="Arial"/>
                        </a:rPr>
                        <a:t>Responding Variable</a:t>
                      </a:r>
                    </a:p>
                  </a:txBody>
                  <a:tcPr marL="91450" marR="91450" marT="45725" marB="45725">
                    <a:lnL w="12700" cap="flat">
                      <a:solidFill>
                        <a:schemeClr val="dk1"/>
                      </a:solidFill>
                      <a:prstDash val="solid"/>
                      <a:round/>
                      <a:headEnd type="none" w="med" len="med"/>
                      <a:tailEnd type="none" w="med" len="med"/>
                    </a:lnL>
                    <a:lnR w="28575" cap="flat">
                      <a:solidFill>
                        <a:schemeClr val="dk1"/>
                      </a:solidFill>
                      <a:prstDash val="solid"/>
                      <a:round/>
                      <a:headEnd type="none" w="med" len="med"/>
                      <a:tailEnd type="none" w="med" len="med"/>
                    </a:lnR>
                    <a:lnT w="12700" cap="flat">
                      <a:solidFill>
                        <a:schemeClr val="dk1"/>
                      </a:solidFill>
                      <a:prstDash val="solid"/>
                      <a:round/>
                      <a:headEnd type="none" w="med" len="med"/>
                      <a:tailEnd type="none" w="med" len="med"/>
                    </a:lnT>
                    <a:lnB w="12700" cap="flat">
                      <a:solidFill>
                        <a:schemeClr val="dk1"/>
                      </a:solidFill>
                      <a:prstDash val="solid"/>
                      <a:round/>
                      <a:headEnd type="none" w="med" len="med"/>
                      <a:tailEnd type="none" w="med" len="med"/>
                    </a:lnB>
                  </a:tcPr>
                </a:tc>
                <a:extLst>
                  <a:ext uri="{0D108BD9-81ED-4DB2-BD59-A6C34878D82A}">
                    <a16:rowId xmlns:a16="http://schemas.microsoft.com/office/drawing/2014/main" val="10001"/>
                  </a:ext>
                </a:extLst>
              </a:tr>
              <a:tr h="971550">
                <a:tc>
                  <a:txBody>
                    <a:bodyPr/>
                    <a:lstStyle/>
                    <a:p>
                      <a:pPr marL="0" marR="0" lvl="0" indent="0" algn="l" rtl="0">
                        <a:lnSpc>
                          <a:spcPct val="100000"/>
                        </a:lnSpc>
                        <a:spcBef>
                          <a:spcPts val="0"/>
                        </a:spcBef>
                        <a:spcAft>
                          <a:spcPts val="0"/>
                        </a:spcAft>
                        <a:buClr>
                          <a:schemeClr val="lt2"/>
                        </a:buClr>
                        <a:buSzPct val="25000"/>
                        <a:buFont typeface="Arial"/>
                        <a:buNone/>
                      </a:pPr>
                      <a:r>
                        <a:rPr lang="en-US" sz="2800" b="1" i="0" u="none" strike="noStrike" cap="none" baseline="0">
                          <a:solidFill>
                            <a:schemeClr val="dk1"/>
                          </a:solidFill>
                          <a:latin typeface="Arial"/>
                          <a:ea typeface="Arial"/>
                          <a:cs typeface="Arial"/>
                          <a:sym typeface="Arial"/>
                        </a:rPr>
                        <a:t>Results: </a:t>
                      </a:r>
                    </a:p>
                  </a:txBody>
                  <a:tcPr marL="91450" marR="91450" marT="45725" marB="45725">
                    <a:lnL w="28575" cap="flat">
                      <a:solidFill>
                        <a:schemeClr val="dk1"/>
                      </a:solidFill>
                      <a:prstDash val="solid"/>
                      <a:round/>
                      <a:headEnd type="none" w="med" len="med"/>
                      <a:tailEnd type="none" w="med" len="med"/>
                    </a:lnL>
                    <a:lnR w="12700" cap="flat">
                      <a:solidFill>
                        <a:schemeClr val="dk1"/>
                      </a:solidFill>
                      <a:prstDash val="solid"/>
                      <a:round/>
                      <a:headEnd type="none" w="med" len="med"/>
                      <a:tailEnd type="none" w="med" len="med"/>
                    </a:lnR>
                    <a:lnT w="12700" cap="flat">
                      <a:solidFill>
                        <a:schemeClr val="dk1"/>
                      </a:solidFill>
                      <a:prstDash val="solid"/>
                      <a:round/>
                      <a:headEnd type="none" w="med" len="med"/>
                      <a:tailEnd type="none" w="med" len="med"/>
                    </a:lnT>
                    <a:lnB w="12700" cap="flat">
                      <a:solidFill>
                        <a:schemeClr val="dk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chemeClr val="lt2"/>
                        </a:buClr>
                        <a:buSzPct val="25000"/>
                        <a:buFont typeface="Arial"/>
                        <a:buNone/>
                      </a:pPr>
                      <a:r>
                        <a:rPr lang="en-US" sz="2400" b="0" i="0" u="none" strike="noStrike" cap="none" baseline="0">
                          <a:solidFill>
                            <a:srgbClr val="0000FF"/>
                          </a:solidFill>
                          <a:latin typeface="Arial"/>
                          <a:ea typeface="Arial"/>
                          <a:cs typeface="Arial"/>
                          <a:sym typeface="Arial"/>
                        </a:rPr>
                        <a:t>Cause</a:t>
                      </a:r>
                    </a:p>
                  </a:txBody>
                  <a:tcPr marL="91450" marR="91450" marT="45725" marB="45725">
                    <a:lnL w="12700" cap="flat">
                      <a:solidFill>
                        <a:schemeClr val="dk1"/>
                      </a:solidFill>
                      <a:prstDash val="solid"/>
                      <a:round/>
                      <a:headEnd type="none" w="med" len="med"/>
                      <a:tailEnd type="none" w="med" len="med"/>
                    </a:lnL>
                    <a:lnR w="12700" cap="flat">
                      <a:solidFill>
                        <a:schemeClr val="dk1"/>
                      </a:solidFill>
                      <a:prstDash val="solid"/>
                      <a:round/>
                      <a:headEnd type="none" w="med" len="med"/>
                      <a:tailEnd type="none" w="med" len="med"/>
                    </a:lnR>
                    <a:lnT w="12700" cap="flat">
                      <a:solidFill>
                        <a:schemeClr val="dk1"/>
                      </a:solidFill>
                      <a:prstDash val="solid"/>
                      <a:round/>
                      <a:headEnd type="none" w="med" len="med"/>
                      <a:tailEnd type="none" w="med" len="med"/>
                    </a:lnT>
                    <a:lnB w="12700" cap="flat">
                      <a:solidFill>
                        <a:schemeClr val="dk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chemeClr val="lt2"/>
                        </a:buClr>
                        <a:buSzPct val="25000"/>
                        <a:buFont typeface="Arial"/>
                        <a:buNone/>
                      </a:pPr>
                      <a:r>
                        <a:rPr lang="en-US" sz="2400" b="0" i="0" u="none" strike="noStrike" cap="none" baseline="0">
                          <a:solidFill>
                            <a:srgbClr val="009900"/>
                          </a:solidFill>
                          <a:latin typeface="Arial"/>
                          <a:ea typeface="Arial"/>
                          <a:cs typeface="Arial"/>
                          <a:sym typeface="Arial"/>
                        </a:rPr>
                        <a:t>Effect</a:t>
                      </a:r>
                    </a:p>
                  </a:txBody>
                  <a:tcPr marL="91450" marR="91450" marT="45725" marB="45725">
                    <a:lnL w="12700" cap="flat">
                      <a:solidFill>
                        <a:schemeClr val="dk1"/>
                      </a:solidFill>
                      <a:prstDash val="solid"/>
                      <a:round/>
                      <a:headEnd type="none" w="med" len="med"/>
                      <a:tailEnd type="none" w="med" len="med"/>
                    </a:lnL>
                    <a:lnR w="28575" cap="flat">
                      <a:solidFill>
                        <a:schemeClr val="dk1"/>
                      </a:solidFill>
                      <a:prstDash val="solid"/>
                      <a:round/>
                      <a:headEnd type="none" w="med" len="med"/>
                      <a:tailEnd type="none" w="med" len="med"/>
                    </a:lnR>
                    <a:lnT w="12700" cap="flat">
                      <a:solidFill>
                        <a:schemeClr val="dk1"/>
                      </a:solidFill>
                      <a:prstDash val="solid"/>
                      <a:round/>
                      <a:headEnd type="none" w="med" len="med"/>
                      <a:tailEnd type="none" w="med" len="med"/>
                    </a:lnT>
                    <a:lnB w="12700" cap="flat">
                      <a:solidFill>
                        <a:schemeClr val="dk1"/>
                      </a:solidFill>
                      <a:prstDash val="solid"/>
                      <a:round/>
                      <a:headEnd type="none" w="med" len="med"/>
                      <a:tailEnd type="none" w="med" len="med"/>
                    </a:lnB>
                  </a:tcPr>
                </a:tc>
                <a:extLst>
                  <a:ext uri="{0D108BD9-81ED-4DB2-BD59-A6C34878D82A}">
                    <a16:rowId xmlns:a16="http://schemas.microsoft.com/office/drawing/2014/main" val="10002"/>
                  </a:ext>
                </a:extLst>
              </a:tr>
              <a:tr h="971550">
                <a:tc>
                  <a:txBody>
                    <a:bodyPr/>
                    <a:lstStyle/>
                    <a:p>
                      <a:pPr marL="0" marR="0" lvl="0" indent="0" algn="l" rtl="0">
                        <a:lnSpc>
                          <a:spcPct val="100000"/>
                        </a:lnSpc>
                        <a:spcBef>
                          <a:spcPts val="0"/>
                        </a:spcBef>
                        <a:spcAft>
                          <a:spcPts val="0"/>
                        </a:spcAft>
                        <a:buClr>
                          <a:schemeClr val="lt2"/>
                        </a:buClr>
                        <a:buSzPct val="25000"/>
                        <a:buFont typeface="Arial"/>
                        <a:buNone/>
                      </a:pPr>
                      <a:r>
                        <a:rPr lang="en-US" sz="2800" b="1" i="0" u="none" strike="noStrike" cap="none" baseline="0" dirty="0">
                          <a:solidFill>
                            <a:schemeClr val="dk1"/>
                          </a:solidFill>
                          <a:latin typeface="Arial"/>
                          <a:ea typeface="Arial"/>
                          <a:cs typeface="Arial"/>
                          <a:sym typeface="Arial"/>
                        </a:rPr>
                        <a:t>When representing on a graph:</a:t>
                      </a:r>
                    </a:p>
                  </a:txBody>
                  <a:tcPr marL="91450" marR="91450" marT="45725" marB="45725">
                    <a:lnL w="28575" cap="flat">
                      <a:solidFill>
                        <a:schemeClr val="dk1"/>
                      </a:solidFill>
                      <a:prstDash val="solid"/>
                      <a:round/>
                      <a:headEnd type="none" w="med" len="med"/>
                      <a:tailEnd type="none" w="med" len="med"/>
                    </a:lnL>
                    <a:lnR w="12700" cap="flat">
                      <a:solidFill>
                        <a:schemeClr val="dk1"/>
                      </a:solidFill>
                      <a:prstDash val="solid"/>
                      <a:round/>
                      <a:headEnd type="none" w="med" len="med"/>
                      <a:tailEnd type="none" w="med" len="med"/>
                    </a:lnR>
                    <a:lnT w="12700" cap="flat">
                      <a:solidFill>
                        <a:schemeClr val="dk1"/>
                      </a:solidFill>
                      <a:prstDash val="solid"/>
                      <a:round/>
                      <a:headEnd type="none" w="med" len="med"/>
                      <a:tailEnd type="none" w="med" len="med"/>
                    </a:lnT>
                    <a:lnB w="28575" cap="flat">
                      <a:solidFill>
                        <a:schemeClr val="dk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chemeClr val="lt2"/>
                        </a:buClr>
                        <a:buSzPct val="25000"/>
                        <a:buFont typeface="Arial"/>
                        <a:buNone/>
                      </a:pPr>
                      <a:r>
                        <a:rPr lang="en-US" sz="2400" b="0" i="0" u="none" strike="noStrike" cap="none" baseline="0">
                          <a:solidFill>
                            <a:srgbClr val="0000FF"/>
                          </a:solidFill>
                          <a:latin typeface="Arial"/>
                          <a:ea typeface="Arial"/>
                          <a:cs typeface="Arial"/>
                          <a:sym typeface="Arial"/>
                        </a:rPr>
                        <a:t>X axis</a:t>
                      </a:r>
                    </a:p>
                  </a:txBody>
                  <a:tcPr marL="91450" marR="91450" marT="45725" marB="45725">
                    <a:lnL w="12700" cap="flat">
                      <a:solidFill>
                        <a:schemeClr val="dk1"/>
                      </a:solidFill>
                      <a:prstDash val="solid"/>
                      <a:round/>
                      <a:headEnd type="none" w="med" len="med"/>
                      <a:tailEnd type="none" w="med" len="med"/>
                    </a:lnL>
                    <a:lnR w="12700" cap="flat">
                      <a:solidFill>
                        <a:schemeClr val="dk1"/>
                      </a:solidFill>
                      <a:prstDash val="solid"/>
                      <a:round/>
                      <a:headEnd type="none" w="med" len="med"/>
                      <a:tailEnd type="none" w="med" len="med"/>
                    </a:lnR>
                    <a:lnT w="12700" cap="flat">
                      <a:solidFill>
                        <a:schemeClr val="dk1"/>
                      </a:solidFill>
                      <a:prstDash val="solid"/>
                      <a:round/>
                      <a:headEnd type="none" w="med" len="med"/>
                      <a:tailEnd type="none" w="med" len="med"/>
                    </a:lnT>
                    <a:lnB w="28575" cap="flat">
                      <a:solidFill>
                        <a:schemeClr val="dk1"/>
                      </a:solidFill>
                      <a:prstDash val="solid"/>
                      <a:round/>
                      <a:headEnd type="none" w="med" len="med"/>
                      <a:tailEnd type="none" w="med" len="med"/>
                    </a:lnB>
                  </a:tcPr>
                </a:tc>
                <a:tc>
                  <a:txBody>
                    <a:bodyPr/>
                    <a:lstStyle/>
                    <a:p>
                      <a:pPr marL="0" marR="0" lvl="0" indent="0" algn="l" rtl="0">
                        <a:lnSpc>
                          <a:spcPct val="100000"/>
                        </a:lnSpc>
                        <a:spcBef>
                          <a:spcPts val="0"/>
                        </a:spcBef>
                        <a:spcAft>
                          <a:spcPts val="0"/>
                        </a:spcAft>
                        <a:buClr>
                          <a:schemeClr val="lt2"/>
                        </a:buClr>
                        <a:buSzPct val="25000"/>
                        <a:buFont typeface="Arial"/>
                        <a:buNone/>
                      </a:pPr>
                      <a:r>
                        <a:rPr lang="en-US" sz="2400" b="0" i="0" u="none" strike="noStrike" cap="none" baseline="0" dirty="0">
                          <a:solidFill>
                            <a:srgbClr val="009900"/>
                          </a:solidFill>
                          <a:latin typeface="Arial"/>
                          <a:ea typeface="Arial"/>
                          <a:cs typeface="Arial"/>
                          <a:sym typeface="Arial"/>
                        </a:rPr>
                        <a:t>Y axis</a:t>
                      </a:r>
                    </a:p>
                  </a:txBody>
                  <a:tcPr marL="91450" marR="91450" marT="45725" marB="45725">
                    <a:lnL w="12700" cap="flat">
                      <a:solidFill>
                        <a:schemeClr val="dk1"/>
                      </a:solidFill>
                      <a:prstDash val="solid"/>
                      <a:round/>
                      <a:headEnd type="none" w="med" len="med"/>
                      <a:tailEnd type="none" w="med" len="med"/>
                    </a:lnL>
                    <a:lnR w="28575" cap="flat">
                      <a:solidFill>
                        <a:schemeClr val="dk1"/>
                      </a:solidFill>
                      <a:prstDash val="solid"/>
                      <a:round/>
                      <a:headEnd type="none" w="med" len="med"/>
                      <a:tailEnd type="none" w="med" len="med"/>
                    </a:lnR>
                    <a:lnT w="12700" cap="flat">
                      <a:solidFill>
                        <a:schemeClr val="dk1"/>
                      </a:solidFill>
                      <a:prstDash val="solid"/>
                      <a:round/>
                      <a:headEnd type="none" w="med" len="med"/>
                      <a:tailEnd type="none" w="med" len="med"/>
                    </a:lnT>
                    <a:lnB w="28575" cap="flat">
                      <a:solidFill>
                        <a:schemeClr val="dk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pic>
        <p:nvPicPr>
          <p:cNvPr id="225" name="Shape 225"/>
          <p:cNvPicPr preferRelativeResize="0"/>
          <p:nvPr/>
        </p:nvPicPr>
        <p:blipFill>
          <a:blip r:embed="rId3"/>
          <a:stretch>
            <a:fillRect/>
          </a:stretch>
        </p:blipFill>
        <p:spPr>
          <a:xfrm>
            <a:off x="4481251" y="1049919"/>
            <a:ext cx="5941948" cy="1371599"/>
          </a:xfrm>
          <a:prstGeom prst="rect">
            <a:avLst/>
          </a:prstGeom>
          <a:noFill/>
          <a:ln>
            <a:noFill/>
          </a:ln>
        </p:spPr>
      </p:pic>
    </p:spTree>
  </p:cSld>
  <p:clrMapOvr>
    <a:masterClrMapping/>
  </p:clrMapOvr>
  <p:transition spd="slow">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A5B4B-DFB2-4314-9FCF-0E206DA0EC49}"/>
              </a:ext>
            </a:extLst>
          </p:cNvPr>
          <p:cNvSpPr>
            <a:spLocks noGrp="1"/>
          </p:cNvSpPr>
          <p:nvPr>
            <p:ph type="title"/>
          </p:nvPr>
        </p:nvSpPr>
        <p:spPr>
          <a:xfrm>
            <a:off x="782781" y="-13750"/>
            <a:ext cx="11006797" cy="886900"/>
          </a:xfrm>
        </p:spPr>
        <p:txBody>
          <a:bodyPr>
            <a:normAutofit/>
          </a:bodyPr>
          <a:lstStyle/>
          <a:p>
            <a:r>
              <a:rPr lang="en-US" dirty="0" smtClean="0"/>
              <a:t>Steps in </a:t>
            </a:r>
            <a:r>
              <a:rPr lang="en-US" dirty="0"/>
              <a:t>the Scientific </a:t>
            </a:r>
            <a:r>
              <a:rPr lang="en-US" dirty="0" smtClean="0"/>
              <a:t>Method with details:</a:t>
            </a:r>
            <a:endParaRPr lang="en-US" dirty="0"/>
          </a:p>
        </p:txBody>
      </p:sp>
      <p:pic>
        <p:nvPicPr>
          <p:cNvPr id="4" name="Picture 3" descr="Image result for scientific method&quot;">
            <a:extLst>
              <a:ext uri="{FF2B5EF4-FFF2-40B4-BE49-F238E27FC236}">
                <a16:creationId xmlns:a16="http://schemas.microsoft.com/office/drawing/2014/main" id="{03B85B1C-795A-4544-9299-48804A06497E}"/>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3319975" y="886900"/>
            <a:ext cx="5416061" cy="5971099"/>
          </a:xfrm>
          <a:prstGeom prst="rect">
            <a:avLst/>
          </a:prstGeom>
          <a:noFill/>
          <a:ln>
            <a:noFill/>
          </a:ln>
        </p:spPr>
      </p:pic>
    </p:spTree>
    <p:extLst>
      <p:ext uri="{BB962C8B-B14F-4D97-AF65-F5344CB8AC3E}">
        <p14:creationId xmlns:p14="http://schemas.microsoft.com/office/powerpoint/2010/main" val="12737473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10B426-8A8E-45D4-B160-24E667E9E632}"/>
              </a:ext>
            </a:extLst>
          </p:cNvPr>
          <p:cNvSpPr>
            <a:spLocks noGrp="1"/>
          </p:cNvSpPr>
          <p:nvPr>
            <p:ph idx="1"/>
          </p:nvPr>
        </p:nvSpPr>
        <p:spPr>
          <a:xfrm>
            <a:off x="838200" y="2878111"/>
            <a:ext cx="10515600" cy="3298852"/>
          </a:xfrm>
        </p:spPr>
        <p:txBody>
          <a:bodyPr/>
          <a:lstStyle/>
          <a:p>
            <a:pPr marL="0" indent="0">
              <a:buNone/>
            </a:pPr>
            <a:r>
              <a:rPr lang="en-US" sz="3200" dirty="0">
                <a:effectLst/>
                <a:ea typeface="Calibri" panose="020F0502020204030204" pitchFamily="34" charset="0"/>
                <a:cs typeface="Times New Roman" panose="02020603050405020304" pitchFamily="18" charset="0"/>
              </a:rPr>
              <a:t>Learning objective: to understand how to develop a  good </a:t>
            </a:r>
          </a:p>
          <a:p>
            <a:pPr marL="0" indent="0">
              <a:buNone/>
            </a:pPr>
            <a:r>
              <a:rPr lang="en-US" sz="3200" dirty="0">
                <a:ea typeface="Calibri" panose="020F0502020204030204" pitchFamily="34" charset="0"/>
                <a:cs typeface="Times New Roman" panose="02020603050405020304" pitchFamily="18" charset="0"/>
              </a:rPr>
              <a:t>                                    </a:t>
            </a:r>
            <a:r>
              <a:rPr lang="en-US" sz="3200" dirty="0">
                <a:effectLst/>
                <a:ea typeface="Calibri" panose="020F0502020204030204" pitchFamily="34" charset="0"/>
                <a:cs typeface="Times New Roman" panose="02020603050405020304" pitchFamily="18" charset="0"/>
              </a:rPr>
              <a:t>hypothesis in scientific experiments.</a:t>
            </a:r>
          </a:p>
          <a:p>
            <a:endParaRPr lang="en-US" dirty="0"/>
          </a:p>
        </p:txBody>
      </p:sp>
      <p:sp>
        <p:nvSpPr>
          <p:cNvPr id="2" name="TextBox 1">
            <a:extLst>
              <a:ext uri="{FF2B5EF4-FFF2-40B4-BE49-F238E27FC236}">
                <a16:creationId xmlns:a16="http://schemas.microsoft.com/office/drawing/2014/main" id="{50F8691B-63EC-4CA5-8E7E-0FF6426BF86A}"/>
              </a:ext>
            </a:extLst>
          </p:cNvPr>
          <p:cNvSpPr txBox="1"/>
          <p:nvPr/>
        </p:nvSpPr>
        <p:spPr>
          <a:xfrm>
            <a:off x="838200" y="674557"/>
            <a:ext cx="10824148" cy="1077218"/>
          </a:xfrm>
          <a:prstGeom prst="rect">
            <a:avLst/>
          </a:prstGeom>
          <a:noFill/>
        </p:spPr>
        <p:txBody>
          <a:bodyPr wrap="square" rtlCol="0">
            <a:spAutoFit/>
          </a:bodyPr>
          <a:lstStyle/>
          <a:p>
            <a:pPr algn="ctr"/>
            <a:r>
              <a:rPr lang="en-US" sz="3200" b="1" dirty="0">
                <a:solidFill>
                  <a:srgbClr val="002060"/>
                </a:solidFill>
              </a:rPr>
              <a:t>How to form a Hypothesis and identify variables in a scientific experiment</a:t>
            </a:r>
          </a:p>
        </p:txBody>
      </p:sp>
    </p:spTree>
    <p:extLst>
      <p:ext uri="{BB962C8B-B14F-4D97-AF65-F5344CB8AC3E}">
        <p14:creationId xmlns:p14="http://schemas.microsoft.com/office/powerpoint/2010/main" val="1347541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Shape 167"/>
          <p:cNvSpPr txBox="1">
            <a:spLocks noGrp="1"/>
          </p:cNvSpPr>
          <p:nvPr>
            <p:ph type="title"/>
          </p:nvPr>
        </p:nvSpPr>
        <p:spPr>
          <a:xfrm>
            <a:off x="2133599" y="609600"/>
            <a:ext cx="6347712" cy="1320800"/>
          </a:xfrm>
          <a:prstGeom prst="rect">
            <a:avLst/>
          </a:prstGeom>
          <a:noFill/>
          <a:ln>
            <a:noFill/>
          </a:ln>
        </p:spPr>
        <p:txBody>
          <a:bodyPr vert="horz" lIns="91425" tIns="45700" rIns="91425" bIns="45700" rtlCol="0" anchor="t" anchorCtr="0">
            <a:noAutofit/>
          </a:bodyPr>
          <a:lstStyle/>
          <a:p>
            <a:pPr>
              <a:spcBef>
                <a:spcPts val="0"/>
              </a:spcBef>
              <a:buClr>
                <a:srgbClr val="20404E"/>
              </a:buClr>
              <a:buSzPct val="25000"/>
            </a:pPr>
            <a:r>
              <a:rPr lang="en-US" sz="4800" b="1" dirty="0">
                <a:solidFill>
                  <a:srgbClr val="20404E"/>
                </a:solidFill>
              </a:rPr>
              <a:t>Testable Question</a:t>
            </a:r>
          </a:p>
        </p:txBody>
      </p:sp>
      <p:sp>
        <p:nvSpPr>
          <p:cNvPr id="168" name="Shape 168"/>
          <p:cNvSpPr txBox="1">
            <a:spLocks noGrp="1"/>
          </p:cNvSpPr>
          <p:nvPr>
            <p:ph type="body" idx="1"/>
          </p:nvPr>
        </p:nvSpPr>
        <p:spPr>
          <a:xfrm>
            <a:off x="1096445" y="3068182"/>
            <a:ext cx="7384866" cy="2979299"/>
          </a:xfrm>
          <a:prstGeom prst="rect">
            <a:avLst/>
          </a:prstGeom>
          <a:noFill/>
          <a:ln>
            <a:noFill/>
          </a:ln>
        </p:spPr>
        <p:txBody>
          <a:bodyPr vert="horz" lIns="91425" tIns="45700" rIns="91425" bIns="45700" rtlCol="0" anchor="t" anchorCtr="0">
            <a:noAutofit/>
          </a:bodyPr>
          <a:lstStyle/>
          <a:p>
            <a:pPr>
              <a:lnSpc>
                <a:spcPct val="115000"/>
              </a:lnSpc>
              <a:spcBef>
                <a:spcPts val="800"/>
              </a:spcBef>
              <a:buSzPct val="100000"/>
              <a:buNone/>
            </a:pPr>
            <a:r>
              <a:rPr lang="en-US" dirty="0">
                <a:solidFill>
                  <a:schemeClr val="dk1"/>
                </a:solidFill>
              </a:rPr>
              <a:t>A testable question is one that can be answered by designing and conducting an experiment.</a:t>
            </a:r>
          </a:p>
          <a:p>
            <a:pPr>
              <a:lnSpc>
                <a:spcPct val="115000"/>
              </a:lnSpc>
              <a:spcBef>
                <a:spcPts val="800"/>
              </a:spcBef>
              <a:buSzPct val="100000"/>
              <a:buNone/>
            </a:pPr>
            <a:r>
              <a:rPr lang="en-US" dirty="0">
                <a:solidFill>
                  <a:schemeClr val="dk1"/>
                </a:solidFill>
              </a:rPr>
              <a:t>The answers to a testable question can be observed and measured.</a:t>
            </a:r>
          </a:p>
          <a:p>
            <a:pPr>
              <a:lnSpc>
                <a:spcPct val="115000"/>
              </a:lnSpc>
              <a:spcBef>
                <a:spcPts val="800"/>
              </a:spcBef>
              <a:buNone/>
            </a:pPr>
            <a:endParaRPr dirty="0">
              <a:solidFill>
                <a:schemeClr val="dk1"/>
              </a:solidFill>
            </a:endParaRPr>
          </a:p>
          <a:p>
            <a:pPr marL="0" indent="0">
              <a:buNone/>
            </a:pPr>
            <a:r>
              <a:rPr lang="en-US" sz="2400" dirty="0">
                <a:solidFill>
                  <a:srgbClr val="3F3F3F"/>
                </a:solidFill>
              </a:rPr>
              <a:t> </a:t>
            </a:r>
          </a:p>
        </p:txBody>
      </p:sp>
      <p:pic>
        <p:nvPicPr>
          <p:cNvPr id="169" name="Shape 169"/>
          <p:cNvPicPr preferRelativeResize="0"/>
          <p:nvPr/>
        </p:nvPicPr>
        <p:blipFill>
          <a:blip r:embed="rId3"/>
          <a:stretch>
            <a:fillRect/>
          </a:stretch>
        </p:blipFill>
        <p:spPr>
          <a:xfrm>
            <a:off x="7810500" y="110850"/>
            <a:ext cx="2857500" cy="2857500"/>
          </a:xfrm>
          <a:prstGeom prst="rect">
            <a:avLst/>
          </a:prstGeom>
          <a:noFill/>
          <a:ln>
            <a:noFill/>
          </a:ln>
        </p:spPr>
      </p:pic>
    </p:spTree>
  </p:cSld>
  <p:clrMapOvr>
    <a:masterClrMapping/>
  </p:clrMapOvr>
  <p:transition spd="slow">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Shape 175"/>
          <p:cNvSpPr txBox="1">
            <a:spLocks noGrp="1"/>
          </p:cNvSpPr>
          <p:nvPr>
            <p:ph type="title"/>
          </p:nvPr>
        </p:nvSpPr>
        <p:spPr>
          <a:xfrm>
            <a:off x="2133599" y="609601"/>
            <a:ext cx="6347700" cy="1320899"/>
          </a:xfrm>
          <a:prstGeom prst="rect">
            <a:avLst/>
          </a:prstGeom>
          <a:noFill/>
          <a:ln>
            <a:noFill/>
          </a:ln>
        </p:spPr>
        <p:txBody>
          <a:bodyPr vert="horz" lIns="91425" tIns="45700" rIns="91425" bIns="45700" rtlCol="0" anchor="t" anchorCtr="0">
            <a:noAutofit/>
          </a:bodyPr>
          <a:lstStyle/>
          <a:p>
            <a:pPr>
              <a:spcBef>
                <a:spcPts val="0"/>
              </a:spcBef>
              <a:buClr>
                <a:srgbClr val="20404E"/>
              </a:buClr>
              <a:buSzPct val="25000"/>
            </a:pPr>
            <a:r>
              <a:rPr lang="en-US" sz="4800">
                <a:solidFill>
                  <a:srgbClr val="20404E"/>
                </a:solidFill>
              </a:rPr>
              <a:t>Hypothesis</a:t>
            </a:r>
          </a:p>
        </p:txBody>
      </p:sp>
      <p:sp>
        <p:nvSpPr>
          <p:cNvPr id="176" name="Shape 176"/>
          <p:cNvSpPr txBox="1">
            <a:spLocks noGrp="1"/>
          </p:cNvSpPr>
          <p:nvPr>
            <p:ph type="body" idx="1"/>
          </p:nvPr>
        </p:nvSpPr>
        <p:spPr>
          <a:xfrm>
            <a:off x="2133599" y="2160601"/>
            <a:ext cx="6082200" cy="3880799"/>
          </a:xfrm>
          <a:prstGeom prst="rect">
            <a:avLst/>
          </a:prstGeom>
          <a:noFill/>
          <a:ln>
            <a:noFill/>
          </a:ln>
        </p:spPr>
        <p:txBody>
          <a:bodyPr vert="horz" lIns="91425" tIns="45700" rIns="91425" bIns="45700" rtlCol="0" anchor="t" anchorCtr="0">
            <a:noAutofit/>
          </a:bodyPr>
          <a:lstStyle/>
          <a:p>
            <a:pPr marL="342900" indent="-403860">
              <a:spcBef>
                <a:spcPts val="0"/>
              </a:spcBef>
              <a:buClr>
                <a:srgbClr val="000000"/>
              </a:buClr>
              <a:buSzPct val="100000"/>
              <a:buFont typeface="Trebuchet MS"/>
              <a:buChar char="●"/>
            </a:pPr>
            <a:r>
              <a:rPr lang="en-US" sz="2400" b="1" u="sng" dirty="0"/>
              <a:t>Hypothesis</a:t>
            </a:r>
            <a:r>
              <a:rPr lang="en-US" sz="2400" dirty="0"/>
              <a:t>- a </a:t>
            </a:r>
            <a:r>
              <a:rPr lang="en-US" sz="2400" b="1" u="sng" dirty="0"/>
              <a:t>testable explanation</a:t>
            </a:r>
            <a:r>
              <a:rPr lang="en-US" sz="2400" dirty="0"/>
              <a:t> of an observation.</a:t>
            </a:r>
          </a:p>
          <a:p>
            <a:pPr marL="0" indent="0">
              <a:buNone/>
            </a:pPr>
            <a:endParaRPr sz="2400" dirty="0"/>
          </a:p>
          <a:p>
            <a:pPr marL="342900" indent="-403860">
              <a:buClr>
                <a:srgbClr val="3F3F3F"/>
              </a:buClr>
              <a:buSzPct val="100000"/>
              <a:buFont typeface="Trebuchet MS"/>
              <a:buChar char="●"/>
            </a:pPr>
            <a:r>
              <a:rPr lang="en-US" sz="2400" dirty="0"/>
              <a:t>A hypothesis is </a:t>
            </a:r>
            <a:r>
              <a:rPr lang="en-US" sz="2400" b="1" u="sng" dirty="0" err="1" smtClean="0"/>
              <a:t>is</a:t>
            </a:r>
            <a:r>
              <a:rPr lang="en-US" sz="2400" b="1" u="sng" dirty="0" smtClean="0"/>
              <a:t> </a:t>
            </a:r>
            <a:r>
              <a:rPr lang="en-US" sz="2400" b="1" u="sng" dirty="0" err="1" smtClean="0"/>
              <a:t>aproposal</a:t>
            </a:r>
            <a:r>
              <a:rPr lang="en-US" sz="2400" b="1" u="sng" dirty="0" smtClean="0"/>
              <a:t> that will be discovered through investigation</a:t>
            </a:r>
            <a:r>
              <a:rPr lang="en-US" sz="2400" dirty="0" smtClean="0"/>
              <a:t>.  </a:t>
            </a:r>
            <a:r>
              <a:rPr lang="en-US" sz="2400" dirty="0"/>
              <a:t>It must be based on </a:t>
            </a:r>
            <a:r>
              <a:rPr lang="en-US" sz="2400" dirty="0" smtClean="0"/>
              <a:t>prior knowledge, experience and research. </a:t>
            </a:r>
          </a:p>
          <a:p>
            <a:pPr marL="342900" indent="-403860">
              <a:buClr>
                <a:srgbClr val="3F3F3F"/>
              </a:buClr>
              <a:buSzPct val="100000"/>
              <a:buFont typeface="Trebuchet MS"/>
              <a:buChar char="●"/>
            </a:pPr>
            <a:r>
              <a:rPr lang="en-US" sz="2400" dirty="0" smtClean="0"/>
              <a:t>We should be </a:t>
            </a:r>
            <a:r>
              <a:rPr lang="en-US" sz="2400" dirty="0"/>
              <a:t>able to </a:t>
            </a:r>
            <a:r>
              <a:rPr lang="en-US" sz="2400" dirty="0" smtClean="0"/>
              <a:t>test it.</a:t>
            </a:r>
            <a:r>
              <a:rPr lang="en-US" sz="2400" dirty="0" smtClean="0">
                <a:solidFill>
                  <a:srgbClr val="3F3F3F"/>
                </a:solidFill>
              </a:rPr>
              <a:t>  </a:t>
            </a:r>
            <a:endParaRPr lang="en-US" sz="2400" dirty="0">
              <a:solidFill>
                <a:srgbClr val="3F3F3F"/>
              </a:solidFill>
            </a:endParaRPr>
          </a:p>
          <a:p>
            <a:pPr marL="342900" indent="-403860">
              <a:buClr>
                <a:srgbClr val="3F3F3F"/>
              </a:buClr>
              <a:buSzPct val="100000"/>
              <a:buFont typeface="Trebuchet MS"/>
              <a:buChar char="●"/>
            </a:pPr>
            <a:r>
              <a:rPr lang="en-US" sz="2400" dirty="0">
                <a:solidFill>
                  <a:srgbClr val="002060"/>
                </a:solidFill>
              </a:rPr>
              <a:t>Hypothesis = Prediction + Reason</a:t>
            </a:r>
          </a:p>
        </p:txBody>
      </p:sp>
      <p:pic>
        <p:nvPicPr>
          <p:cNvPr id="2" name="Picture 1"/>
          <p:cNvPicPr>
            <a:picLocks noChangeAspect="1"/>
          </p:cNvPicPr>
          <p:nvPr/>
        </p:nvPicPr>
        <p:blipFill rotWithShape="1">
          <a:blip r:embed="rId3"/>
          <a:srcRect l="45843" t="50742" r="22343" b="13267"/>
          <a:stretch/>
        </p:blipFill>
        <p:spPr>
          <a:xfrm>
            <a:off x="8215799" y="2639904"/>
            <a:ext cx="3228108" cy="3401496"/>
          </a:xfrm>
          <a:prstGeom prst="rect">
            <a:avLst/>
          </a:prstGeom>
        </p:spPr>
      </p:pic>
    </p:spTree>
  </p:cSld>
  <p:clrMapOvr>
    <a:masterClrMapping/>
  </p:clrMapOvr>
  <p:transition spd="slow">
    <p:cut/>
  </p:transition>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F574E-D1BC-4942-81E1-CD2F6BD10144}"/>
              </a:ext>
            </a:extLst>
          </p:cNvPr>
          <p:cNvSpPr>
            <a:spLocks noGrp="1"/>
          </p:cNvSpPr>
          <p:nvPr>
            <p:ph type="title"/>
          </p:nvPr>
        </p:nvSpPr>
        <p:spPr/>
        <p:txBody>
          <a:bodyPr/>
          <a:lstStyle/>
          <a:p>
            <a:r>
              <a:rPr lang="en-US" b="1" u="sng" dirty="0">
                <a:solidFill>
                  <a:srgbClr val="002060"/>
                </a:solidFill>
              </a:rPr>
              <a:t>Tips to form a good hypothesis</a:t>
            </a:r>
          </a:p>
        </p:txBody>
      </p:sp>
      <p:sp>
        <p:nvSpPr>
          <p:cNvPr id="3" name="Content Placeholder 2">
            <a:extLst>
              <a:ext uri="{FF2B5EF4-FFF2-40B4-BE49-F238E27FC236}">
                <a16:creationId xmlns:a16="http://schemas.microsoft.com/office/drawing/2014/main" id="{0286F2D1-15DA-4065-9D0A-FA64AD2DB80B}"/>
              </a:ext>
            </a:extLst>
          </p:cNvPr>
          <p:cNvSpPr>
            <a:spLocks noGrp="1"/>
          </p:cNvSpPr>
          <p:nvPr>
            <p:ph idx="1"/>
          </p:nvPr>
        </p:nvSpPr>
        <p:spPr/>
        <p:txBody>
          <a:bodyPr>
            <a:normAutofit lnSpcReduction="10000"/>
          </a:bodyPr>
          <a:lstStyle/>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b="1"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The question comes first.</a:t>
            </a:r>
            <a:r>
              <a:rPr lang="en-US"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 </a:t>
            </a:r>
            <a:r>
              <a:rPr lang="en-US" sz="1800" dirty="0">
                <a:solidFill>
                  <a:srgbClr val="002060"/>
                </a:solidFill>
                <a:effectLst/>
                <a:latin typeface="Arial" panose="020B0604020202020204" pitchFamily="34" charset="0"/>
                <a:ea typeface="Calibri" panose="020F0502020204030204" pitchFamily="34" charset="0"/>
                <a:cs typeface="Times New Roman" panose="02020603050405020304" pitchFamily="18" charset="0"/>
              </a:rPr>
              <a:t>Before you make a hypothesis, you have to clearly identify the question you are interested in studying.</a:t>
            </a:r>
            <a:endParaRPr lang="en-US" sz="18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b="1"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A hypothesis is a statement, not a question.</a:t>
            </a:r>
            <a:r>
              <a:rPr lang="en-US"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 </a:t>
            </a:r>
            <a:r>
              <a:rPr lang="en-US" sz="1800" dirty="0">
                <a:solidFill>
                  <a:srgbClr val="002060"/>
                </a:solidFill>
                <a:effectLst/>
                <a:latin typeface="Arial" panose="020B0604020202020204" pitchFamily="34" charset="0"/>
                <a:ea typeface="Calibri" panose="020F0502020204030204" pitchFamily="34" charset="0"/>
                <a:cs typeface="Times New Roman" panose="02020603050405020304" pitchFamily="18" charset="0"/>
              </a:rPr>
              <a:t>Your hypothesis is not the scientific question in your project. The hypothesis is an educated, testable prediction about what will happen.</a:t>
            </a:r>
            <a:endParaRPr lang="en-US" sz="18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b="1"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Make it clear.</a:t>
            </a:r>
            <a:r>
              <a:rPr lang="en-US"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 </a:t>
            </a:r>
            <a:r>
              <a:rPr lang="en-US" sz="1800" dirty="0">
                <a:solidFill>
                  <a:srgbClr val="002060"/>
                </a:solidFill>
                <a:effectLst/>
                <a:latin typeface="Arial" panose="020B0604020202020204" pitchFamily="34" charset="0"/>
                <a:ea typeface="Calibri" panose="020F0502020204030204" pitchFamily="34" charset="0"/>
                <a:cs typeface="Times New Roman" panose="02020603050405020304" pitchFamily="18" charset="0"/>
              </a:rPr>
              <a:t>A good hypothesis is written in clear and simple language. Reading your hypothesis should tell a teacher or judge exactly what you thought was going to happen when you started your project.</a:t>
            </a:r>
            <a:endParaRPr lang="en-US" sz="18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b="1"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Keep the variables in mind.</a:t>
            </a:r>
            <a:r>
              <a:rPr lang="en-US"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 </a:t>
            </a:r>
            <a:r>
              <a:rPr lang="en-US" sz="1800" dirty="0">
                <a:solidFill>
                  <a:srgbClr val="002060"/>
                </a:solidFill>
                <a:effectLst/>
                <a:latin typeface="Arial" panose="020B0604020202020204" pitchFamily="34" charset="0"/>
                <a:ea typeface="Calibri" panose="020F0502020204030204" pitchFamily="34" charset="0"/>
                <a:cs typeface="Times New Roman" panose="02020603050405020304" pitchFamily="18" charset="0"/>
              </a:rPr>
              <a:t>A good hypothesis defines the variables in easy-to-measure terms, like who the participants are, what changes during the testing, and what the effect of the changes will be. </a:t>
            </a:r>
          </a:p>
          <a:p>
            <a:pPr marL="342900" marR="0" lvl="0" indent="-342900">
              <a:lnSpc>
                <a:spcPct val="107000"/>
              </a:lnSpc>
              <a:spcBef>
                <a:spcPts val="0"/>
              </a:spcBef>
              <a:spcAft>
                <a:spcPts val="800"/>
              </a:spcAft>
              <a:buSzPts val="1000"/>
              <a:buFont typeface="Symbol" panose="05050102010706020507" pitchFamily="18" charset="2"/>
              <a:buChar char=""/>
              <a:tabLst>
                <a:tab pos="457200" algn="l"/>
              </a:tabLst>
            </a:pPr>
            <a:r>
              <a:rPr lang="en-US" sz="1800" b="1"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Make sure your hypothesis is "testable."</a:t>
            </a:r>
            <a:r>
              <a:rPr lang="en-US" sz="1800" dirty="0">
                <a:solidFill>
                  <a:srgbClr val="333333"/>
                </a:solidFill>
                <a:effectLst/>
                <a:latin typeface="Arial" panose="020B0604020202020204" pitchFamily="34" charset="0"/>
                <a:ea typeface="Calibri" panose="020F0502020204030204" pitchFamily="34" charset="0"/>
                <a:cs typeface="Times New Roman" panose="02020603050405020304" pitchFamily="18" charset="0"/>
              </a:rPr>
              <a:t> </a:t>
            </a:r>
            <a:r>
              <a:rPr lang="en-US" sz="1800" dirty="0">
                <a:solidFill>
                  <a:srgbClr val="002060"/>
                </a:solidFill>
                <a:effectLst/>
                <a:latin typeface="Arial" panose="020B0604020202020204" pitchFamily="34" charset="0"/>
                <a:ea typeface="Calibri" panose="020F0502020204030204" pitchFamily="34" charset="0"/>
                <a:cs typeface="Times New Roman" panose="02020603050405020304" pitchFamily="18" charset="0"/>
              </a:rPr>
              <a:t>To prove or disprove your hypothesis, you need to be able to do an experiment and take measurements or make observations to see how two things (your variables) are related. You should also be able to repeat your experiment over and over again, if necessary.</a:t>
            </a:r>
            <a:endParaRPr lang="en-US" sz="18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31997145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71B60-D76B-46D0-B769-5E5B96574295}"/>
              </a:ext>
            </a:extLst>
          </p:cNvPr>
          <p:cNvSpPr>
            <a:spLocks noGrp="1"/>
          </p:cNvSpPr>
          <p:nvPr>
            <p:ph type="title"/>
          </p:nvPr>
        </p:nvSpPr>
        <p:spPr/>
        <p:txBody>
          <a:bodyPr/>
          <a:lstStyle/>
          <a:p>
            <a:r>
              <a:rPr lang="en-US" sz="4400" dirty="0">
                <a:effectLst/>
                <a:latin typeface="Calibri" panose="020F0502020204030204" pitchFamily="34" charset="0"/>
                <a:ea typeface="Calibri" panose="020F0502020204030204" pitchFamily="34" charset="0"/>
                <a:cs typeface="Times New Roman" panose="02020603050405020304" pitchFamily="18" charset="0"/>
              </a:rPr>
              <a:t>The Elements of a good hypothesis: </a:t>
            </a:r>
            <a:br>
              <a:rPr lang="en-US" sz="44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8CF8F49B-C1AF-4D78-BDA4-E2079D63F400}"/>
              </a:ext>
            </a:extLst>
          </p:cNvPr>
          <p:cNvSpPr>
            <a:spLocks noGrp="1"/>
          </p:cNvSpPr>
          <p:nvPr>
            <p:ph idx="1"/>
          </p:nvPr>
        </p:nvSpPr>
        <p:spPr>
          <a:xfrm>
            <a:off x="838200" y="1825625"/>
            <a:ext cx="6089073" cy="4351338"/>
          </a:xfrm>
        </p:spPr>
        <p:txBody>
          <a:bodyPr>
            <a:normAutofit fontScale="85000" lnSpcReduction="10000"/>
          </a:bodyPr>
          <a:lstStyle/>
          <a:p>
            <a:pPr marL="342900" marR="0" lvl="0" indent="-342900">
              <a:lnSpc>
                <a:spcPct val="200000"/>
              </a:lnSpc>
              <a:spcBef>
                <a:spcPts val="0"/>
              </a:spcBef>
              <a:spcAft>
                <a:spcPts val="0"/>
              </a:spcAft>
              <a:buFont typeface="Symbol" panose="05050102010706020507" pitchFamily="18" charset="2"/>
              <a:buChar char=""/>
            </a:pPr>
            <a:r>
              <a:rPr lang="en-US" sz="2400" dirty="0">
                <a:effectLst/>
                <a:latin typeface="Calibri" panose="020F0502020204030204" pitchFamily="34" charset="0"/>
                <a:ea typeface="Calibri" panose="020F0502020204030204" pitchFamily="34" charset="0"/>
                <a:cs typeface="Times New Roman" panose="02020603050405020304" pitchFamily="18" charset="0"/>
              </a:rPr>
              <a:t>Written as a statement</a:t>
            </a:r>
          </a:p>
          <a:p>
            <a:pPr marL="342900" marR="0" lvl="0" indent="-342900">
              <a:lnSpc>
                <a:spcPct val="200000"/>
              </a:lnSpc>
              <a:spcBef>
                <a:spcPts val="0"/>
              </a:spcBef>
              <a:spcAft>
                <a:spcPts val="0"/>
              </a:spcAft>
              <a:buFont typeface="Symbol" panose="05050102010706020507" pitchFamily="18" charset="2"/>
              <a:buChar char=""/>
            </a:pPr>
            <a:r>
              <a:rPr lang="en-US" sz="2400" dirty="0">
                <a:effectLst/>
                <a:latin typeface="Calibri" panose="020F0502020204030204" pitchFamily="34" charset="0"/>
                <a:ea typeface="Calibri" panose="020F0502020204030204" pitchFamily="34" charset="0"/>
                <a:cs typeface="Times New Roman" panose="02020603050405020304" pitchFamily="18" charset="0"/>
              </a:rPr>
              <a:t>Makes a prediction</a:t>
            </a:r>
          </a:p>
          <a:p>
            <a:pPr marL="342900" marR="0" lvl="0" indent="-342900">
              <a:lnSpc>
                <a:spcPct val="200000"/>
              </a:lnSpc>
              <a:spcBef>
                <a:spcPts val="0"/>
              </a:spcBef>
              <a:spcAft>
                <a:spcPts val="0"/>
              </a:spcAft>
              <a:buFont typeface="Symbol" panose="05050102010706020507" pitchFamily="18" charset="2"/>
              <a:buChar char=""/>
            </a:pPr>
            <a:r>
              <a:rPr lang="en-US" sz="2400" dirty="0">
                <a:effectLst/>
                <a:latin typeface="Calibri" panose="020F0502020204030204" pitchFamily="34" charset="0"/>
                <a:ea typeface="Calibri" panose="020F0502020204030204" pitchFamily="34" charset="0"/>
                <a:cs typeface="Times New Roman" panose="02020603050405020304" pitchFamily="18" charset="0"/>
              </a:rPr>
              <a:t>Is testable</a:t>
            </a:r>
          </a:p>
          <a:p>
            <a:pPr marL="342900" marR="0" lvl="0" indent="-342900">
              <a:lnSpc>
                <a:spcPct val="200000"/>
              </a:lnSpc>
              <a:spcBef>
                <a:spcPts val="0"/>
              </a:spcBef>
              <a:spcAft>
                <a:spcPts val="0"/>
              </a:spcAft>
              <a:buFont typeface="Symbol" panose="05050102010706020507" pitchFamily="18" charset="2"/>
              <a:buChar char=""/>
            </a:pPr>
            <a:r>
              <a:rPr lang="en-US" sz="2400" dirty="0">
                <a:effectLst/>
                <a:latin typeface="Calibri" panose="020F0502020204030204" pitchFamily="34" charset="0"/>
                <a:ea typeface="Calibri" panose="020F0502020204030204" pitchFamily="34" charset="0"/>
                <a:cs typeface="Times New Roman" panose="02020603050405020304" pitchFamily="18" charset="0"/>
              </a:rPr>
              <a:t>Gives an </a:t>
            </a:r>
            <a:r>
              <a:rPr lang="en-US" sz="2400" dirty="0" smtClean="0">
                <a:effectLst/>
                <a:latin typeface="Calibri" panose="020F0502020204030204" pitchFamily="34" charset="0"/>
                <a:ea typeface="Calibri" panose="020F0502020204030204" pitchFamily="34" charset="0"/>
                <a:cs typeface="Times New Roman" panose="02020603050405020304" pitchFamily="18" charset="0"/>
              </a:rPr>
              <a:t>explanation based on facts , not opinions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nSpc>
                <a:spcPct val="200000"/>
              </a:lnSpc>
              <a:spcBef>
                <a:spcPts val="0"/>
              </a:spcBef>
              <a:spcAft>
                <a:spcPts val="0"/>
              </a:spcAft>
              <a:buFont typeface="Symbol" panose="05050102010706020507" pitchFamily="18" charset="2"/>
              <a:buChar char=""/>
            </a:pPr>
            <a:r>
              <a:rPr lang="en-US" sz="2400" dirty="0">
                <a:effectLst/>
                <a:latin typeface="Calibri" panose="020F0502020204030204" pitchFamily="34" charset="0"/>
                <a:ea typeface="Calibri" panose="020F0502020204030204" pitchFamily="34" charset="0"/>
                <a:cs typeface="Times New Roman" panose="02020603050405020304" pitchFamily="18" charset="0"/>
              </a:rPr>
              <a:t>Fits with the existing </a:t>
            </a:r>
            <a:r>
              <a:rPr lang="en-US" sz="2400" dirty="0" smtClean="0">
                <a:effectLst/>
                <a:latin typeface="Calibri" panose="020F0502020204030204" pitchFamily="34" charset="0"/>
                <a:ea typeface="Calibri" panose="020F0502020204030204" pitchFamily="34" charset="0"/>
                <a:cs typeface="Times New Roman" panose="02020603050405020304" pitchFamily="18" charset="0"/>
              </a:rPr>
              <a:t>observations</a:t>
            </a:r>
          </a:p>
          <a:p>
            <a:pPr marL="342900" marR="0" lvl="0" indent="-342900">
              <a:lnSpc>
                <a:spcPct val="200000"/>
              </a:lnSpc>
              <a:spcBef>
                <a:spcPts val="0"/>
              </a:spcBef>
              <a:spcAft>
                <a:spcPts val="0"/>
              </a:spcAft>
              <a:buFont typeface="Symbol" panose="05050102010706020507" pitchFamily="18" charset="2"/>
              <a:buChar char=""/>
            </a:pPr>
            <a:r>
              <a:rPr lang="en-US" sz="2400" dirty="0" smtClean="0">
                <a:latin typeface="Calibri" panose="020F0502020204030204" pitchFamily="34" charset="0"/>
                <a:ea typeface="Calibri" panose="020F0502020204030204" pitchFamily="34" charset="0"/>
                <a:cs typeface="Times New Roman" panose="02020603050405020304" pitchFamily="18" charset="0"/>
              </a:rPr>
              <a:t>Shows the relationship between independent and dependent variables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pic>
        <p:nvPicPr>
          <p:cNvPr id="4" name="Picture 3"/>
          <p:cNvPicPr>
            <a:picLocks noChangeAspect="1"/>
          </p:cNvPicPr>
          <p:nvPr/>
        </p:nvPicPr>
        <p:blipFill rotWithShape="1">
          <a:blip r:embed="rId2"/>
          <a:srcRect l="49787" t="67329" r="27825" b="9332"/>
          <a:stretch/>
        </p:blipFill>
        <p:spPr>
          <a:xfrm>
            <a:off x="6785263" y="1953924"/>
            <a:ext cx="5060373" cy="2965923"/>
          </a:xfrm>
          <a:prstGeom prst="rect">
            <a:avLst/>
          </a:prstGeom>
        </p:spPr>
      </p:pic>
    </p:spTree>
    <p:extLst>
      <p:ext uri="{BB962C8B-B14F-4D97-AF65-F5344CB8AC3E}">
        <p14:creationId xmlns:p14="http://schemas.microsoft.com/office/powerpoint/2010/main" val="22509060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3"/>
          <p:cNvPicPr>
            <a:picLocks noChangeAspect="1"/>
          </p:cNvPicPr>
          <p:nvPr/>
        </p:nvPicPr>
        <p:blipFill>
          <a:blip r:embed="rId2"/>
          <a:stretch>
            <a:fillRect/>
          </a:stretch>
        </p:blipFill>
        <p:spPr>
          <a:xfrm>
            <a:off x="1108364" y="1790700"/>
            <a:ext cx="9975272" cy="3363191"/>
          </a:xfrm>
          <a:prstGeom prst="rect">
            <a:avLst/>
          </a:prstGeom>
        </p:spPr>
      </p:pic>
      <p:sp>
        <p:nvSpPr>
          <p:cNvPr id="5" name="TextBox 4"/>
          <p:cNvSpPr txBox="1"/>
          <p:nvPr/>
        </p:nvSpPr>
        <p:spPr>
          <a:xfrm flipH="1">
            <a:off x="263237" y="4230561"/>
            <a:ext cx="1602972" cy="923330"/>
          </a:xfrm>
          <a:prstGeom prst="rect">
            <a:avLst/>
          </a:prstGeom>
          <a:noFill/>
        </p:spPr>
        <p:txBody>
          <a:bodyPr wrap="square" rtlCol="0">
            <a:spAutoFit/>
          </a:bodyPr>
          <a:lstStyle/>
          <a:p>
            <a:r>
              <a:rPr lang="en-US" dirty="0" smtClean="0"/>
              <a:t>Ball 1 = 5kg</a:t>
            </a:r>
          </a:p>
          <a:p>
            <a:r>
              <a:rPr lang="en-US" dirty="0" smtClean="0"/>
              <a:t>Ball 2 = 2kg</a:t>
            </a:r>
          </a:p>
          <a:p>
            <a:r>
              <a:rPr lang="en-US" dirty="0" smtClean="0"/>
              <a:t>Ball 3 = 0.5 kg</a:t>
            </a:r>
            <a:endParaRPr lang="en-US" dirty="0"/>
          </a:p>
        </p:txBody>
      </p:sp>
      <p:sp>
        <p:nvSpPr>
          <p:cNvPr id="6" name="TextBox 5"/>
          <p:cNvSpPr txBox="1"/>
          <p:nvPr/>
        </p:nvSpPr>
        <p:spPr>
          <a:xfrm>
            <a:off x="1866210" y="4946165"/>
            <a:ext cx="10062554" cy="1754326"/>
          </a:xfrm>
          <a:prstGeom prst="rect">
            <a:avLst/>
          </a:prstGeom>
          <a:noFill/>
        </p:spPr>
        <p:txBody>
          <a:bodyPr wrap="square" rtlCol="0">
            <a:spAutoFit/>
          </a:bodyPr>
          <a:lstStyle/>
          <a:p>
            <a:r>
              <a:rPr lang="en-US" dirty="0" smtClean="0"/>
              <a:t>Will the </a:t>
            </a:r>
            <a:r>
              <a:rPr lang="en-US" b="1" dirty="0" smtClean="0"/>
              <a:t>mass of the ball(IV) </a:t>
            </a:r>
            <a:r>
              <a:rPr lang="en-US" dirty="0" smtClean="0"/>
              <a:t>impact the </a:t>
            </a:r>
            <a:r>
              <a:rPr lang="en-US" b="1" dirty="0" smtClean="0"/>
              <a:t>distance it covers(DV)</a:t>
            </a:r>
          </a:p>
          <a:p>
            <a:endParaRPr lang="en-US" b="1" dirty="0"/>
          </a:p>
          <a:p>
            <a:r>
              <a:rPr lang="en-US" b="1" dirty="0" smtClean="0"/>
              <a:t>Controlled variables: technique of throwing the ball, location</a:t>
            </a:r>
          </a:p>
          <a:p>
            <a:r>
              <a:rPr lang="en-US" b="1" dirty="0" smtClean="0"/>
              <a:t>Hypothesis: </a:t>
            </a:r>
            <a:r>
              <a:rPr lang="en-US" b="1" dirty="0" smtClean="0">
                <a:solidFill>
                  <a:srgbClr val="FF0000"/>
                </a:solidFill>
              </a:rPr>
              <a:t>If </a:t>
            </a:r>
            <a:r>
              <a:rPr lang="en-US" b="1" dirty="0" smtClean="0"/>
              <a:t>the mass of the ball is more, </a:t>
            </a:r>
            <a:r>
              <a:rPr lang="en-US" b="1" dirty="0" smtClean="0">
                <a:solidFill>
                  <a:srgbClr val="FF0000"/>
                </a:solidFill>
              </a:rPr>
              <a:t>then</a:t>
            </a:r>
            <a:r>
              <a:rPr lang="en-US" b="1" dirty="0" smtClean="0"/>
              <a:t> I predict that it will travel a shorter distance, </a:t>
            </a:r>
            <a:r>
              <a:rPr lang="en-US" b="1" dirty="0" smtClean="0">
                <a:solidFill>
                  <a:srgbClr val="FF0000"/>
                </a:solidFill>
              </a:rPr>
              <a:t>because</a:t>
            </a:r>
            <a:r>
              <a:rPr lang="en-US" b="1" dirty="0" smtClean="0"/>
              <a:t> I have observed that gravitational force on heavier objects is more</a:t>
            </a:r>
          </a:p>
          <a:p>
            <a:r>
              <a:rPr lang="en-US" b="1" dirty="0" smtClean="0"/>
              <a:t>If (IV) then (DV) because scientific reasoning</a:t>
            </a:r>
            <a:endParaRPr lang="en-US" b="1" dirty="0"/>
          </a:p>
        </p:txBody>
      </p:sp>
    </p:spTree>
    <p:extLst>
      <p:ext uri="{BB962C8B-B14F-4D97-AF65-F5344CB8AC3E}">
        <p14:creationId xmlns:p14="http://schemas.microsoft.com/office/powerpoint/2010/main" val="34990977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4B29D-C878-4628-9863-7061174E02F5}"/>
              </a:ext>
            </a:extLst>
          </p:cNvPr>
          <p:cNvSpPr>
            <a:spLocks noGrp="1"/>
          </p:cNvSpPr>
          <p:nvPr>
            <p:ph type="title"/>
          </p:nvPr>
        </p:nvSpPr>
        <p:spPr/>
        <p:txBody>
          <a:bodyPr>
            <a:normAutofit/>
          </a:bodyPr>
          <a:lstStyle/>
          <a:p>
            <a:r>
              <a:rPr lang="en-US" sz="3600" b="1" u="sng" dirty="0"/>
              <a:t>What’s not a good hypothesis</a:t>
            </a:r>
          </a:p>
        </p:txBody>
      </p:sp>
      <p:sp>
        <p:nvSpPr>
          <p:cNvPr id="3" name="Content Placeholder 2">
            <a:extLst>
              <a:ext uri="{FF2B5EF4-FFF2-40B4-BE49-F238E27FC236}">
                <a16:creationId xmlns:a16="http://schemas.microsoft.com/office/drawing/2014/main" id="{F1EE23F9-5A5F-4EF2-861C-C901220B7B4C}"/>
              </a:ext>
            </a:extLst>
          </p:cNvPr>
          <p:cNvSpPr>
            <a:spLocks noGrp="1"/>
          </p:cNvSpPr>
          <p:nvPr>
            <p:ph idx="1"/>
          </p:nvPr>
        </p:nvSpPr>
        <p:spPr>
          <a:xfrm>
            <a:off x="838200" y="1237958"/>
            <a:ext cx="10515600" cy="5022166"/>
          </a:xfrm>
        </p:spPr>
        <p:txBody>
          <a:bodyPr>
            <a:normAutofit fontScale="92500"/>
          </a:bodyPr>
          <a:lstStyle/>
          <a:p>
            <a:r>
              <a:rPr lang="en-US" dirty="0"/>
              <a:t>I predict that one of the pumpkins will reach the furthest (not testable, not measurable, not specific)</a:t>
            </a:r>
          </a:p>
          <a:p>
            <a:pPr marL="0" indent="0">
              <a:buNone/>
            </a:pPr>
            <a:endParaRPr lang="en-US" dirty="0"/>
          </a:p>
          <a:p>
            <a:pPr marL="0" indent="0">
              <a:buNone/>
            </a:pPr>
            <a:r>
              <a:rPr lang="en-US" sz="3600" b="1" u="sng" dirty="0"/>
              <a:t>What’s better:</a:t>
            </a:r>
          </a:p>
          <a:p>
            <a:r>
              <a:rPr lang="en-US" dirty="0"/>
              <a:t>I predict that if the </a:t>
            </a:r>
            <a:r>
              <a:rPr lang="en-US" dirty="0">
                <a:solidFill>
                  <a:srgbClr val="FF0000"/>
                </a:solidFill>
              </a:rPr>
              <a:t>5kg pumpkin </a:t>
            </a:r>
            <a:r>
              <a:rPr lang="en-US" dirty="0"/>
              <a:t>is thrown then it will travel the </a:t>
            </a:r>
            <a:r>
              <a:rPr lang="en-US" dirty="0">
                <a:solidFill>
                  <a:srgbClr val="FF0000"/>
                </a:solidFill>
              </a:rPr>
              <a:t>furthest distance </a:t>
            </a:r>
            <a:r>
              <a:rPr lang="en-US" dirty="0"/>
              <a:t>because we have observed that lighter objects thrown will travel the furthest/ have least resistance to motion.</a:t>
            </a:r>
          </a:p>
          <a:p>
            <a:endParaRPr lang="en-US" dirty="0"/>
          </a:p>
          <a:p>
            <a:pPr marL="0" indent="0">
              <a:buNone/>
            </a:pPr>
            <a:r>
              <a:rPr lang="en-US" b="1" u="sng" dirty="0"/>
              <a:t>General Structure to form a good hypothesis: </a:t>
            </a:r>
          </a:p>
          <a:p>
            <a:r>
              <a:rPr lang="en-US" dirty="0"/>
              <a:t>If…(cause created by Independent Variable)..then…(effect on Dependent Variable).. because …you have observed/ heard/ seen/….an explanation</a:t>
            </a:r>
          </a:p>
        </p:txBody>
      </p:sp>
    </p:spTree>
    <p:extLst>
      <p:ext uri="{BB962C8B-B14F-4D97-AF65-F5344CB8AC3E}">
        <p14:creationId xmlns:p14="http://schemas.microsoft.com/office/powerpoint/2010/main" val="9526103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876781-3E96-4CF0-97C1-3EF8A5EA46BD}"/>
              </a:ext>
            </a:extLst>
          </p:cNvPr>
          <p:cNvSpPr>
            <a:spLocks noGrp="1"/>
          </p:cNvSpPr>
          <p:nvPr>
            <p:ph idx="1"/>
          </p:nvPr>
        </p:nvSpPr>
        <p:spPr>
          <a:xfrm>
            <a:off x="838200" y="869429"/>
            <a:ext cx="10839138" cy="5307533"/>
          </a:xfrm>
        </p:spPr>
        <p:txBody>
          <a:bodyPr>
            <a:normAutofit fontScale="92500" lnSpcReduction="10000"/>
          </a:bodyPr>
          <a:lstStyle/>
          <a:p>
            <a:pPr marL="0" indent="0">
              <a:buNone/>
            </a:pPr>
            <a:r>
              <a:rPr lang="en-US" b="1" u="sng" dirty="0">
                <a:solidFill>
                  <a:srgbClr val="002060"/>
                </a:solidFill>
              </a:rPr>
              <a:t>Research Question </a:t>
            </a:r>
            <a:r>
              <a:rPr lang="en-US" dirty="0">
                <a:solidFill>
                  <a:srgbClr val="002060"/>
                </a:solidFill>
              </a:rPr>
              <a:t>-  What do you want to find out through the experiment</a:t>
            </a:r>
          </a:p>
          <a:p>
            <a:pPr marL="0" indent="0">
              <a:buNone/>
            </a:pPr>
            <a:endParaRPr lang="en-US" dirty="0">
              <a:solidFill>
                <a:srgbClr val="002060"/>
              </a:solidFill>
            </a:endParaRPr>
          </a:p>
          <a:p>
            <a:pPr marL="0" indent="0">
              <a:buNone/>
            </a:pPr>
            <a:r>
              <a:rPr lang="en-US" b="1" u="sng" dirty="0">
                <a:solidFill>
                  <a:srgbClr val="002060"/>
                </a:solidFill>
              </a:rPr>
              <a:t>Hypothesis: </a:t>
            </a:r>
            <a:r>
              <a:rPr lang="en-US" dirty="0">
                <a:solidFill>
                  <a:srgbClr val="002060"/>
                </a:solidFill>
              </a:rPr>
              <a:t>used to check the </a:t>
            </a:r>
            <a:r>
              <a:rPr lang="en-US" dirty="0" err="1">
                <a:solidFill>
                  <a:srgbClr val="C00000"/>
                </a:solidFill>
              </a:rPr>
              <a:t>‘cause</a:t>
            </a:r>
            <a:r>
              <a:rPr lang="en-US" dirty="0">
                <a:solidFill>
                  <a:srgbClr val="C00000"/>
                </a:solidFill>
              </a:rPr>
              <a:t> and effect’</a:t>
            </a:r>
            <a:r>
              <a:rPr lang="en-US" dirty="0">
                <a:solidFill>
                  <a:srgbClr val="002060"/>
                </a:solidFill>
              </a:rPr>
              <a:t> relationship between the variables</a:t>
            </a:r>
          </a:p>
          <a:p>
            <a:pPr marL="0" indent="0">
              <a:buNone/>
            </a:pPr>
            <a:r>
              <a:rPr lang="en-US" dirty="0">
                <a:solidFill>
                  <a:srgbClr val="002060"/>
                </a:solidFill>
              </a:rPr>
              <a:t>- It is an </a:t>
            </a:r>
            <a:r>
              <a:rPr lang="en-US" dirty="0">
                <a:solidFill>
                  <a:srgbClr val="C00000"/>
                </a:solidFill>
              </a:rPr>
              <a:t>educated guess or prediction </a:t>
            </a:r>
            <a:r>
              <a:rPr lang="en-US" dirty="0">
                <a:solidFill>
                  <a:srgbClr val="002060"/>
                </a:solidFill>
              </a:rPr>
              <a:t>done before the experiment</a:t>
            </a:r>
          </a:p>
          <a:p>
            <a:pPr>
              <a:buFontTx/>
              <a:buChar char="-"/>
            </a:pPr>
            <a:r>
              <a:rPr lang="en-US" dirty="0">
                <a:solidFill>
                  <a:srgbClr val="002060"/>
                </a:solidFill>
              </a:rPr>
              <a:t>It has to be </a:t>
            </a:r>
            <a:r>
              <a:rPr lang="en-US" dirty="0">
                <a:solidFill>
                  <a:srgbClr val="C00000"/>
                </a:solidFill>
              </a:rPr>
              <a:t>testable</a:t>
            </a:r>
          </a:p>
          <a:p>
            <a:pPr>
              <a:buFontTx/>
              <a:buChar char="-"/>
            </a:pPr>
            <a:r>
              <a:rPr lang="en-US" dirty="0">
                <a:solidFill>
                  <a:srgbClr val="002060"/>
                </a:solidFill>
              </a:rPr>
              <a:t>It should be specific with the </a:t>
            </a:r>
            <a:r>
              <a:rPr lang="en-US" dirty="0">
                <a:solidFill>
                  <a:srgbClr val="C00000"/>
                </a:solidFill>
              </a:rPr>
              <a:t>independent and dependent variables </a:t>
            </a:r>
            <a:r>
              <a:rPr lang="en-US" dirty="0">
                <a:solidFill>
                  <a:srgbClr val="002060"/>
                </a:solidFill>
              </a:rPr>
              <a:t>mentioned</a:t>
            </a:r>
          </a:p>
          <a:p>
            <a:pPr>
              <a:buFontTx/>
              <a:buChar char="-"/>
            </a:pPr>
            <a:r>
              <a:rPr lang="en-US" dirty="0">
                <a:solidFill>
                  <a:srgbClr val="002060"/>
                </a:solidFill>
              </a:rPr>
              <a:t>It has to be </a:t>
            </a:r>
            <a:r>
              <a:rPr lang="en-US" dirty="0">
                <a:solidFill>
                  <a:srgbClr val="C00000"/>
                </a:solidFill>
              </a:rPr>
              <a:t>simple and clear</a:t>
            </a:r>
          </a:p>
          <a:p>
            <a:pPr>
              <a:buFontTx/>
              <a:buChar char="-"/>
            </a:pPr>
            <a:r>
              <a:rPr lang="en-US" dirty="0">
                <a:solidFill>
                  <a:srgbClr val="002060"/>
                </a:solidFill>
              </a:rPr>
              <a:t>Can follow the structure:</a:t>
            </a:r>
          </a:p>
          <a:p>
            <a:pPr marL="0" indent="0">
              <a:buNone/>
            </a:pPr>
            <a:r>
              <a:rPr lang="en-US" dirty="0">
                <a:solidFill>
                  <a:srgbClr val="002060"/>
                </a:solidFill>
              </a:rPr>
              <a:t>If ….. (Independent Variable)…. Then…(dependent Variable)….</a:t>
            </a:r>
          </a:p>
          <a:p>
            <a:pPr marL="0" indent="0">
              <a:buNone/>
            </a:pPr>
            <a:r>
              <a:rPr lang="en-US" dirty="0">
                <a:solidFill>
                  <a:srgbClr val="002060"/>
                </a:solidFill>
              </a:rPr>
              <a:t>because (</a:t>
            </a:r>
            <a:r>
              <a:rPr lang="en-US" sz="2400" b="0" i="0" dirty="0">
                <a:solidFill>
                  <a:srgbClr val="002060"/>
                </a:solidFill>
                <a:effectLst/>
              </a:rPr>
              <a:t>states why you think the dependent variable will happen)</a:t>
            </a:r>
            <a:endParaRPr lang="en-US" dirty="0">
              <a:solidFill>
                <a:srgbClr val="002060"/>
              </a:solidFill>
            </a:endParaRPr>
          </a:p>
          <a:p>
            <a:pPr marL="0" indent="0">
              <a:buNone/>
            </a:pPr>
            <a:endParaRPr lang="en-US" dirty="0"/>
          </a:p>
        </p:txBody>
      </p:sp>
      <p:sp>
        <p:nvSpPr>
          <p:cNvPr id="4" name="TextBox 3">
            <a:extLst>
              <a:ext uri="{FF2B5EF4-FFF2-40B4-BE49-F238E27FC236}">
                <a16:creationId xmlns:a16="http://schemas.microsoft.com/office/drawing/2014/main" id="{D1D04B8A-49E8-4383-B059-87888E19FDA2}"/>
              </a:ext>
            </a:extLst>
          </p:cNvPr>
          <p:cNvSpPr txBox="1"/>
          <p:nvPr/>
        </p:nvSpPr>
        <p:spPr>
          <a:xfrm>
            <a:off x="4347147" y="157818"/>
            <a:ext cx="2218545"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0" u="sng" strike="noStrike" kern="1200" cap="none" spc="0" normalizeH="0" baseline="0" noProof="0" dirty="0">
                <a:ln>
                  <a:noFill/>
                </a:ln>
                <a:solidFill>
                  <a:srgbClr val="002060"/>
                </a:solidFill>
                <a:effectLst/>
                <a:uLnTx/>
                <a:uFillTx/>
                <a:latin typeface="Calibri" panose="020F0502020204030204"/>
                <a:ea typeface="+mn-ea"/>
                <a:cs typeface="+mn-cs"/>
              </a:rPr>
              <a:t>To sum up…</a:t>
            </a:r>
          </a:p>
        </p:txBody>
      </p:sp>
    </p:spTree>
    <p:extLst>
      <p:ext uri="{BB962C8B-B14F-4D97-AF65-F5344CB8AC3E}">
        <p14:creationId xmlns:p14="http://schemas.microsoft.com/office/powerpoint/2010/main" val="6532265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More examples of </a:t>
            </a:r>
            <a:r>
              <a:rPr lang="en-US" smtClean="0"/>
              <a:t>a hypothesis:</a:t>
            </a:r>
            <a:endParaRPr lang="en-US" dirty="0"/>
          </a:p>
        </p:txBody>
      </p:sp>
      <p:pic>
        <p:nvPicPr>
          <p:cNvPr id="4" name="Picture 3"/>
          <p:cNvPicPr>
            <a:picLocks noChangeAspect="1"/>
          </p:cNvPicPr>
          <p:nvPr/>
        </p:nvPicPr>
        <p:blipFill rotWithShape="1">
          <a:blip r:embed="rId2"/>
          <a:srcRect l="28597" t="32102" r="6449" b="11080"/>
          <a:stretch/>
        </p:blipFill>
        <p:spPr>
          <a:xfrm>
            <a:off x="1136073" y="1690688"/>
            <a:ext cx="10217727" cy="5025113"/>
          </a:xfrm>
          <a:prstGeom prst="rect">
            <a:avLst/>
          </a:prstGeom>
        </p:spPr>
      </p:pic>
    </p:spTree>
    <p:extLst>
      <p:ext uri="{BB962C8B-B14F-4D97-AF65-F5344CB8AC3E}">
        <p14:creationId xmlns:p14="http://schemas.microsoft.com/office/powerpoint/2010/main" val="36469244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09F0F0-9BC1-463F-8ECF-FDD119713A63}"/>
              </a:ext>
            </a:extLst>
          </p:cNvPr>
          <p:cNvSpPr>
            <a:spLocks noGrp="1"/>
          </p:cNvSpPr>
          <p:nvPr>
            <p:ph idx="1"/>
          </p:nvPr>
        </p:nvSpPr>
        <p:spPr>
          <a:xfrm>
            <a:off x="838200" y="1167618"/>
            <a:ext cx="10515600" cy="5009345"/>
          </a:xfrm>
        </p:spPr>
        <p:txBody>
          <a:bodyPr>
            <a:normAutofit/>
          </a:bodyPr>
          <a:lstStyle/>
          <a:p>
            <a:pPr marL="0" marR="0" indent="0">
              <a:lnSpc>
                <a:spcPct val="107000"/>
              </a:lnSpc>
              <a:spcBef>
                <a:spcPts val="0"/>
              </a:spcBef>
              <a:spcAft>
                <a:spcPts val="800"/>
              </a:spcAft>
              <a:buNone/>
              <a:tabLst>
                <a:tab pos="4886325" algn="l"/>
              </a:tabLst>
            </a:pPr>
            <a:r>
              <a:rPr lang="en-US" dirty="0">
                <a:latin typeface="Calibri" panose="020F0502020204030204" pitchFamily="34" charset="0"/>
                <a:ea typeface="Calibri" panose="020F0502020204030204" pitchFamily="34" charset="0"/>
                <a:cs typeface="Calibri" panose="020F0502020204030204" pitchFamily="34" charset="0"/>
              </a:rPr>
              <a:t>L</a:t>
            </a:r>
            <a:r>
              <a:rPr lang="en-US" dirty="0">
                <a:effectLst/>
                <a:latin typeface="Calibri" panose="020F0502020204030204" pitchFamily="34" charset="0"/>
                <a:ea typeface="Calibri" panose="020F0502020204030204" pitchFamily="34" charset="0"/>
                <a:cs typeface="Calibri" panose="020F0502020204030204" pitchFamily="34" charset="0"/>
              </a:rPr>
              <a:t>earning objectives: Students will be able to-</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Symbol" panose="05050102010706020507" pitchFamily="18" charset="2"/>
              <a:buChar char=""/>
              <a:tabLst>
                <a:tab pos="4886325" algn="l"/>
              </a:tabLst>
            </a:pPr>
            <a:r>
              <a:rPr lang="en-IN" dirty="0">
                <a:effectLst/>
                <a:latin typeface="Calibri" panose="020F0502020204030204" pitchFamily="34" charset="0"/>
                <a:ea typeface="Calibri" panose="020F0502020204030204" pitchFamily="34" charset="0"/>
                <a:cs typeface="Calibri" panose="020F0502020204030204" pitchFamily="34" charset="0"/>
              </a:rPr>
              <a:t>Understand elements of an observation table</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Symbol" panose="05050102010706020507" pitchFamily="18" charset="2"/>
              <a:buChar char=""/>
              <a:tabLst>
                <a:tab pos="4886325" algn="l"/>
              </a:tabLst>
            </a:pPr>
            <a:r>
              <a:rPr lang="en-IN" dirty="0">
                <a:latin typeface="Calibri" panose="020F0502020204030204" pitchFamily="34" charset="0"/>
                <a:ea typeface="Calibri" panose="020F0502020204030204" pitchFamily="34" charset="0"/>
                <a:cs typeface="Calibri" panose="020F0502020204030204" pitchFamily="34" charset="0"/>
              </a:rPr>
              <a:t>R</a:t>
            </a:r>
            <a:r>
              <a:rPr lang="en-IN" dirty="0">
                <a:effectLst/>
                <a:latin typeface="Calibri" panose="020F0502020204030204" pitchFamily="34" charset="0"/>
                <a:ea typeface="Calibri" panose="020F0502020204030204" pitchFamily="34" charset="0"/>
                <a:cs typeface="Calibri" panose="020F0502020204030204" pitchFamily="34" charset="0"/>
              </a:rPr>
              <a:t>eflect on improvements that can </a:t>
            </a:r>
            <a:r>
              <a:rPr lang="en-IN" dirty="0">
                <a:effectLst/>
                <a:latin typeface="Calibri" panose="020F0502020204030204" pitchFamily="34" charset="0"/>
                <a:ea typeface="Calibri" panose="020F0502020204030204" pitchFamily="34" charset="0"/>
                <a:cs typeface="Times New Roman" panose="02020603050405020304" pitchFamily="18" charset="0"/>
              </a:rPr>
              <a:t>be made to</a:t>
            </a:r>
            <a:r>
              <a:rPr lang="en-IN" dirty="0">
                <a:effectLst/>
                <a:latin typeface="Calibri" panose="020F0502020204030204" pitchFamily="34" charset="0"/>
                <a:ea typeface="Calibri" panose="020F0502020204030204" pitchFamily="34" charset="0"/>
                <a:cs typeface="Calibri" panose="020F0502020204030204" pitchFamily="34" charset="0"/>
              </a:rPr>
              <a:t> the method </a:t>
            </a:r>
          </a:p>
          <a:p>
            <a:pPr marL="342900" marR="0" lvl="0" indent="-342900">
              <a:spcBef>
                <a:spcPts val="0"/>
              </a:spcBef>
              <a:spcAft>
                <a:spcPts val="0"/>
              </a:spcAft>
              <a:buFont typeface="Symbol" panose="05050102010706020507" pitchFamily="18" charset="2"/>
              <a:buChar char=""/>
              <a:tabLst>
                <a:tab pos="4886325" algn="l"/>
              </a:tabLst>
            </a:pPr>
            <a:r>
              <a:rPr lang="en-IN" dirty="0">
                <a:latin typeface="Calibri" panose="020F0502020204030204" pitchFamily="34" charset="0"/>
                <a:ea typeface="Calibri" panose="020F0502020204030204" pitchFamily="34" charset="0"/>
                <a:cs typeface="Calibri" panose="020F0502020204030204" pitchFamily="34" charset="0"/>
              </a:rPr>
              <a:t>Safety and procedural precautions</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7141538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E24804-7B87-40C2-BDB6-74DADE1E5021}"/>
              </a:ext>
            </a:extLst>
          </p:cNvPr>
          <p:cNvSpPr>
            <a:spLocks noGrp="1"/>
          </p:cNvSpPr>
          <p:nvPr>
            <p:ph type="title"/>
          </p:nvPr>
        </p:nvSpPr>
        <p:spPr>
          <a:xfrm>
            <a:off x="838200" y="365125"/>
            <a:ext cx="10515600" cy="800219"/>
          </a:xfrm>
        </p:spPr>
        <p:txBody>
          <a:bodyPr>
            <a:normAutofit fontScale="90000"/>
          </a:bodyPr>
          <a:lstStyle/>
          <a:p>
            <a:r>
              <a:rPr kumimoji="0" lang="en-US" altLang="en-US" sz="4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Designing observation table </a:t>
            </a:r>
            <a:r>
              <a:rPr kumimoji="0" lang="en-US" altLang="en-US" sz="4400" b="0" i="0" u="none" strike="noStrike" cap="none" normalizeH="0" baseline="0" dirty="0" smtClean="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(Testing the impact of mass of a ball(IV) on distance covered(DV))</a:t>
            </a:r>
            <a:r>
              <a:rPr kumimoji="0" lang="en-US" altLang="en-US" sz="44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Calibri" panose="020F0502020204030204" pitchFamily="34" charset="0"/>
              </a:rPr>
              <a:t> :</a:t>
            </a:r>
            <a:endParaRPr lang="en-US" dirty="0"/>
          </a:p>
        </p:txBody>
      </p:sp>
      <p:graphicFrame>
        <p:nvGraphicFramePr>
          <p:cNvPr id="4" name="Content Placeholder 3">
            <a:extLst>
              <a:ext uri="{FF2B5EF4-FFF2-40B4-BE49-F238E27FC236}">
                <a16:creationId xmlns:a16="http://schemas.microsoft.com/office/drawing/2014/main" id="{424A767A-251F-4166-9FDA-E5ED7C863CC4}"/>
              </a:ext>
            </a:extLst>
          </p:cNvPr>
          <p:cNvGraphicFramePr>
            <a:graphicFrameLocks noGrp="1"/>
          </p:cNvGraphicFramePr>
          <p:nvPr>
            <p:ph idx="1"/>
            <p:extLst>
              <p:ext uri="{D42A27DB-BD31-4B8C-83A1-F6EECF244321}">
                <p14:modId xmlns:p14="http://schemas.microsoft.com/office/powerpoint/2010/main" val="2723392716"/>
              </p:ext>
            </p:extLst>
          </p:nvPr>
        </p:nvGraphicFramePr>
        <p:xfrm>
          <a:off x="3233419" y="2234773"/>
          <a:ext cx="7606645" cy="3214254"/>
        </p:xfrm>
        <a:graphic>
          <a:graphicData uri="http://schemas.openxmlformats.org/drawingml/2006/table">
            <a:tbl>
              <a:tblPr firstRow="1" firstCol="1" bandRow="1">
                <a:tableStyleId>{5C22544A-7EE6-4342-B048-85BDC9FD1C3A}</a:tableStyleId>
              </a:tblPr>
              <a:tblGrid>
                <a:gridCol w="1310446">
                  <a:extLst>
                    <a:ext uri="{9D8B030D-6E8A-4147-A177-3AD203B41FA5}">
                      <a16:colId xmlns:a16="http://schemas.microsoft.com/office/drawing/2014/main" val="4161757843"/>
                    </a:ext>
                  </a:extLst>
                </a:gridCol>
                <a:gridCol w="2461846">
                  <a:extLst>
                    <a:ext uri="{9D8B030D-6E8A-4147-A177-3AD203B41FA5}">
                      <a16:colId xmlns:a16="http://schemas.microsoft.com/office/drawing/2014/main" val="2318154322"/>
                    </a:ext>
                  </a:extLst>
                </a:gridCol>
                <a:gridCol w="2071056">
                  <a:extLst>
                    <a:ext uri="{9D8B030D-6E8A-4147-A177-3AD203B41FA5}">
                      <a16:colId xmlns:a16="http://schemas.microsoft.com/office/drawing/2014/main" val="1987958285"/>
                    </a:ext>
                  </a:extLst>
                </a:gridCol>
                <a:gridCol w="1763297">
                  <a:extLst>
                    <a:ext uri="{9D8B030D-6E8A-4147-A177-3AD203B41FA5}">
                      <a16:colId xmlns:a16="http://schemas.microsoft.com/office/drawing/2014/main" val="1121535131"/>
                    </a:ext>
                  </a:extLst>
                </a:gridCol>
              </a:tblGrid>
              <a:tr h="1085202">
                <a:tc>
                  <a:txBody>
                    <a:bodyPr/>
                    <a:lstStyle/>
                    <a:p>
                      <a:pPr marL="0" marR="0">
                        <a:spcBef>
                          <a:spcPts val="0"/>
                        </a:spcBef>
                        <a:spcAft>
                          <a:spcPts val="0"/>
                        </a:spcAft>
                      </a:pPr>
                      <a:r>
                        <a:rPr lang="en-US" sz="2000" dirty="0">
                          <a:effectLst/>
                        </a:rPr>
                        <a:t>Mass of pumpkin (kg)</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2000" dirty="0">
                          <a:effectLst/>
                        </a:rPr>
                        <a:t>Distance travelled (m)</a:t>
                      </a:r>
                      <a:endParaRPr lang="en-US" sz="1800" dirty="0">
                        <a:effectLst/>
                      </a:endParaRPr>
                    </a:p>
                    <a:p>
                      <a:pPr marL="0" marR="0">
                        <a:spcBef>
                          <a:spcPts val="0"/>
                        </a:spcBef>
                        <a:spcAft>
                          <a:spcPts val="0"/>
                        </a:spcAft>
                      </a:pPr>
                      <a:r>
                        <a:rPr lang="en-US" sz="2000" dirty="0">
                          <a:effectLst/>
                        </a:rPr>
                        <a:t>(Trial 1)</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2000" dirty="0">
                          <a:effectLst/>
                        </a:rPr>
                        <a:t>Distance travelled (m) (Trial 2)</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2000" dirty="0">
                          <a:effectLst/>
                        </a:rPr>
                        <a:t>Distance Travelled (m) Trial 3</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12995400"/>
                  </a:ext>
                </a:extLst>
              </a:tr>
              <a:tr h="709684">
                <a:tc>
                  <a:txBody>
                    <a:bodyPr/>
                    <a:lstStyle/>
                    <a:p>
                      <a:pPr marL="0" marR="0">
                        <a:spcBef>
                          <a:spcPts val="0"/>
                        </a:spcBef>
                        <a:spcAft>
                          <a:spcPts val="0"/>
                        </a:spcAft>
                      </a:pPr>
                      <a:r>
                        <a:rPr lang="en-US" sz="2000" dirty="0">
                          <a:effectLst/>
                        </a:rPr>
                        <a:t>5</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2000" dirty="0">
                          <a:effectLst/>
                        </a:rPr>
                        <a:t>2.6</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2000" dirty="0">
                          <a:effectLst/>
                        </a:rPr>
                        <a:t>2.4</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2000" dirty="0">
                          <a:effectLst/>
                        </a:rPr>
                        <a:t> 2.55</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765981131"/>
                  </a:ext>
                </a:extLst>
              </a:tr>
              <a:tr h="709684">
                <a:tc>
                  <a:txBody>
                    <a:bodyPr/>
                    <a:lstStyle/>
                    <a:p>
                      <a:pPr marL="0" marR="0">
                        <a:spcBef>
                          <a:spcPts val="0"/>
                        </a:spcBef>
                        <a:spcAft>
                          <a:spcPts val="0"/>
                        </a:spcAft>
                      </a:pPr>
                      <a:r>
                        <a:rPr lang="en-US" sz="2000" dirty="0">
                          <a:effectLst/>
                        </a:rPr>
                        <a:t>10</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2000" dirty="0">
                          <a:effectLst/>
                        </a:rPr>
                        <a:t>1.4 </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2000" dirty="0">
                          <a:effectLst/>
                        </a:rPr>
                        <a:t>1.1 </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2000" dirty="0">
                          <a:effectLst/>
                        </a:rPr>
                        <a:t> 1.2</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810098723"/>
                  </a:ext>
                </a:extLst>
              </a:tr>
              <a:tr h="709684">
                <a:tc>
                  <a:txBody>
                    <a:bodyPr/>
                    <a:lstStyle/>
                    <a:p>
                      <a:pPr marL="0" marR="0">
                        <a:spcBef>
                          <a:spcPts val="0"/>
                        </a:spcBef>
                        <a:spcAft>
                          <a:spcPts val="0"/>
                        </a:spcAft>
                      </a:pPr>
                      <a:r>
                        <a:rPr lang="en-US" sz="2000" dirty="0">
                          <a:effectLst/>
                        </a:rPr>
                        <a:t>15</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2000" dirty="0">
                          <a:effectLst/>
                        </a:rPr>
                        <a:t>0.5 </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2000" dirty="0">
                          <a:effectLst/>
                        </a:rPr>
                        <a:t>0.57 </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a:spcBef>
                          <a:spcPts val="0"/>
                        </a:spcBef>
                        <a:spcAft>
                          <a:spcPts val="0"/>
                        </a:spcAft>
                      </a:pPr>
                      <a:r>
                        <a:rPr lang="en-US" sz="2000" dirty="0">
                          <a:effectLst/>
                        </a:rPr>
                        <a:t> 0.34</a:t>
                      </a:r>
                      <a:endParaRPr lang="en-US"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313420250"/>
                  </a:ext>
                </a:extLst>
              </a:tr>
            </a:tbl>
          </a:graphicData>
        </a:graphic>
      </p:graphicFrame>
      <p:sp>
        <p:nvSpPr>
          <p:cNvPr id="5" name="Rectangle 1">
            <a:extLst>
              <a:ext uri="{FF2B5EF4-FFF2-40B4-BE49-F238E27FC236}">
                <a16:creationId xmlns:a16="http://schemas.microsoft.com/office/drawing/2014/main" id="{00BD25EF-AA31-4DF6-93FB-252817B0208C}"/>
              </a:ext>
            </a:extLst>
          </p:cNvPr>
          <p:cNvSpPr>
            <a:spLocks noChangeArrowheads="1"/>
          </p:cNvSpPr>
          <p:nvPr/>
        </p:nvSpPr>
        <p:spPr bwMode="auto">
          <a:xfrm>
            <a:off x="838200" y="1419166"/>
            <a:ext cx="1000186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ea typeface="Times New Roman" panose="02020603050405020304" pitchFamily="18" charset="0"/>
                <a:cs typeface="Calibri" panose="020F0502020204030204" pitchFamily="34" charset="0"/>
              </a:rPr>
              <a:t>Put an appropriate title for the table</a:t>
            </a:r>
            <a:endParaRPr kumimoji="0" lang="en-US" altLang="en-US" sz="2400" b="0" i="0" u="none" strike="noStrike" cap="none" normalizeH="0" baseline="0" dirty="0">
              <a:ln>
                <a:noFill/>
              </a:ln>
              <a:solidFill>
                <a:schemeClr val="tx1"/>
              </a:solidFill>
              <a:effectLst/>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ea typeface="Times New Roman" panose="02020603050405020304" pitchFamily="18" charset="0"/>
                <a:cs typeface="Calibri" panose="020F0502020204030204" pitchFamily="34" charset="0"/>
              </a:rPr>
              <a:t>Mention unit of measurement</a:t>
            </a:r>
            <a:endParaRPr kumimoji="0" lang="en-US" altLang="en-US" sz="2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B91FEC3D-12AF-419C-AF5E-1FE99CD242DF}"/>
              </a:ext>
            </a:extLst>
          </p:cNvPr>
          <p:cNvSpPr txBox="1"/>
          <p:nvPr/>
        </p:nvSpPr>
        <p:spPr>
          <a:xfrm>
            <a:off x="4853354" y="5598942"/>
            <a:ext cx="4743478" cy="369332"/>
          </a:xfrm>
          <a:prstGeom prst="rect">
            <a:avLst/>
          </a:prstGeom>
          <a:noFill/>
        </p:spPr>
        <p:txBody>
          <a:bodyPr wrap="none" rtlCol="0">
            <a:spAutoFit/>
          </a:bodyPr>
          <a:lstStyle/>
          <a:p>
            <a:r>
              <a:rPr lang="en-US" b="1" u="sng" dirty="0"/>
              <a:t>Impact of mass of pumpkin on distance covered</a:t>
            </a:r>
          </a:p>
        </p:txBody>
      </p:sp>
      <p:sp>
        <p:nvSpPr>
          <p:cNvPr id="7" name="Speech Bubble: Oval 6">
            <a:extLst>
              <a:ext uri="{FF2B5EF4-FFF2-40B4-BE49-F238E27FC236}">
                <a16:creationId xmlns:a16="http://schemas.microsoft.com/office/drawing/2014/main" id="{6799D643-E2C3-4A8A-BC6F-2BA2014D256A}"/>
              </a:ext>
            </a:extLst>
          </p:cNvPr>
          <p:cNvSpPr/>
          <p:nvPr/>
        </p:nvSpPr>
        <p:spPr>
          <a:xfrm>
            <a:off x="2926080" y="5870670"/>
            <a:ext cx="1716259" cy="727078"/>
          </a:xfrm>
          <a:prstGeom prst="wedgeEllipseCallout">
            <a:avLst>
              <a:gd name="adj1" fmla="val 76443"/>
              <a:gd name="adj2" fmla="val -36237"/>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Title of the table</a:t>
            </a:r>
          </a:p>
        </p:txBody>
      </p:sp>
    </p:spTree>
    <p:extLst>
      <p:ext uri="{BB962C8B-B14F-4D97-AF65-F5344CB8AC3E}">
        <p14:creationId xmlns:p14="http://schemas.microsoft.com/office/powerpoint/2010/main" val="16008429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5E71F-3F5A-4CF0-A681-699854A91FB4}"/>
              </a:ext>
            </a:extLst>
          </p:cNvPr>
          <p:cNvSpPr>
            <a:spLocks noGrp="1"/>
          </p:cNvSpPr>
          <p:nvPr>
            <p:ph type="title"/>
          </p:nvPr>
        </p:nvSpPr>
        <p:spPr/>
        <p:txBody>
          <a:bodyPr/>
          <a:lstStyle/>
          <a:p>
            <a:r>
              <a:rPr lang="en-US" sz="4400" dirty="0">
                <a:effectLst/>
                <a:latin typeface="Calibri" panose="020F0502020204030204" pitchFamily="34" charset="0"/>
                <a:ea typeface="Times New Roman" panose="02020603050405020304" pitchFamily="18" charset="0"/>
              </a:rPr>
              <a:t>Reflecting on improvements to method</a:t>
            </a:r>
            <a:r>
              <a:rPr lang="en-IN" sz="4400" dirty="0">
                <a:effectLst/>
                <a:latin typeface="Calibri" panose="020F0502020204030204" pitchFamily="34" charset="0"/>
                <a:ea typeface="Times New Roman" panose="02020603050405020304" pitchFamily="18" charset="0"/>
              </a:rPr>
              <a:t> </a:t>
            </a:r>
            <a:r>
              <a:rPr lang="en-US" sz="4400" dirty="0">
                <a:effectLst/>
                <a:latin typeface="Calibri" panose="020F0502020204030204" pitchFamily="34" charset="0"/>
                <a:ea typeface="Times New Roman" panose="02020603050405020304" pitchFamily="18" charset="0"/>
              </a:rPr>
              <a:t> : </a:t>
            </a:r>
            <a:br>
              <a:rPr lang="en-US" sz="4400" dirty="0">
                <a:effectLst/>
                <a:latin typeface="Calibri" panose="020F0502020204030204" pitchFamily="34"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8F609BD5-7518-4737-A1F3-B1198E3BE700}"/>
              </a:ext>
            </a:extLst>
          </p:cNvPr>
          <p:cNvSpPr>
            <a:spLocks noGrp="1"/>
          </p:cNvSpPr>
          <p:nvPr>
            <p:ph idx="1"/>
          </p:nvPr>
        </p:nvSpPr>
        <p:spPr/>
        <p:txBody>
          <a:bodyPr>
            <a:normAutofit/>
          </a:bodyPr>
          <a:lstStyle/>
          <a:p>
            <a:pPr marL="0" marR="0">
              <a:lnSpc>
                <a:spcPct val="200000"/>
              </a:lnSpc>
              <a:spcBef>
                <a:spcPts val="0"/>
              </a:spcBef>
              <a:spcAft>
                <a:spcPts val="0"/>
              </a:spcAft>
            </a:pPr>
            <a:r>
              <a:rPr lang="en-US" dirty="0">
                <a:effectLst/>
                <a:ea typeface="Times New Roman" panose="02020603050405020304" pitchFamily="18" charset="0"/>
              </a:rPr>
              <a:t>Human error in technique is possible;</a:t>
            </a:r>
          </a:p>
          <a:p>
            <a:pPr marL="0" marR="0">
              <a:lnSpc>
                <a:spcPct val="200000"/>
              </a:lnSpc>
              <a:spcBef>
                <a:spcPts val="0"/>
              </a:spcBef>
              <a:spcAft>
                <a:spcPts val="0"/>
              </a:spcAft>
            </a:pPr>
            <a:r>
              <a:rPr lang="en-US" dirty="0">
                <a:effectLst/>
                <a:ea typeface="Times New Roman" panose="02020603050405020304" pitchFamily="18" charset="0"/>
              </a:rPr>
              <a:t>Use an air cannon , sling or a catapult instead for accuracy</a:t>
            </a:r>
          </a:p>
          <a:p>
            <a:pPr marL="0" marR="0">
              <a:lnSpc>
                <a:spcPct val="200000"/>
              </a:lnSpc>
              <a:spcBef>
                <a:spcPts val="0"/>
              </a:spcBef>
              <a:spcAft>
                <a:spcPts val="0"/>
              </a:spcAft>
            </a:pPr>
            <a:r>
              <a:rPr lang="en-US" dirty="0">
                <a:effectLst/>
                <a:ea typeface="Times New Roman" panose="02020603050405020304" pitchFamily="18" charset="0"/>
              </a:rPr>
              <a:t>Sufficient number of trails are required</a:t>
            </a:r>
          </a:p>
          <a:p>
            <a:pPr marL="0" marR="0" indent="0">
              <a:lnSpc>
                <a:spcPct val="200000"/>
              </a:lnSpc>
              <a:spcBef>
                <a:spcPts val="0"/>
              </a:spcBef>
              <a:spcAft>
                <a:spcPts val="0"/>
              </a:spcAft>
              <a:buNone/>
            </a:pPr>
            <a:endParaRPr lang="en-US" dirty="0">
              <a:effectLst/>
              <a:ea typeface="Times New Roman" panose="02020603050405020304" pitchFamily="18" charset="0"/>
            </a:endParaRPr>
          </a:p>
        </p:txBody>
      </p:sp>
    </p:spTree>
    <p:extLst>
      <p:ext uri="{BB962C8B-B14F-4D97-AF65-F5344CB8AC3E}">
        <p14:creationId xmlns:p14="http://schemas.microsoft.com/office/powerpoint/2010/main" val="29801102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9C7F8-A3AA-47AF-991A-115A2EE08FFA}"/>
              </a:ext>
            </a:extLst>
          </p:cNvPr>
          <p:cNvSpPr>
            <a:spLocks noGrp="1"/>
          </p:cNvSpPr>
          <p:nvPr>
            <p:ph type="title"/>
          </p:nvPr>
        </p:nvSpPr>
        <p:spPr/>
        <p:txBody>
          <a:bodyPr/>
          <a:lstStyle/>
          <a:p>
            <a:r>
              <a:rPr lang="en-US" sz="4400" dirty="0">
                <a:effectLst/>
                <a:latin typeface="Calibri" panose="020F0502020204030204" pitchFamily="34" charset="0"/>
                <a:ea typeface="Times New Roman" panose="02020603050405020304" pitchFamily="18" charset="0"/>
              </a:rPr>
              <a:t>Safety and procedural Precautions: </a:t>
            </a:r>
            <a:r>
              <a:rPr lang="en-US" sz="4400" dirty="0">
                <a:effectLst/>
                <a:latin typeface="Times New Roman" panose="02020603050405020304" pitchFamily="18" charset="0"/>
                <a:ea typeface="Times New Roman" panose="02020603050405020304" pitchFamily="18" charset="0"/>
              </a:rPr>
              <a:t/>
            </a:r>
            <a:br>
              <a:rPr lang="en-US" sz="4400"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95719D36-7AA2-44CD-BEA9-1C3662E37435}"/>
              </a:ext>
            </a:extLst>
          </p:cNvPr>
          <p:cNvSpPr>
            <a:spLocks noGrp="1"/>
          </p:cNvSpPr>
          <p:nvPr>
            <p:ph idx="1"/>
          </p:nvPr>
        </p:nvSpPr>
        <p:spPr>
          <a:xfrm>
            <a:off x="838199" y="1825625"/>
            <a:ext cx="10868891" cy="4351338"/>
          </a:xfrm>
        </p:spPr>
        <p:txBody>
          <a:bodyPr>
            <a:normAutofit fontScale="85000" lnSpcReduction="20000"/>
          </a:bodyPr>
          <a:lstStyle/>
          <a:p>
            <a:pPr lvl="0"/>
            <a:r>
              <a:rPr lang="en-IN" dirty="0" smtClean="0"/>
              <a:t>Ensure </a:t>
            </a:r>
            <a:r>
              <a:rPr lang="en-IN" dirty="0"/>
              <a:t>there are no people standing in the launching area (starting point) of the pumpkin</a:t>
            </a:r>
            <a:endParaRPr lang="en-US" dirty="0"/>
          </a:p>
          <a:p>
            <a:pPr lvl="0"/>
            <a:r>
              <a:rPr lang="en-IN" dirty="0"/>
              <a:t>Ensure there are no people standing in the landing area (ending point) of the pumpkin, so that they don’t get hurt</a:t>
            </a:r>
            <a:endParaRPr lang="en-US" dirty="0"/>
          </a:p>
          <a:p>
            <a:pPr lvl="0"/>
            <a:r>
              <a:rPr lang="en-IN" dirty="0"/>
              <a:t>Use safety gear, like a helmet, safety goggles , etc.)</a:t>
            </a:r>
            <a:endParaRPr lang="en-US" dirty="0"/>
          </a:p>
          <a:p>
            <a:pPr marL="0" marR="0" indent="0">
              <a:spcBef>
                <a:spcPts val="0"/>
              </a:spcBef>
              <a:spcAft>
                <a:spcPts val="0"/>
              </a:spcAft>
              <a:buNone/>
            </a:pPr>
            <a:endParaRPr lang="en-US" sz="2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endParaRPr lang="en-US" sz="2800" dirty="0" smtClean="0">
              <a:effectLst/>
              <a:latin typeface="Calibri" panose="020F0502020204030204" pitchFamily="34" charset="0"/>
              <a:ea typeface="Times New Roman" panose="02020603050405020304" pitchFamily="18" charset="0"/>
            </a:endParaRPr>
          </a:p>
          <a:p>
            <a:pPr marL="0" marR="0">
              <a:spcBef>
                <a:spcPts val="0"/>
              </a:spcBef>
              <a:spcAft>
                <a:spcPts val="0"/>
              </a:spcAft>
            </a:pPr>
            <a:r>
              <a:rPr lang="en-US" sz="2800" dirty="0" smtClean="0">
                <a:effectLst/>
                <a:latin typeface="Calibri" panose="020F0502020204030204" pitchFamily="34" charset="0"/>
                <a:ea typeface="Times New Roman" panose="02020603050405020304" pitchFamily="18" charset="0"/>
              </a:rPr>
              <a:t>Clear </a:t>
            </a:r>
            <a:r>
              <a:rPr lang="en-US" sz="2800" dirty="0">
                <a:effectLst/>
                <a:latin typeface="Calibri" panose="020F0502020204030204" pitchFamily="34" charset="0"/>
                <a:ea typeface="Times New Roman" panose="02020603050405020304" pitchFamily="18" charset="0"/>
              </a:rPr>
              <a:t>area while handling heavy pumpkins so that no one gets </a:t>
            </a:r>
            <a:r>
              <a:rPr lang="en-US" sz="2800" dirty="0" smtClean="0">
                <a:effectLst/>
                <a:latin typeface="Calibri" panose="020F0502020204030204" pitchFamily="34" charset="0"/>
                <a:ea typeface="Times New Roman" panose="02020603050405020304" pitchFamily="18" charset="0"/>
              </a:rPr>
              <a:t>hurt</a:t>
            </a:r>
          </a:p>
          <a:p>
            <a:pPr marL="0" marR="0" indent="0">
              <a:spcBef>
                <a:spcPts val="0"/>
              </a:spcBef>
              <a:spcAft>
                <a:spcPts val="0"/>
              </a:spcAft>
              <a:buNone/>
            </a:pPr>
            <a:endParaRPr lang="en-US" sz="2800" dirty="0">
              <a:effectLst/>
              <a:latin typeface="Calibri" panose="020F0502020204030204" pitchFamily="34" charset="0"/>
              <a:ea typeface="Times New Roman" panose="02020603050405020304" pitchFamily="18" charset="0"/>
            </a:endParaRPr>
          </a:p>
          <a:p>
            <a:pPr marL="0" marR="0">
              <a:lnSpc>
                <a:spcPct val="200000"/>
              </a:lnSpc>
              <a:spcBef>
                <a:spcPts val="0"/>
              </a:spcBef>
              <a:spcAft>
                <a:spcPts val="0"/>
              </a:spcAft>
            </a:pPr>
            <a:r>
              <a:rPr lang="en-IN" dirty="0" smtClean="0"/>
              <a:t>Ensure </a:t>
            </a:r>
            <a:r>
              <a:rPr lang="en-IN" dirty="0"/>
              <a:t>proper launching technique is used while loading the pumpkin on the catapult so that they don’t get </a:t>
            </a:r>
            <a:r>
              <a:rPr lang="en-IN" dirty="0" smtClean="0"/>
              <a:t>hurt</a:t>
            </a:r>
          </a:p>
          <a:p>
            <a:pPr marL="0" marR="0" indent="0">
              <a:lnSpc>
                <a:spcPct val="200000"/>
              </a:lnSpc>
              <a:spcBef>
                <a:spcPts val="0"/>
              </a:spcBef>
              <a:spcAft>
                <a:spcPts val="0"/>
              </a:spcAft>
              <a:buNone/>
            </a:pPr>
            <a:endParaRPr lang="en-US" dirty="0" smtClean="0">
              <a:ea typeface="Times New Roman" panose="02020603050405020304" pitchFamily="18" charset="0"/>
            </a:endParaRPr>
          </a:p>
          <a:p>
            <a:pPr marL="0" marR="0">
              <a:lnSpc>
                <a:spcPct val="200000"/>
              </a:lnSpc>
              <a:spcBef>
                <a:spcPts val="0"/>
              </a:spcBef>
              <a:spcAft>
                <a:spcPts val="0"/>
              </a:spcAft>
            </a:pPr>
            <a:endParaRPr lang="en-US" dirty="0">
              <a:effectLst/>
              <a:ea typeface="Times New Roman" panose="02020603050405020304" pitchFamily="18" charset="0"/>
            </a:endParaRPr>
          </a:p>
          <a:p>
            <a:pPr marL="0" marR="0">
              <a:spcBef>
                <a:spcPts val="0"/>
              </a:spcBef>
              <a:spcAft>
                <a:spcPts val="0"/>
              </a:spcAft>
            </a:pPr>
            <a:endParaRPr lang="en-US" sz="2800" dirty="0">
              <a:effectLst/>
              <a:latin typeface="Times New Roman" panose="02020603050405020304" pitchFamily="18" charset="0"/>
              <a:ea typeface="Times New Roman" panose="02020603050405020304" pitchFamily="18" charset="0"/>
            </a:endParaRPr>
          </a:p>
          <a:p>
            <a:endParaRPr lang="en-US" dirty="0"/>
          </a:p>
        </p:txBody>
      </p:sp>
    </p:spTree>
    <p:extLst>
      <p:ext uri="{BB962C8B-B14F-4D97-AF65-F5344CB8AC3E}">
        <p14:creationId xmlns:p14="http://schemas.microsoft.com/office/powerpoint/2010/main" val="9193190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29384"/>
          </a:xfrm>
        </p:spPr>
        <p:txBody>
          <a:bodyPr/>
          <a:lstStyle/>
          <a:p>
            <a:r>
              <a:rPr lang="en-US" dirty="0" smtClean="0"/>
              <a:t>Criterion B</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44136349"/>
              </p:ext>
            </p:extLst>
          </p:nvPr>
        </p:nvGraphicFramePr>
        <p:xfrm>
          <a:off x="557213" y="1443039"/>
          <a:ext cx="10587036" cy="5198982"/>
        </p:xfrm>
        <a:graphic>
          <a:graphicData uri="http://schemas.openxmlformats.org/drawingml/2006/table">
            <a:tbl>
              <a:tblPr firstRow="1" firstCol="1" bandRow="1">
                <a:tableStyleId>{5C22544A-7EE6-4342-B048-85BDC9FD1C3A}</a:tableStyleId>
              </a:tblPr>
              <a:tblGrid>
                <a:gridCol w="2646759">
                  <a:extLst>
                    <a:ext uri="{9D8B030D-6E8A-4147-A177-3AD203B41FA5}">
                      <a16:colId xmlns:a16="http://schemas.microsoft.com/office/drawing/2014/main" val="3253834523"/>
                    </a:ext>
                  </a:extLst>
                </a:gridCol>
                <a:gridCol w="2646759">
                  <a:extLst>
                    <a:ext uri="{9D8B030D-6E8A-4147-A177-3AD203B41FA5}">
                      <a16:colId xmlns:a16="http://schemas.microsoft.com/office/drawing/2014/main" val="2619855672"/>
                    </a:ext>
                  </a:extLst>
                </a:gridCol>
                <a:gridCol w="2646759">
                  <a:extLst>
                    <a:ext uri="{9D8B030D-6E8A-4147-A177-3AD203B41FA5}">
                      <a16:colId xmlns:a16="http://schemas.microsoft.com/office/drawing/2014/main" val="3933742426"/>
                    </a:ext>
                  </a:extLst>
                </a:gridCol>
                <a:gridCol w="2646759">
                  <a:extLst>
                    <a:ext uri="{9D8B030D-6E8A-4147-A177-3AD203B41FA5}">
                      <a16:colId xmlns:a16="http://schemas.microsoft.com/office/drawing/2014/main" val="432265415"/>
                    </a:ext>
                  </a:extLst>
                </a:gridCol>
              </a:tblGrid>
              <a:tr h="220742">
                <a:tc>
                  <a:txBody>
                    <a:bodyPr/>
                    <a:lstStyle/>
                    <a:p>
                      <a:pPr marL="0" marR="0">
                        <a:spcBef>
                          <a:spcPts val="0"/>
                        </a:spcBef>
                        <a:spcAft>
                          <a:spcPts val="0"/>
                        </a:spcAft>
                      </a:pPr>
                      <a:r>
                        <a:rPr lang="en-US" sz="2000" dirty="0">
                          <a:solidFill>
                            <a:srgbClr val="002060"/>
                          </a:solidFill>
                          <a:effectLst/>
                        </a:rPr>
                        <a:t>Level 1 and 2</a:t>
                      </a:r>
                      <a:endParaRPr lang="en-US" sz="1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0756" marR="60756" marT="0" marB="0">
                    <a:noFill/>
                  </a:tcPr>
                </a:tc>
                <a:tc>
                  <a:txBody>
                    <a:bodyPr/>
                    <a:lstStyle/>
                    <a:p>
                      <a:pPr marL="0" marR="0">
                        <a:spcBef>
                          <a:spcPts val="0"/>
                        </a:spcBef>
                        <a:spcAft>
                          <a:spcPts val="0"/>
                        </a:spcAft>
                      </a:pPr>
                      <a:r>
                        <a:rPr lang="en-US" sz="2000" dirty="0">
                          <a:solidFill>
                            <a:srgbClr val="002060"/>
                          </a:solidFill>
                          <a:effectLst/>
                        </a:rPr>
                        <a:t>Level 3 and 4</a:t>
                      </a:r>
                      <a:endParaRPr lang="en-US" sz="1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0756" marR="60756" marT="0" marB="0">
                    <a:noFill/>
                  </a:tcPr>
                </a:tc>
                <a:tc>
                  <a:txBody>
                    <a:bodyPr/>
                    <a:lstStyle/>
                    <a:p>
                      <a:pPr marL="0" marR="0">
                        <a:spcBef>
                          <a:spcPts val="0"/>
                        </a:spcBef>
                        <a:spcAft>
                          <a:spcPts val="0"/>
                        </a:spcAft>
                      </a:pPr>
                      <a:r>
                        <a:rPr lang="en-US" sz="2000" dirty="0">
                          <a:solidFill>
                            <a:srgbClr val="002060"/>
                          </a:solidFill>
                          <a:effectLst/>
                        </a:rPr>
                        <a:t>Level 5 and 6</a:t>
                      </a:r>
                      <a:endParaRPr lang="en-US" sz="1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0756" marR="60756" marT="0" marB="0">
                    <a:noFill/>
                  </a:tcPr>
                </a:tc>
                <a:tc>
                  <a:txBody>
                    <a:bodyPr/>
                    <a:lstStyle/>
                    <a:p>
                      <a:pPr marL="0" marR="0">
                        <a:spcBef>
                          <a:spcPts val="0"/>
                        </a:spcBef>
                        <a:spcAft>
                          <a:spcPts val="0"/>
                        </a:spcAft>
                      </a:pPr>
                      <a:r>
                        <a:rPr lang="en-US" sz="2000" dirty="0">
                          <a:solidFill>
                            <a:srgbClr val="002060"/>
                          </a:solidFill>
                          <a:effectLst/>
                        </a:rPr>
                        <a:t>Level 7 and 8</a:t>
                      </a:r>
                      <a:endParaRPr lang="en-US" sz="1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60756" marR="60756" marT="0" marB="0">
                    <a:noFill/>
                  </a:tcPr>
                </a:tc>
                <a:extLst>
                  <a:ext uri="{0D108BD9-81ED-4DB2-BD59-A6C34878D82A}">
                    <a16:rowId xmlns:a16="http://schemas.microsoft.com/office/drawing/2014/main" val="3244103213"/>
                  </a:ext>
                </a:extLst>
              </a:tr>
              <a:tr h="4894182">
                <a:tc>
                  <a:txBody>
                    <a:bodyPr/>
                    <a:lstStyle/>
                    <a:p>
                      <a:pPr marL="0" marR="0">
                        <a:spcBef>
                          <a:spcPts val="350"/>
                        </a:spcBef>
                        <a:spcAft>
                          <a:spcPts val="0"/>
                        </a:spcAft>
                      </a:pPr>
                      <a:r>
                        <a:rPr lang="en-US" sz="2000" dirty="0">
                          <a:solidFill>
                            <a:schemeClr val="tx1"/>
                          </a:solidFill>
                          <a:effectLst/>
                        </a:rPr>
                        <a:t>The student is able to:</a:t>
                      </a:r>
                      <a:endParaRPr lang="en-US" sz="1400" dirty="0">
                        <a:solidFill>
                          <a:schemeClr val="tx1"/>
                        </a:solidFill>
                        <a:effectLst/>
                      </a:endParaRPr>
                    </a:p>
                    <a:p>
                      <a:pPr marL="0" marR="0">
                        <a:spcBef>
                          <a:spcPts val="705"/>
                        </a:spcBef>
                        <a:spcAft>
                          <a:spcPts val="0"/>
                        </a:spcAft>
                        <a:tabLst>
                          <a:tab pos="359410" algn="l"/>
                          <a:tab pos="360045" algn="l"/>
                        </a:tabLst>
                      </a:pPr>
                      <a:r>
                        <a:rPr lang="en-US" sz="2000" dirty="0" err="1">
                          <a:solidFill>
                            <a:schemeClr val="tx1"/>
                          </a:solidFill>
                          <a:effectLst/>
                        </a:rPr>
                        <a:t>i</a:t>
                      </a:r>
                      <a:r>
                        <a:rPr lang="en-US" sz="2000" dirty="0">
                          <a:solidFill>
                            <a:schemeClr val="tx1"/>
                          </a:solidFill>
                          <a:effectLst/>
                        </a:rPr>
                        <a:t>) select</a:t>
                      </a:r>
                      <a:r>
                        <a:rPr lang="en-US" sz="2000" spc="-40" dirty="0">
                          <a:solidFill>
                            <a:schemeClr val="tx1"/>
                          </a:solidFill>
                          <a:effectLst/>
                        </a:rPr>
                        <a:t> </a:t>
                      </a:r>
                      <a:r>
                        <a:rPr lang="en-US" sz="2000" dirty="0">
                          <a:solidFill>
                            <a:schemeClr val="tx1"/>
                          </a:solidFill>
                          <a:effectLst/>
                        </a:rPr>
                        <a:t>a</a:t>
                      </a:r>
                      <a:r>
                        <a:rPr lang="en-US" sz="2000" spc="-40" dirty="0">
                          <a:solidFill>
                            <a:schemeClr val="tx1"/>
                          </a:solidFill>
                          <a:effectLst/>
                        </a:rPr>
                        <a:t> </a:t>
                      </a:r>
                      <a:r>
                        <a:rPr lang="en-US" sz="2000" dirty="0">
                          <a:solidFill>
                            <a:schemeClr val="tx1"/>
                          </a:solidFill>
                          <a:effectLst/>
                        </a:rPr>
                        <a:t>problem</a:t>
                      </a:r>
                      <a:r>
                        <a:rPr lang="en-US" sz="2000" spc="-35" dirty="0">
                          <a:solidFill>
                            <a:schemeClr val="tx1"/>
                          </a:solidFill>
                          <a:effectLst/>
                        </a:rPr>
                        <a:t> </a:t>
                      </a:r>
                      <a:r>
                        <a:rPr lang="en-US" sz="2000" dirty="0">
                          <a:solidFill>
                            <a:schemeClr val="tx1"/>
                          </a:solidFill>
                          <a:effectLst/>
                        </a:rPr>
                        <a:t>or</a:t>
                      </a:r>
                      <a:r>
                        <a:rPr lang="en-US" sz="2000" spc="-40" dirty="0">
                          <a:solidFill>
                            <a:schemeClr val="tx1"/>
                          </a:solidFill>
                          <a:effectLst/>
                        </a:rPr>
                        <a:t> </a:t>
                      </a:r>
                      <a:r>
                        <a:rPr lang="en-US" sz="2000" dirty="0">
                          <a:solidFill>
                            <a:schemeClr val="tx1"/>
                          </a:solidFill>
                          <a:effectLst/>
                        </a:rPr>
                        <a:t>question</a:t>
                      </a:r>
                      <a:r>
                        <a:rPr lang="en-US" sz="2000" spc="-35" dirty="0">
                          <a:solidFill>
                            <a:schemeClr val="tx1"/>
                          </a:solidFill>
                          <a:effectLst/>
                        </a:rPr>
                        <a:t> </a:t>
                      </a:r>
                      <a:r>
                        <a:rPr lang="en-US" sz="2000" dirty="0">
                          <a:solidFill>
                            <a:schemeClr val="tx1"/>
                          </a:solidFill>
                          <a:effectLst/>
                        </a:rPr>
                        <a:t>to</a:t>
                      </a:r>
                      <a:r>
                        <a:rPr lang="en-US" sz="2000" spc="-40" dirty="0">
                          <a:solidFill>
                            <a:schemeClr val="tx1"/>
                          </a:solidFill>
                          <a:effectLst/>
                        </a:rPr>
                        <a:t> </a:t>
                      </a:r>
                      <a:r>
                        <a:rPr lang="en-US" sz="2000" dirty="0">
                          <a:solidFill>
                            <a:schemeClr val="tx1"/>
                          </a:solidFill>
                          <a:effectLst/>
                        </a:rPr>
                        <a:t>be</a:t>
                      </a:r>
                      <a:r>
                        <a:rPr lang="en-US" sz="2000" spc="-35" dirty="0">
                          <a:solidFill>
                            <a:schemeClr val="tx1"/>
                          </a:solidFill>
                          <a:effectLst/>
                        </a:rPr>
                        <a:t> </a:t>
                      </a:r>
                      <a:r>
                        <a:rPr lang="en-US" sz="2000" dirty="0">
                          <a:solidFill>
                            <a:schemeClr val="tx1"/>
                          </a:solidFill>
                          <a:effectLst/>
                        </a:rPr>
                        <a:t>tested</a:t>
                      </a:r>
                      <a:r>
                        <a:rPr lang="en-US" sz="2000" spc="-40" dirty="0">
                          <a:solidFill>
                            <a:schemeClr val="tx1"/>
                          </a:solidFill>
                          <a:effectLst/>
                        </a:rPr>
                        <a:t> </a:t>
                      </a:r>
                      <a:r>
                        <a:rPr lang="en-US" sz="2000" dirty="0">
                          <a:solidFill>
                            <a:schemeClr val="tx1"/>
                          </a:solidFill>
                          <a:effectLst/>
                        </a:rPr>
                        <a:t>by</a:t>
                      </a:r>
                      <a:r>
                        <a:rPr lang="en-US" sz="2000" spc="-35" dirty="0">
                          <a:solidFill>
                            <a:schemeClr val="tx1"/>
                          </a:solidFill>
                          <a:effectLst/>
                        </a:rPr>
                        <a:t> </a:t>
                      </a:r>
                      <a:r>
                        <a:rPr lang="en-US" sz="2000" dirty="0">
                          <a:solidFill>
                            <a:schemeClr val="tx1"/>
                          </a:solidFill>
                          <a:effectLst/>
                        </a:rPr>
                        <a:t>a</a:t>
                      </a:r>
                      <a:r>
                        <a:rPr lang="en-US" sz="2000" spc="-40" dirty="0">
                          <a:solidFill>
                            <a:schemeClr val="tx1"/>
                          </a:solidFill>
                          <a:effectLst/>
                        </a:rPr>
                        <a:t> </a:t>
                      </a:r>
                      <a:r>
                        <a:rPr lang="en-US" sz="2000" dirty="0">
                          <a:solidFill>
                            <a:schemeClr val="tx1"/>
                          </a:solidFill>
                          <a:effectLst/>
                        </a:rPr>
                        <a:t>scientific</a:t>
                      </a:r>
                      <a:r>
                        <a:rPr lang="en-US" sz="2000" spc="-40" dirty="0">
                          <a:solidFill>
                            <a:schemeClr val="tx1"/>
                          </a:solidFill>
                          <a:effectLst/>
                        </a:rPr>
                        <a:t> </a:t>
                      </a:r>
                      <a:r>
                        <a:rPr lang="en-US" sz="2000" dirty="0">
                          <a:solidFill>
                            <a:schemeClr val="tx1"/>
                          </a:solidFill>
                          <a:effectLst/>
                        </a:rPr>
                        <a:t>investigation</a:t>
                      </a:r>
                      <a:endParaRPr lang="en-US" sz="1400" dirty="0">
                        <a:solidFill>
                          <a:schemeClr val="tx1"/>
                        </a:solidFill>
                        <a:effectLst/>
                      </a:endParaRPr>
                    </a:p>
                    <a:p>
                      <a:pPr marL="0" marR="0">
                        <a:spcBef>
                          <a:spcPts val="705"/>
                        </a:spcBef>
                        <a:spcAft>
                          <a:spcPts val="0"/>
                        </a:spcAft>
                        <a:tabLst>
                          <a:tab pos="359410" algn="l"/>
                          <a:tab pos="360045" algn="l"/>
                        </a:tabLst>
                      </a:pPr>
                      <a:r>
                        <a:rPr lang="en-US" sz="2000" dirty="0">
                          <a:solidFill>
                            <a:schemeClr val="tx1"/>
                          </a:solidFill>
                          <a:effectLst/>
                        </a:rPr>
                        <a:t>ii) select a testable</a:t>
                      </a:r>
                      <a:r>
                        <a:rPr lang="en-US" sz="2000" spc="-80" dirty="0">
                          <a:solidFill>
                            <a:schemeClr val="tx1"/>
                          </a:solidFill>
                          <a:effectLst/>
                        </a:rPr>
                        <a:t> </a:t>
                      </a:r>
                      <a:r>
                        <a:rPr lang="en-US" sz="2000" dirty="0">
                          <a:solidFill>
                            <a:schemeClr val="tx1"/>
                          </a:solidFill>
                          <a:effectLst/>
                        </a:rPr>
                        <a:t>prediction</a:t>
                      </a:r>
                      <a:endParaRPr lang="en-US" sz="1400" dirty="0">
                        <a:solidFill>
                          <a:schemeClr val="tx1"/>
                        </a:solidFill>
                        <a:effectLst/>
                      </a:endParaRPr>
                    </a:p>
                    <a:p>
                      <a:pPr marL="0" marR="0">
                        <a:spcBef>
                          <a:spcPts val="710"/>
                        </a:spcBef>
                        <a:spcAft>
                          <a:spcPts val="0"/>
                        </a:spcAft>
                        <a:tabLst>
                          <a:tab pos="359410" algn="l"/>
                          <a:tab pos="360045" algn="l"/>
                        </a:tabLst>
                      </a:pPr>
                      <a:r>
                        <a:rPr lang="en-US" sz="2000" dirty="0">
                          <a:solidFill>
                            <a:schemeClr val="tx1"/>
                          </a:solidFill>
                          <a:effectLst/>
                        </a:rPr>
                        <a:t>iii) state a</a:t>
                      </a:r>
                      <a:r>
                        <a:rPr lang="en-US" sz="2000" spc="-55" dirty="0">
                          <a:solidFill>
                            <a:schemeClr val="tx1"/>
                          </a:solidFill>
                          <a:effectLst/>
                        </a:rPr>
                        <a:t> </a:t>
                      </a:r>
                      <a:r>
                        <a:rPr lang="en-US" sz="2000" dirty="0">
                          <a:solidFill>
                            <a:schemeClr val="tx1"/>
                          </a:solidFill>
                          <a:effectLst/>
                        </a:rPr>
                        <a:t>variable</a:t>
                      </a:r>
                      <a:endParaRPr lang="en-US" sz="1400" dirty="0">
                        <a:solidFill>
                          <a:schemeClr val="tx1"/>
                        </a:solidFill>
                        <a:effectLst/>
                      </a:endParaRPr>
                    </a:p>
                    <a:p>
                      <a:pPr marL="0" marR="0">
                        <a:spcBef>
                          <a:spcPts val="0"/>
                        </a:spcBef>
                        <a:spcAft>
                          <a:spcPts val="0"/>
                        </a:spcAft>
                      </a:pPr>
                      <a:r>
                        <a:rPr lang="en-US" sz="2000" dirty="0">
                          <a:solidFill>
                            <a:schemeClr val="tx1"/>
                          </a:solidFill>
                          <a:effectLst/>
                        </a:rPr>
                        <a:t> </a:t>
                      </a:r>
                      <a:endParaRPr lang="en-US" sz="1400" dirty="0">
                        <a:solidFill>
                          <a:schemeClr val="tx1"/>
                        </a:solidFill>
                        <a:effectLst/>
                      </a:endParaRPr>
                    </a:p>
                    <a:p>
                      <a:pPr marL="0" marR="0">
                        <a:spcBef>
                          <a:spcPts val="0"/>
                        </a:spcBef>
                        <a:spcAft>
                          <a:spcPts val="0"/>
                        </a:spcAft>
                      </a:pPr>
                      <a:r>
                        <a:rPr lang="en-US" sz="2000" dirty="0">
                          <a:effectLst/>
                        </a:rPr>
                        <a:t> </a:t>
                      </a:r>
                      <a:endParaRPr lang="en-US" sz="1400" dirty="0">
                        <a:effectLst/>
                      </a:endParaRPr>
                    </a:p>
                    <a:p>
                      <a:pPr marL="0" marR="0">
                        <a:spcBef>
                          <a:spcPts val="0"/>
                        </a:spcBef>
                        <a:spcAft>
                          <a:spcPts val="0"/>
                        </a:spcAft>
                      </a:pPr>
                      <a:r>
                        <a:rPr lang="en-US" sz="2000" dirty="0">
                          <a:effectLst/>
                        </a:rPr>
                        <a:t> </a:t>
                      </a:r>
                      <a:endParaRPr lang="en-US" sz="1400" dirty="0">
                        <a:effectLst/>
                      </a:endParaRPr>
                    </a:p>
                    <a:p>
                      <a:pPr marL="0" marR="0">
                        <a:spcBef>
                          <a:spcPts val="0"/>
                        </a:spcBef>
                        <a:spcAft>
                          <a:spcPts val="0"/>
                        </a:spcAft>
                      </a:pPr>
                      <a:r>
                        <a:rPr lang="en-US" sz="2000" dirty="0">
                          <a:effectLst/>
                        </a:rPr>
                        <a:t> </a:t>
                      </a:r>
                      <a:endParaRPr lang="en-US" sz="1400" dirty="0">
                        <a:effectLst/>
                      </a:endParaRPr>
                    </a:p>
                    <a:p>
                      <a:pPr marL="0" marR="0">
                        <a:spcBef>
                          <a:spcPts val="0"/>
                        </a:spcBef>
                        <a:spcAft>
                          <a:spcPts val="0"/>
                        </a:spcAft>
                      </a:pPr>
                      <a:r>
                        <a:rPr lang="en-US" sz="2000" dirty="0">
                          <a:effectLst/>
                        </a:rPr>
                        <a:t> </a:t>
                      </a:r>
                      <a:endParaRPr lang="en-US" sz="1400" dirty="0">
                        <a:effectLst/>
                      </a:endParaRPr>
                    </a:p>
                    <a:p>
                      <a:pPr marL="0" marR="0">
                        <a:spcBef>
                          <a:spcPts val="0"/>
                        </a:spcBef>
                        <a:spcAft>
                          <a:spcPts val="0"/>
                        </a:spcAft>
                      </a:pPr>
                      <a:r>
                        <a:rPr lang="en-US" sz="2000" dirty="0">
                          <a:effectLst/>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0756" marR="60756" marT="0" marB="0">
                    <a:noFill/>
                  </a:tcPr>
                </a:tc>
                <a:tc>
                  <a:txBody>
                    <a:bodyPr/>
                    <a:lstStyle/>
                    <a:p>
                      <a:pPr marL="0" marR="0">
                        <a:spcBef>
                          <a:spcPts val="350"/>
                        </a:spcBef>
                        <a:spcAft>
                          <a:spcPts val="0"/>
                        </a:spcAft>
                      </a:pPr>
                      <a:r>
                        <a:rPr lang="en-US" sz="2000" b="1" dirty="0">
                          <a:effectLst/>
                        </a:rPr>
                        <a:t>The student is able to:</a:t>
                      </a:r>
                      <a:endParaRPr lang="en-US" sz="1400" b="1" dirty="0">
                        <a:effectLst/>
                      </a:endParaRPr>
                    </a:p>
                    <a:p>
                      <a:pPr marL="0" marR="0">
                        <a:spcBef>
                          <a:spcPts val="705"/>
                        </a:spcBef>
                        <a:spcAft>
                          <a:spcPts val="0"/>
                        </a:spcAft>
                        <a:tabLst>
                          <a:tab pos="359410" algn="l"/>
                          <a:tab pos="360045" algn="l"/>
                        </a:tabLst>
                      </a:pPr>
                      <a:r>
                        <a:rPr lang="en-US" sz="2000" b="1" dirty="0" err="1">
                          <a:effectLst/>
                        </a:rPr>
                        <a:t>i</a:t>
                      </a:r>
                      <a:r>
                        <a:rPr lang="en-US" sz="2000" b="1" dirty="0">
                          <a:effectLst/>
                        </a:rPr>
                        <a:t>) state</a:t>
                      </a:r>
                      <a:r>
                        <a:rPr lang="en-US" sz="2000" b="1" spc="-40" dirty="0">
                          <a:effectLst/>
                        </a:rPr>
                        <a:t> </a:t>
                      </a:r>
                      <a:r>
                        <a:rPr lang="en-US" sz="2000" b="1" dirty="0">
                          <a:effectLst/>
                        </a:rPr>
                        <a:t>a</a:t>
                      </a:r>
                      <a:r>
                        <a:rPr lang="en-US" sz="2000" b="1" spc="-40" dirty="0">
                          <a:effectLst/>
                        </a:rPr>
                        <a:t> </a:t>
                      </a:r>
                      <a:r>
                        <a:rPr lang="en-US" sz="2000" b="1" dirty="0">
                          <a:effectLst/>
                        </a:rPr>
                        <a:t>problem</a:t>
                      </a:r>
                      <a:r>
                        <a:rPr lang="en-US" sz="2000" b="1" spc="-40" dirty="0">
                          <a:effectLst/>
                        </a:rPr>
                        <a:t> </a:t>
                      </a:r>
                      <a:r>
                        <a:rPr lang="en-US" sz="2000" b="1" dirty="0">
                          <a:effectLst/>
                        </a:rPr>
                        <a:t>or</a:t>
                      </a:r>
                      <a:r>
                        <a:rPr lang="en-US" sz="2000" b="1" spc="-35" dirty="0">
                          <a:effectLst/>
                        </a:rPr>
                        <a:t> </a:t>
                      </a:r>
                      <a:r>
                        <a:rPr lang="en-US" sz="2000" b="1" dirty="0">
                          <a:effectLst/>
                        </a:rPr>
                        <a:t>question</a:t>
                      </a:r>
                      <a:r>
                        <a:rPr lang="en-US" sz="2000" b="1" spc="-40" dirty="0">
                          <a:effectLst/>
                        </a:rPr>
                        <a:t> </a:t>
                      </a:r>
                      <a:r>
                        <a:rPr lang="en-US" sz="2000" b="1" dirty="0">
                          <a:effectLst/>
                        </a:rPr>
                        <a:t>to</a:t>
                      </a:r>
                      <a:r>
                        <a:rPr lang="en-US" sz="2000" b="1" spc="-40" dirty="0">
                          <a:effectLst/>
                        </a:rPr>
                        <a:t> </a:t>
                      </a:r>
                      <a:r>
                        <a:rPr lang="en-US" sz="2000" b="1" dirty="0">
                          <a:effectLst/>
                        </a:rPr>
                        <a:t>be</a:t>
                      </a:r>
                      <a:r>
                        <a:rPr lang="en-US" sz="2000" b="1" spc="-35" dirty="0">
                          <a:effectLst/>
                        </a:rPr>
                        <a:t> </a:t>
                      </a:r>
                      <a:r>
                        <a:rPr lang="en-US" sz="2000" b="1" dirty="0">
                          <a:effectLst/>
                        </a:rPr>
                        <a:t>tested</a:t>
                      </a:r>
                      <a:r>
                        <a:rPr lang="en-US" sz="2000" b="1" spc="-40" dirty="0">
                          <a:effectLst/>
                        </a:rPr>
                        <a:t> </a:t>
                      </a:r>
                      <a:r>
                        <a:rPr lang="en-US" sz="2000" b="1" dirty="0">
                          <a:effectLst/>
                        </a:rPr>
                        <a:t>by</a:t>
                      </a:r>
                      <a:r>
                        <a:rPr lang="en-US" sz="2000" b="1" spc="-40" dirty="0">
                          <a:effectLst/>
                        </a:rPr>
                        <a:t> </a:t>
                      </a:r>
                      <a:r>
                        <a:rPr lang="en-US" sz="2000" b="1" dirty="0">
                          <a:effectLst/>
                        </a:rPr>
                        <a:t>a</a:t>
                      </a:r>
                      <a:r>
                        <a:rPr lang="en-US" sz="2000" b="1" spc="-35" dirty="0">
                          <a:effectLst/>
                        </a:rPr>
                        <a:t> </a:t>
                      </a:r>
                      <a:r>
                        <a:rPr lang="en-US" sz="2000" b="1" dirty="0">
                          <a:effectLst/>
                        </a:rPr>
                        <a:t>scientific</a:t>
                      </a:r>
                      <a:r>
                        <a:rPr lang="en-US" sz="2000" b="1" spc="-40" dirty="0">
                          <a:effectLst/>
                        </a:rPr>
                        <a:t> </a:t>
                      </a:r>
                      <a:r>
                        <a:rPr lang="en-US" sz="2000" b="1" dirty="0">
                          <a:effectLst/>
                        </a:rPr>
                        <a:t>investigation</a:t>
                      </a:r>
                      <a:endParaRPr lang="en-US" sz="1400" b="1" dirty="0">
                        <a:effectLst/>
                      </a:endParaRPr>
                    </a:p>
                    <a:p>
                      <a:pPr marL="0" marR="0">
                        <a:spcBef>
                          <a:spcPts val="705"/>
                        </a:spcBef>
                        <a:spcAft>
                          <a:spcPts val="0"/>
                        </a:spcAft>
                        <a:tabLst>
                          <a:tab pos="359410" algn="l"/>
                          <a:tab pos="360045" algn="l"/>
                        </a:tabLst>
                      </a:pPr>
                      <a:r>
                        <a:rPr lang="en-US" sz="2000" b="1" dirty="0">
                          <a:effectLst/>
                        </a:rPr>
                        <a:t>ii) state a testable</a:t>
                      </a:r>
                      <a:r>
                        <a:rPr lang="en-US" sz="2000" b="1" spc="-85" dirty="0">
                          <a:effectLst/>
                        </a:rPr>
                        <a:t> </a:t>
                      </a:r>
                      <a:r>
                        <a:rPr lang="en-US" sz="2000" b="1" dirty="0">
                          <a:effectLst/>
                        </a:rPr>
                        <a:t>prediction</a:t>
                      </a:r>
                      <a:endParaRPr lang="en-US" sz="1400" b="1" dirty="0">
                        <a:effectLst/>
                      </a:endParaRPr>
                    </a:p>
                    <a:p>
                      <a:pPr marL="0" marR="0">
                        <a:spcBef>
                          <a:spcPts val="710"/>
                        </a:spcBef>
                        <a:spcAft>
                          <a:spcPts val="0"/>
                        </a:spcAft>
                        <a:tabLst>
                          <a:tab pos="359410" algn="l"/>
                          <a:tab pos="360045" algn="l"/>
                        </a:tabLst>
                      </a:pPr>
                      <a:r>
                        <a:rPr lang="en-US" sz="2000" b="1" dirty="0">
                          <a:effectLst/>
                        </a:rPr>
                        <a:t>iii) state</a:t>
                      </a:r>
                      <a:r>
                        <a:rPr lang="en-US" sz="2000" b="1" spc="-45" dirty="0">
                          <a:effectLst/>
                        </a:rPr>
                        <a:t> </a:t>
                      </a:r>
                      <a:r>
                        <a:rPr lang="en-US" sz="2000" b="1" dirty="0">
                          <a:effectLst/>
                        </a:rPr>
                        <a:t>how</a:t>
                      </a:r>
                      <a:r>
                        <a:rPr lang="en-US" sz="2000" b="1" spc="-40" dirty="0">
                          <a:effectLst/>
                        </a:rPr>
                        <a:t> </a:t>
                      </a:r>
                      <a:r>
                        <a:rPr lang="en-US" sz="2000" b="1" dirty="0">
                          <a:effectLst/>
                        </a:rPr>
                        <a:t>to</a:t>
                      </a:r>
                      <a:r>
                        <a:rPr lang="en-US" sz="2000" b="1" spc="-40" dirty="0">
                          <a:effectLst/>
                        </a:rPr>
                        <a:t> </a:t>
                      </a:r>
                      <a:r>
                        <a:rPr lang="en-US" sz="2000" b="1" dirty="0">
                          <a:effectLst/>
                        </a:rPr>
                        <a:t>manipulate</a:t>
                      </a:r>
                      <a:r>
                        <a:rPr lang="en-US" sz="2000" b="1" spc="-40" dirty="0">
                          <a:effectLst/>
                        </a:rPr>
                        <a:t> </a:t>
                      </a:r>
                      <a:r>
                        <a:rPr lang="en-US" sz="2000" b="1" dirty="0">
                          <a:effectLst/>
                        </a:rPr>
                        <a:t>the</a:t>
                      </a:r>
                      <a:r>
                        <a:rPr lang="en-US" sz="2000" b="1" spc="-40" dirty="0">
                          <a:effectLst/>
                        </a:rPr>
                        <a:t> </a:t>
                      </a:r>
                      <a:r>
                        <a:rPr lang="en-US" sz="2000" b="1" dirty="0">
                          <a:effectLst/>
                        </a:rPr>
                        <a:t>variables,</a:t>
                      </a:r>
                      <a:r>
                        <a:rPr lang="en-US" sz="2000" b="1" spc="-40" dirty="0">
                          <a:effectLst/>
                        </a:rPr>
                        <a:t> </a:t>
                      </a:r>
                      <a:r>
                        <a:rPr lang="en-US" sz="2000" b="1" dirty="0">
                          <a:effectLst/>
                        </a:rPr>
                        <a:t>and</a:t>
                      </a:r>
                      <a:r>
                        <a:rPr lang="en-US" sz="2000" b="1" spc="-40" dirty="0">
                          <a:effectLst/>
                        </a:rPr>
                        <a:t> </a:t>
                      </a:r>
                      <a:r>
                        <a:rPr lang="en-US" sz="2000" b="1" dirty="0">
                          <a:effectLst/>
                        </a:rPr>
                        <a:t>state</a:t>
                      </a:r>
                      <a:r>
                        <a:rPr lang="en-US" sz="2000" b="1" spc="-40" dirty="0">
                          <a:effectLst/>
                        </a:rPr>
                        <a:t> </a:t>
                      </a:r>
                      <a:r>
                        <a:rPr lang="en-US" sz="2000" b="1" dirty="0">
                          <a:effectLst/>
                        </a:rPr>
                        <a:t>how</a:t>
                      </a:r>
                      <a:r>
                        <a:rPr lang="en-US" sz="2000" b="1" spc="-40" dirty="0">
                          <a:effectLst/>
                        </a:rPr>
                        <a:t> </a:t>
                      </a:r>
                      <a:r>
                        <a:rPr lang="en-US" sz="2000" b="1" dirty="0">
                          <a:effectLst/>
                        </a:rPr>
                        <a:t>data</a:t>
                      </a:r>
                      <a:r>
                        <a:rPr lang="en-US" sz="2000" b="1" spc="-40" dirty="0">
                          <a:effectLst/>
                        </a:rPr>
                        <a:t> </a:t>
                      </a:r>
                      <a:r>
                        <a:rPr lang="en-US" sz="2000" b="1" dirty="0">
                          <a:effectLst/>
                        </a:rPr>
                        <a:t>will</a:t>
                      </a:r>
                      <a:r>
                        <a:rPr lang="en-US" sz="2000" b="1" spc="-40" dirty="0">
                          <a:effectLst/>
                        </a:rPr>
                        <a:t> </a:t>
                      </a:r>
                      <a:r>
                        <a:rPr lang="en-US" sz="2000" b="1" dirty="0">
                          <a:effectLst/>
                        </a:rPr>
                        <a:t>be</a:t>
                      </a:r>
                      <a:r>
                        <a:rPr lang="en-US" sz="2000" b="1" spc="-45" dirty="0">
                          <a:effectLst/>
                        </a:rPr>
                        <a:t> </a:t>
                      </a:r>
                      <a:r>
                        <a:rPr lang="en-US" sz="2000" b="1" dirty="0">
                          <a:effectLst/>
                        </a:rPr>
                        <a:t>collected</a:t>
                      </a:r>
                      <a:endParaRPr lang="en-US" sz="1400" b="1" dirty="0">
                        <a:effectLst/>
                      </a:endParaRPr>
                    </a:p>
                    <a:p>
                      <a:pPr marL="0" marR="0">
                        <a:spcBef>
                          <a:spcPts val="0"/>
                        </a:spcBef>
                        <a:spcAft>
                          <a:spcPts val="0"/>
                        </a:spcAft>
                      </a:pPr>
                      <a:r>
                        <a:rPr lang="en-US" sz="2000" b="1" dirty="0">
                          <a:effectLst/>
                        </a:rPr>
                        <a:t> </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0756" marR="60756" marT="0" marB="0">
                    <a:noFill/>
                  </a:tcPr>
                </a:tc>
                <a:tc>
                  <a:txBody>
                    <a:bodyPr/>
                    <a:lstStyle/>
                    <a:p>
                      <a:pPr marL="0" marR="0">
                        <a:spcBef>
                          <a:spcPts val="345"/>
                        </a:spcBef>
                        <a:spcAft>
                          <a:spcPts val="0"/>
                        </a:spcAft>
                      </a:pPr>
                      <a:r>
                        <a:rPr lang="en-US" sz="2000" b="1" dirty="0">
                          <a:effectLst/>
                        </a:rPr>
                        <a:t>The student is able to:</a:t>
                      </a:r>
                      <a:endParaRPr lang="en-US" sz="1400" b="1" dirty="0">
                        <a:effectLst/>
                      </a:endParaRPr>
                    </a:p>
                    <a:p>
                      <a:pPr marL="0" marR="0">
                        <a:spcBef>
                          <a:spcPts val="710"/>
                        </a:spcBef>
                        <a:spcAft>
                          <a:spcPts val="0"/>
                        </a:spcAft>
                        <a:tabLst>
                          <a:tab pos="359410" algn="l"/>
                          <a:tab pos="360045" algn="l"/>
                        </a:tabLst>
                      </a:pPr>
                      <a:r>
                        <a:rPr lang="en-US" sz="2000" b="1" dirty="0" err="1">
                          <a:effectLst/>
                        </a:rPr>
                        <a:t>i</a:t>
                      </a:r>
                      <a:r>
                        <a:rPr lang="en-US" sz="2000" b="1" dirty="0">
                          <a:effectLst/>
                        </a:rPr>
                        <a:t>) state</a:t>
                      </a:r>
                      <a:r>
                        <a:rPr lang="en-US" sz="2000" b="1" spc="-40" dirty="0">
                          <a:effectLst/>
                        </a:rPr>
                        <a:t> </a:t>
                      </a:r>
                      <a:r>
                        <a:rPr lang="en-US" sz="2000" b="1" dirty="0">
                          <a:effectLst/>
                        </a:rPr>
                        <a:t>a</a:t>
                      </a:r>
                      <a:r>
                        <a:rPr lang="en-US" sz="2000" b="1" spc="-40" dirty="0">
                          <a:effectLst/>
                        </a:rPr>
                        <a:t> </a:t>
                      </a:r>
                      <a:r>
                        <a:rPr lang="en-US" sz="2000" b="1" dirty="0">
                          <a:effectLst/>
                        </a:rPr>
                        <a:t>problem</a:t>
                      </a:r>
                      <a:r>
                        <a:rPr lang="en-US" sz="2000" b="1" spc="-40" dirty="0">
                          <a:effectLst/>
                        </a:rPr>
                        <a:t> </a:t>
                      </a:r>
                      <a:r>
                        <a:rPr lang="en-US" sz="2000" b="1" dirty="0">
                          <a:effectLst/>
                        </a:rPr>
                        <a:t>or</a:t>
                      </a:r>
                      <a:r>
                        <a:rPr lang="en-US" sz="2000" b="1" spc="-35" dirty="0">
                          <a:effectLst/>
                        </a:rPr>
                        <a:t> </a:t>
                      </a:r>
                      <a:r>
                        <a:rPr lang="en-US" sz="2000" b="1" dirty="0">
                          <a:effectLst/>
                        </a:rPr>
                        <a:t>question</a:t>
                      </a:r>
                      <a:r>
                        <a:rPr lang="en-US" sz="2000" b="1" spc="-40" dirty="0">
                          <a:effectLst/>
                        </a:rPr>
                        <a:t> </a:t>
                      </a:r>
                      <a:r>
                        <a:rPr lang="en-US" sz="2000" b="1" dirty="0">
                          <a:effectLst/>
                        </a:rPr>
                        <a:t>to</a:t>
                      </a:r>
                      <a:r>
                        <a:rPr lang="en-US" sz="2000" b="1" spc="-40" dirty="0">
                          <a:effectLst/>
                        </a:rPr>
                        <a:t> </a:t>
                      </a:r>
                      <a:r>
                        <a:rPr lang="en-US" sz="2000" b="1" dirty="0">
                          <a:effectLst/>
                        </a:rPr>
                        <a:t>be</a:t>
                      </a:r>
                      <a:r>
                        <a:rPr lang="en-US" sz="2000" b="1" spc="-35" dirty="0">
                          <a:effectLst/>
                        </a:rPr>
                        <a:t> </a:t>
                      </a:r>
                      <a:r>
                        <a:rPr lang="en-US" sz="2000" b="1" dirty="0">
                          <a:effectLst/>
                        </a:rPr>
                        <a:t>tested</a:t>
                      </a:r>
                      <a:r>
                        <a:rPr lang="en-US" sz="2000" b="1" spc="-40" dirty="0">
                          <a:effectLst/>
                        </a:rPr>
                        <a:t> </a:t>
                      </a:r>
                      <a:r>
                        <a:rPr lang="en-US" sz="2000" b="1" dirty="0">
                          <a:effectLst/>
                        </a:rPr>
                        <a:t>by</a:t>
                      </a:r>
                      <a:r>
                        <a:rPr lang="en-US" sz="2000" b="1" spc="-40" dirty="0">
                          <a:effectLst/>
                        </a:rPr>
                        <a:t> </a:t>
                      </a:r>
                      <a:r>
                        <a:rPr lang="en-US" sz="2000" b="1" dirty="0">
                          <a:effectLst/>
                        </a:rPr>
                        <a:t>a</a:t>
                      </a:r>
                      <a:r>
                        <a:rPr lang="en-US" sz="2000" b="1" spc="-35" dirty="0">
                          <a:effectLst/>
                        </a:rPr>
                        <a:t> </a:t>
                      </a:r>
                      <a:r>
                        <a:rPr lang="en-US" sz="2000" b="1" dirty="0">
                          <a:effectLst/>
                        </a:rPr>
                        <a:t>scientific</a:t>
                      </a:r>
                      <a:r>
                        <a:rPr lang="en-US" sz="2000" b="1" spc="-40" dirty="0">
                          <a:effectLst/>
                        </a:rPr>
                        <a:t> </a:t>
                      </a:r>
                      <a:r>
                        <a:rPr lang="en-US" sz="2000" b="1" dirty="0">
                          <a:effectLst/>
                        </a:rPr>
                        <a:t>investigation</a:t>
                      </a:r>
                      <a:endParaRPr lang="en-US" sz="1400" b="1" dirty="0">
                        <a:effectLst/>
                      </a:endParaRPr>
                    </a:p>
                    <a:p>
                      <a:pPr marL="0" marR="0">
                        <a:spcBef>
                          <a:spcPts val="705"/>
                        </a:spcBef>
                        <a:spcAft>
                          <a:spcPts val="0"/>
                        </a:spcAft>
                        <a:tabLst>
                          <a:tab pos="359410" algn="l"/>
                          <a:tab pos="360045" algn="l"/>
                        </a:tabLst>
                      </a:pPr>
                      <a:r>
                        <a:rPr lang="en-US" sz="2000" b="1" dirty="0">
                          <a:effectLst/>
                        </a:rPr>
                        <a:t>ii) outline a testable</a:t>
                      </a:r>
                      <a:r>
                        <a:rPr lang="en-US" sz="2000" b="1" spc="-80" dirty="0">
                          <a:effectLst/>
                        </a:rPr>
                        <a:t> </a:t>
                      </a:r>
                      <a:r>
                        <a:rPr lang="en-US" sz="2000" b="1" dirty="0">
                          <a:effectLst/>
                        </a:rPr>
                        <a:t>prediction</a:t>
                      </a:r>
                      <a:endParaRPr lang="en-US" sz="1400" b="1" dirty="0">
                        <a:effectLst/>
                      </a:endParaRPr>
                    </a:p>
                    <a:p>
                      <a:pPr marL="0" marR="64135">
                        <a:lnSpc>
                          <a:spcPct val="111000"/>
                        </a:lnSpc>
                        <a:spcBef>
                          <a:spcPts val="710"/>
                        </a:spcBef>
                        <a:spcAft>
                          <a:spcPts val="0"/>
                        </a:spcAft>
                        <a:tabLst>
                          <a:tab pos="359410" algn="l"/>
                          <a:tab pos="360045" algn="l"/>
                        </a:tabLst>
                      </a:pPr>
                      <a:r>
                        <a:rPr lang="en-US" sz="2000" b="1" spc="10" dirty="0">
                          <a:effectLst/>
                        </a:rPr>
                        <a:t>iii) outline </a:t>
                      </a:r>
                      <a:r>
                        <a:rPr lang="en-US" sz="2000" b="1" dirty="0">
                          <a:effectLst/>
                        </a:rPr>
                        <a:t>how to manipulate the variables, and state how relevant data will be</a:t>
                      </a:r>
                      <a:r>
                        <a:rPr lang="en-US" sz="2000" b="1" spc="-30" dirty="0">
                          <a:effectLst/>
                        </a:rPr>
                        <a:t> </a:t>
                      </a:r>
                      <a:r>
                        <a:rPr lang="en-US" sz="2000" b="1" dirty="0">
                          <a:effectLst/>
                        </a:rPr>
                        <a:t>collected</a:t>
                      </a:r>
                      <a:endParaRPr lang="en-US" sz="1400" b="1" dirty="0">
                        <a:effectLst/>
                      </a:endParaRPr>
                    </a:p>
                    <a:p>
                      <a:pPr marL="0" marR="0">
                        <a:spcBef>
                          <a:spcPts val="0"/>
                        </a:spcBef>
                        <a:spcAft>
                          <a:spcPts val="0"/>
                        </a:spcAft>
                      </a:pPr>
                      <a:r>
                        <a:rPr lang="en-US" sz="2000" b="1" dirty="0">
                          <a:effectLst/>
                        </a:rPr>
                        <a:t> </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0756" marR="60756" marT="0" marB="0">
                    <a:noFill/>
                  </a:tcPr>
                </a:tc>
                <a:tc>
                  <a:txBody>
                    <a:bodyPr/>
                    <a:lstStyle/>
                    <a:p>
                      <a:pPr marL="0" marR="0">
                        <a:spcBef>
                          <a:spcPts val="345"/>
                        </a:spcBef>
                        <a:spcAft>
                          <a:spcPts val="0"/>
                        </a:spcAft>
                      </a:pPr>
                      <a:r>
                        <a:rPr lang="en-US" sz="2000" b="1" dirty="0">
                          <a:effectLst/>
                        </a:rPr>
                        <a:t>The student is able to:</a:t>
                      </a:r>
                      <a:endParaRPr lang="en-US" sz="1400" b="1" dirty="0">
                        <a:effectLst/>
                      </a:endParaRPr>
                    </a:p>
                    <a:p>
                      <a:pPr marL="0" marR="0">
                        <a:spcBef>
                          <a:spcPts val="710"/>
                        </a:spcBef>
                        <a:spcAft>
                          <a:spcPts val="0"/>
                        </a:spcAft>
                        <a:tabLst>
                          <a:tab pos="359410" algn="l"/>
                          <a:tab pos="360045" algn="l"/>
                        </a:tabLst>
                      </a:pPr>
                      <a:r>
                        <a:rPr lang="en-US" sz="2000" b="1" dirty="0" err="1">
                          <a:effectLst/>
                        </a:rPr>
                        <a:t>i</a:t>
                      </a:r>
                      <a:r>
                        <a:rPr lang="en-US" sz="2000" b="1" dirty="0">
                          <a:effectLst/>
                        </a:rPr>
                        <a:t>) outline</a:t>
                      </a:r>
                      <a:r>
                        <a:rPr lang="en-US" sz="2000" b="1" spc="-40" dirty="0">
                          <a:effectLst/>
                        </a:rPr>
                        <a:t> </a:t>
                      </a:r>
                      <a:r>
                        <a:rPr lang="en-US" sz="2000" b="1" dirty="0">
                          <a:effectLst/>
                        </a:rPr>
                        <a:t>a</a:t>
                      </a:r>
                      <a:r>
                        <a:rPr lang="en-US" sz="2000" b="1" spc="-40" dirty="0">
                          <a:effectLst/>
                        </a:rPr>
                        <a:t> </a:t>
                      </a:r>
                      <a:r>
                        <a:rPr lang="en-US" sz="2000" b="1" dirty="0">
                          <a:effectLst/>
                        </a:rPr>
                        <a:t>problem</a:t>
                      </a:r>
                      <a:r>
                        <a:rPr lang="en-US" sz="2000" b="1" spc="-35" dirty="0">
                          <a:effectLst/>
                        </a:rPr>
                        <a:t> </a:t>
                      </a:r>
                      <a:r>
                        <a:rPr lang="en-US" sz="2000" b="1" dirty="0">
                          <a:effectLst/>
                        </a:rPr>
                        <a:t>or</a:t>
                      </a:r>
                      <a:r>
                        <a:rPr lang="en-US" sz="2000" b="1" spc="-40" dirty="0">
                          <a:effectLst/>
                        </a:rPr>
                        <a:t> </a:t>
                      </a:r>
                      <a:r>
                        <a:rPr lang="en-US" sz="2000" b="1" dirty="0">
                          <a:effectLst/>
                        </a:rPr>
                        <a:t>question</a:t>
                      </a:r>
                      <a:r>
                        <a:rPr lang="en-US" sz="2000" b="1" spc="-35" dirty="0">
                          <a:effectLst/>
                        </a:rPr>
                        <a:t> </a:t>
                      </a:r>
                      <a:r>
                        <a:rPr lang="en-US" sz="2000" b="1" dirty="0">
                          <a:effectLst/>
                        </a:rPr>
                        <a:t>to</a:t>
                      </a:r>
                      <a:r>
                        <a:rPr lang="en-US" sz="2000" b="1" spc="-40" dirty="0">
                          <a:effectLst/>
                        </a:rPr>
                        <a:t> </a:t>
                      </a:r>
                      <a:r>
                        <a:rPr lang="en-US" sz="2000" b="1" dirty="0">
                          <a:effectLst/>
                        </a:rPr>
                        <a:t>be</a:t>
                      </a:r>
                      <a:r>
                        <a:rPr lang="en-US" sz="2000" b="1" spc="-35" dirty="0">
                          <a:effectLst/>
                        </a:rPr>
                        <a:t> </a:t>
                      </a:r>
                      <a:r>
                        <a:rPr lang="en-US" sz="2000" b="1" dirty="0">
                          <a:effectLst/>
                        </a:rPr>
                        <a:t>tested</a:t>
                      </a:r>
                      <a:r>
                        <a:rPr lang="en-US" sz="2000" b="1" spc="-40" dirty="0">
                          <a:effectLst/>
                        </a:rPr>
                        <a:t> </a:t>
                      </a:r>
                      <a:r>
                        <a:rPr lang="en-US" sz="2000" b="1" dirty="0">
                          <a:effectLst/>
                        </a:rPr>
                        <a:t>by</a:t>
                      </a:r>
                      <a:r>
                        <a:rPr lang="en-US" sz="2000" b="1" spc="-40" dirty="0">
                          <a:effectLst/>
                        </a:rPr>
                        <a:t> </a:t>
                      </a:r>
                      <a:r>
                        <a:rPr lang="en-US" sz="2000" b="1" dirty="0">
                          <a:effectLst/>
                        </a:rPr>
                        <a:t>a</a:t>
                      </a:r>
                      <a:r>
                        <a:rPr lang="en-US" sz="2000" b="1" spc="-35" dirty="0">
                          <a:effectLst/>
                        </a:rPr>
                        <a:t> </a:t>
                      </a:r>
                      <a:r>
                        <a:rPr lang="en-US" sz="2000" b="1" dirty="0">
                          <a:effectLst/>
                        </a:rPr>
                        <a:t>scientific</a:t>
                      </a:r>
                      <a:r>
                        <a:rPr lang="en-US" sz="2000" b="1" spc="-40" dirty="0">
                          <a:effectLst/>
                        </a:rPr>
                        <a:t> </a:t>
                      </a:r>
                      <a:r>
                        <a:rPr lang="en-US" sz="2000" b="1" dirty="0">
                          <a:effectLst/>
                        </a:rPr>
                        <a:t>investigation</a:t>
                      </a:r>
                      <a:endParaRPr lang="en-US" sz="1400" b="1" dirty="0">
                        <a:effectLst/>
                      </a:endParaRPr>
                    </a:p>
                    <a:p>
                      <a:pPr marL="0" marR="0">
                        <a:spcBef>
                          <a:spcPts val="705"/>
                        </a:spcBef>
                        <a:spcAft>
                          <a:spcPts val="0"/>
                        </a:spcAft>
                        <a:tabLst>
                          <a:tab pos="359410" algn="l"/>
                          <a:tab pos="360045" algn="l"/>
                        </a:tabLst>
                      </a:pPr>
                      <a:r>
                        <a:rPr lang="en-US" sz="2000" b="1" dirty="0">
                          <a:effectLst/>
                        </a:rPr>
                        <a:t>ii) outline</a:t>
                      </a:r>
                      <a:r>
                        <a:rPr lang="en-US" sz="2000" b="1" spc="-50" dirty="0">
                          <a:effectLst/>
                        </a:rPr>
                        <a:t> </a:t>
                      </a:r>
                      <a:r>
                        <a:rPr lang="en-US" sz="2000" b="1" dirty="0">
                          <a:effectLst/>
                        </a:rPr>
                        <a:t>a</a:t>
                      </a:r>
                      <a:r>
                        <a:rPr lang="en-US" sz="2000" b="1" spc="-45" dirty="0">
                          <a:effectLst/>
                        </a:rPr>
                        <a:t> </a:t>
                      </a:r>
                      <a:r>
                        <a:rPr lang="en-US" sz="2000" b="1" dirty="0">
                          <a:effectLst/>
                        </a:rPr>
                        <a:t>testable</a:t>
                      </a:r>
                      <a:r>
                        <a:rPr lang="en-US" sz="2000" b="1" spc="-45" dirty="0">
                          <a:effectLst/>
                        </a:rPr>
                        <a:t> </a:t>
                      </a:r>
                      <a:r>
                        <a:rPr lang="en-US" sz="2000" b="1" dirty="0">
                          <a:effectLst/>
                        </a:rPr>
                        <a:t>prediction</a:t>
                      </a:r>
                      <a:r>
                        <a:rPr lang="en-US" sz="2000" b="1" spc="-45" dirty="0">
                          <a:effectLst/>
                        </a:rPr>
                        <a:t> </a:t>
                      </a:r>
                      <a:r>
                        <a:rPr lang="en-US" sz="2000" b="1" dirty="0">
                          <a:effectLst/>
                        </a:rPr>
                        <a:t>using</a:t>
                      </a:r>
                      <a:r>
                        <a:rPr lang="en-US" sz="2000" b="1" spc="-55" dirty="0">
                          <a:effectLst/>
                        </a:rPr>
                        <a:t> </a:t>
                      </a:r>
                      <a:r>
                        <a:rPr lang="en-US" sz="2000" b="1" dirty="0">
                          <a:effectLst/>
                        </a:rPr>
                        <a:t>scientific</a:t>
                      </a:r>
                      <a:r>
                        <a:rPr lang="en-US" sz="2000" b="1" spc="-55" dirty="0">
                          <a:effectLst/>
                        </a:rPr>
                        <a:t> </a:t>
                      </a:r>
                      <a:r>
                        <a:rPr lang="en-US" sz="2000" b="1" dirty="0">
                          <a:effectLst/>
                        </a:rPr>
                        <a:t>reasoning</a:t>
                      </a:r>
                      <a:endParaRPr lang="en-US" sz="1400" b="1" dirty="0">
                        <a:effectLst/>
                      </a:endParaRPr>
                    </a:p>
                    <a:p>
                      <a:pPr marL="0" marR="64135">
                        <a:lnSpc>
                          <a:spcPct val="111000"/>
                        </a:lnSpc>
                        <a:spcBef>
                          <a:spcPts val="705"/>
                        </a:spcBef>
                        <a:spcAft>
                          <a:spcPts val="0"/>
                        </a:spcAft>
                        <a:tabLst>
                          <a:tab pos="359410" algn="l"/>
                          <a:tab pos="360045" algn="l"/>
                        </a:tabLst>
                      </a:pPr>
                      <a:r>
                        <a:rPr lang="en-US" sz="2000" b="1" spc="35" dirty="0">
                          <a:effectLst/>
                        </a:rPr>
                        <a:t>iii) outline </a:t>
                      </a:r>
                      <a:r>
                        <a:rPr lang="en-US" sz="2000" b="1" spc="20" dirty="0">
                          <a:effectLst/>
                        </a:rPr>
                        <a:t>how </a:t>
                      </a:r>
                      <a:r>
                        <a:rPr lang="en-US" sz="2000" b="1" spc="15" dirty="0">
                          <a:effectLst/>
                        </a:rPr>
                        <a:t>to </a:t>
                      </a:r>
                      <a:r>
                        <a:rPr lang="en-US" sz="2000" b="1" spc="30" dirty="0">
                          <a:effectLst/>
                        </a:rPr>
                        <a:t>manipulate </a:t>
                      </a:r>
                      <a:r>
                        <a:rPr lang="en-US" sz="2000" b="1" spc="25" dirty="0">
                          <a:effectLst/>
                        </a:rPr>
                        <a:t>the </a:t>
                      </a:r>
                      <a:r>
                        <a:rPr lang="en-US" sz="2000" b="1" spc="30" dirty="0">
                          <a:effectLst/>
                        </a:rPr>
                        <a:t>variables, </a:t>
                      </a:r>
                      <a:r>
                        <a:rPr lang="en-US" sz="2000" b="1" spc="25" dirty="0">
                          <a:effectLst/>
                        </a:rPr>
                        <a:t>and </a:t>
                      </a:r>
                      <a:r>
                        <a:rPr lang="en-US" sz="2000" b="1" spc="35" dirty="0">
                          <a:effectLst/>
                        </a:rPr>
                        <a:t>outline </a:t>
                      </a:r>
                      <a:r>
                        <a:rPr lang="en-US" sz="2000" b="1" spc="20" dirty="0">
                          <a:effectLst/>
                        </a:rPr>
                        <a:t>how </a:t>
                      </a:r>
                      <a:r>
                        <a:rPr lang="en-US" sz="2000" b="1" spc="40" dirty="0">
                          <a:effectLst/>
                        </a:rPr>
                        <a:t>sufficient, </a:t>
                      </a:r>
                      <a:r>
                        <a:rPr lang="en-US" sz="2000" b="1" dirty="0">
                          <a:effectLst/>
                        </a:rPr>
                        <a:t>relevant data will be</a:t>
                      </a:r>
                      <a:r>
                        <a:rPr lang="en-US" sz="2000" b="1" spc="-110" dirty="0">
                          <a:effectLst/>
                        </a:rPr>
                        <a:t> </a:t>
                      </a:r>
                      <a:r>
                        <a:rPr lang="en-US" sz="2000" b="1" dirty="0">
                          <a:effectLst/>
                        </a:rPr>
                        <a:t>collected</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0756" marR="60756" marT="0" marB="0">
                    <a:noFill/>
                  </a:tcPr>
                </a:tc>
                <a:extLst>
                  <a:ext uri="{0D108BD9-81ED-4DB2-BD59-A6C34878D82A}">
                    <a16:rowId xmlns:a16="http://schemas.microsoft.com/office/drawing/2014/main" val="745155968"/>
                  </a:ext>
                </a:extLst>
              </a:tr>
            </a:tbl>
          </a:graphicData>
        </a:graphic>
      </p:graphicFrame>
    </p:spTree>
    <p:extLst>
      <p:ext uri="{BB962C8B-B14F-4D97-AF65-F5344CB8AC3E}">
        <p14:creationId xmlns:p14="http://schemas.microsoft.com/office/powerpoint/2010/main" val="33416032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7474"/>
            <a:ext cx="10515600" cy="810781"/>
          </a:xfrm>
        </p:spPr>
        <p:txBody>
          <a:bodyPr/>
          <a:lstStyle/>
          <a:p>
            <a:r>
              <a:rPr lang="en-US" dirty="0" smtClean="0"/>
              <a:t>Criterion C</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530762100"/>
              </p:ext>
            </p:extLst>
          </p:nvPr>
        </p:nvGraphicFramePr>
        <p:xfrm>
          <a:off x="1427018" y="928255"/>
          <a:ext cx="9033163" cy="5989320"/>
        </p:xfrm>
        <a:graphic>
          <a:graphicData uri="http://schemas.openxmlformats.org/drawingml/2006/table">
            <a:tbl>
              <a:tblPr firstRow="1" firstCol="1" bandRow="1">
                <a:tableStyleId>{5C22544A-7EE6-4342-B048-85BDC9FD1C3A}</a:tableStyleId>
              </a:tblPr>
              <a:tblGrid>
                <a:gridCol w="2239930">
                  <a:extLst>
                    <a:ext uri="{9D8B030D-6E8A-4147-A177-3AD203B41FA5}">
                      <a16:colId xmlns:a16="http://schemas.microsoft.com/office/drawing/2014/main" val="1061699645"/>
                    </a:ext>
                  </a:extLst>
                </a:gridCol>
                <a:gridCol w="2310311">
                  <a:extLst>
                    <a:ext uri="{9D8B030D-6E8A-4147-A177-3AD203B41FA5}">
                      <a16:colId xmlns:a16="http://schemas.microsoft.com/office/drawing/2014/main" val="364604585"/>
                    </a:ext>
                  </a:extLst>
                </a:gridCol>
                <a:gridCol w="2239930">
                  <a:extLst>
                    <a:ext uri="{9D8B030D-6E8A-4147-A177-3AD203B41FA5}">
                      <a16:colId xmlns:a16="http://schemas.microsoft.com/office/drawing/2014/main" val="3905709663"/>
                    </a:ext>
                  </a:extLst>
                </a:gridCol>
                <a:gridCol w="2242992">
                  <a:extLst>
                    <a:ext uri="{9D8B030D-6E8A-4147-A177-3AD203B41FA5}">
                      <a16:colId xmlns:a16="http://schemas.microsoft.com/office/drawing/2014/main" val="3313372956"/>
                    </a:ext>
                  </a:extLst>
                </a:gridCol>
              </a:tblGrid>
              <a:tr h="179317">
                <a:tc>
                  <a:txBody>
                    <a:bodyPr/>
                    <a:lstStyle/>
                    <a:p>
                      <a:pPr marL="0" marR="0">
                        <a:spcBef>
                          <a:spcPts val="0"/>
                        </a:spcBef>
                        <a:spcAft>
                          <a:spcPts val="0"/>
                        </a:spcAft>
                      </a:pPr>
                      <a:r>
                        <a:rPr lang="en-US" sz="1800" dirty="0">
                          <a:solidFill>
                            <a:srgbClr val="002060"/>
                          </a:solidFill>
                          <a:effectLst/>
                        </a:rPr>
                        <a:t>Level 1 and 2</a:t>
                      </a:r>
                      <a:endParaRPr lang="en-US" sz="1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49219" marR="49219" marT="0" marB="0">
                    <a:noFill/>
                  </a:tcPr>
                </a:tc>
                <a:tc>
                  <a:txBody>
                    <a:bodyPr/>
                    <a:lstStyle/>
                    <a:p>
                      <a:pPr marL="0" marR="0">
                        <a:spcBef>
                          <a:spcPts val="0"/>
                        </a:spcBef>
                        <a:spcAft>
                          <a:spcPts val="0"/>
                        </a:spcAft>
                      </a:pPr>
                      <a:r>
                        <a:rPr lang="en-US" sz="1800" dirty="0">
                          <a:solidFill>
                            <a:srgbClr val="002060"/>
                          </a:solidFill>
                          <a:effectLst/>
                        </a:rPr>
                        <a:t>Level 3 and 4</a:t>
                      </a:r>
                      <a:endParaRPr lang="en-US" sz="1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49219" marR="49219" marT="0" marB="0">
                    <a:noFill/>
                  </a:tcPr>
                </a:tc>
                <a:tc>
                  <a:txBody>
                    <a:bodyPr/>
                    <a:lstStyle/>
                    <a:p>
                      <a:pPr marL="0" marR="0">
                        <a:spcBef>
                          <a:spcPts val="0"/>
                        </a:spcBef>
                        <a:spcAft>
                          <a:spcPts val="0"/>
                        </a:spcAft>
                      </a:pPr>
                      <a:r>
                        <a:rPr lang="en-US" sz="1800" dirty="0">
                          <a:solidFill>
                            <a:srgbClr val="002060"/>
                          </a:solidFill>
                          <a:effectLst/>
                        </a:rPr>
                        <a:t>Level 5 and 6</a:t>
                      </a:r>
                      <a:endParaRPr lang="en-US" sz="1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49219" marR="49219" marT="0" marB="0">
                    <a:noFill/>
                  </a:tcPr>
                </a:tc>
                <a:tc>
                  <a:txBody>
                    <a:bodyPr/>
                    <a:lstStyle/>
                    <a:p>
                      <a:pPr marL="0" marR="0">
                        <a:spcBef>
                          <a:spcPts val="0"/>
                        </a:spcBef>
                        <a:spcAft>
                          <a:spcPts val="0"/>
                        </a:spcAft>
                      </a:pPr>
                      <a:r>
                        <a:rPr lang="en-US" sz="1800" dirty="0">
                          <a:solidFill>
                            <a:srgbClr val="002060"/>
                          </a:solidFill>
                          <a:effectLst/>
                        </a:rPr>
                        <a:t>Level 7 and 8</a:t>
                      </a:r>
                      <a:endParaRPr lang="en-US" sz="1400" dirty="0">
                        <a:solidFill>
                          <a:srgbClr val="002060"/>
                        </a:solidFill>
                        <a:effectLst/>
                        <a:latin typeface="Calibri" panose="020F0502020204030204" pitchFamily="34" charset="0"/>
                        <a:ea typeface="Calibri" panose="020F0502020204030204" pitchFamily="34" charset="0"/>
                        <a:cs typeface="Times New Roman" panose="02020603050405020304" pitchFamily="18" charset="0"/>
                      </a:endParaRPr>
                    </a:p>
                  </a:txBody>
                  <a:tcPr marL="49219" marR="49219" marT="0" marB="0">
                    <a:noFill/>
                  </a:tcPr>
                </a:tc>
                <a:extLst>
                  <a:ext uri="{0D108BD9-81ED-4DB2-BD59-A6C34878D82A}">
                    <a16:rowId xmlns:a16="http://schemas.microsoft.com/office/drawing/2014/main" val="3568059411"/>
                  </a:ext>
                </a:extLst>
              </a:tr>
              <a:tr h="5055537">
                <a:tc>
                  <a:txBody>
                    <a:bodyPr/>
                    <a:lstStyle/>
                    <a:p>
                      <a:pPr marL="0" marR="0">
                        <a:spcBef>
                          <a:spcPts val="735"/>
                        </a:spcBef>
                        <a:spcAft>
                          <a:spcPts val="0"/>
                        </a:spcAft>
                      </a:pPr>
                      <a:r>
                        <a:rPr lang="en-US" sz="1800" dirty="0">
                          <a:solidFill>
                            <a:schemeClr val="tx1"/>
                          </a:solidFill>
                          <a:effectLst/>
                        </a:rPr>
                        <a:t>The student is able to:</a:t>
                      </a:r>
                      <a:endParaRPr lang="en-US" sz="1400" dirty="0">
                        <a:solidFill>
                          <a:schemeClr val="tx1"/>
                        </a:solidFill>
                        <a:effectLst/>
                      </a:endParaRPr>
                    </a:p>
                    <a:p>
                      <a:pPr marL="71755" marR="64135">
                        <a:spcBef>
                          <a:spcPts val="705"/>
                        </a:spcBef>
                        <a:spcAft>
                          <a:spcPts val="0"/>
                        </a:spcAft>
                        <a:tabLst>
                          <a:tab pos="359410" algn="l"/>
                          <a:tab pos="360045" algn="l"/>
                        </a:tabLst>
                      </a:pPr>
                      <a:r>
                        <a:rPr lang="en-US" sz="1800" spc="25" dirty="0">
                          <a:solidFill>
                            <a:schemeClr val="tx1"/>
                          </a:solidFill>
                          <a:effectLst/>
                        </a:rPr>
                        <a:t>ii. interpret data</a:t>
                      </a:r>
                      <a:endParaRPr lang="en-US" sz="1400" dirty="0">
                        <a:solidFill>
                          <a:schemeClr val="tx1"/>
                        </a:solidFill>
                        <a:effectLst/>
                      </a:endParaRPr>
                    </a:p>
                    <a:p>
                      <a:pPr marL="0" marR="0">
                        <a:spcBef>
                          <a:spcPts val="0"/>
                        </a:spcBef>
                        <a:spcAft>
                          <a:spcPts val="0"/>
                        </a:spcAft>
                      </a:pPr>
                      <a:r>
                        <a:rPr lang="en-US" sz="1800" dirty="0">
                          <a:solidFill>
                            <a:schemeClr val="tx1"/>
                          </a:solidFill>
                          <a:effectLst/>
                        </a:rPr>
                        <a:t> </a:t>
                      </a:r>
                      <a:endParaRPr lang="en-US" sz="1400" dirty="0">
                        <a:solidFill>
                          <a:schemeClr val="tx1"/>
                        </a:solidFill>
                        <a:effectLst/>
                      </a:endParaRPr>
                    </a:p>
                    <a:p>
                      <a:pPr marL="0" marR="0">
                        <a:spcBef>
                          <a:spcPts val="0"/>
                        </a:spcBef>
                        <a:spcAft>
                          <a:spcPts val="0"/>
                        </a:spcAft>
                      </a:pPr>
                      <a:r>
                        <a:rPr lang="en-US" sz="1800" dirty="0">
                          <a:solidFill>
                            <a:schemeClr val="tx1"/>
                          </a:solidFill>
                          <a:effectLst/>
                        </a:rPr>
                        <a:t>iii. state the validity of a prediction based on the outcome of a scientific investigation, with limited success</a:t>
                      </a:r>
                      <a:endParaRPr lang="en-US" sz="1400" dirty="0">
                        <a:solidFill>
                          <a:schemeClr val="tx1"/>
                        </a:solidFill>
                        <a:effectLst/>
                      </a:endParaRPr>
                    </a:p>
                    <a:p>
                      <a:pPr marL="0" marR="0">
                        <a:spcBef>
                          <a:spcPts val="0"/>
                        </a:spcBef>
                        <a:spcAft>
                          <a:spcPts val="0"/>
                        </a:spcAft>
                      </a:pPr>
                      <a:r>
                        <a:rPr lang="en-US" sz="1800" dirty="0">
                          <a:solidFill>
                            <a:schemeClr val="tx1"/>
                          </a:solidFill>
                          <a:effectLst/>
                        </a:rPr>
                        <a:t> </a:t>
                      </a:r>
                      <a:endParaRPr lang="en-US" sz="1400" dirty="0">
                        <a:solidFill>
                          <a:schemeClr val="tx1"/>
                        </a:solidFill>
                        <a:effectLst/>
                      </a:endParaRPr>
                    </a:p>
                    <a:p>
                      <a:pPr marL="0" marR="0">
                        <a:spcBef>
                          <a:spcPts val="0"/>
                        </a:spcBef>
                        <a:spcAft>
                          <a:spcPts val="0"/>
                        </a:spcAft>
                      </a:pPr>
                      <a:r>
                        <a:rPr lang="en-US" sz="1800" dirty="0">
                          <a:solidFill>
                            <a:schemeClr val="tx1"/>
                          </a:solidFill>
                          <a:effectLst/>
                        </a:rPr>
                        <a:t>v. state improvements or extensions to the method that would benefit the scientific investigation, with limited success</a:t>
                      </a:r>
                      <a:endParaRPr lang="en-US" sz="1400" dirty="0">
                        <a:solidFill>
                          <a:schemeClr val="tx1"/>
                        </a:solidFill>
                        <a:effectLst/>
                      </a:endParaRPr>
                    </a:p>
                    <a:p>
                      <a:pPr marL="0" marR="0">
                        <a:spcBef>
                          <a:spcPts val="0"/>
                        </a:spcBef>
                        <a:spcAft>
                          <a:spcPts val="0"/>
                        </a:spcAft>
                      </a:pPr>
                      <a:r>
                        <a:rPr lang="en-US" sz="1800" dirty="0">
                          <a:effectLst/>
                        </a:rPr>
                        <a:t> </a:t>
                      </a:r>
                      <a:endParaRPr lang="en-US" sz="1400" dirty="0">
                        <a:effectLst/>
                      </a:endParaRPr>
                    </a:p>
                    <a:p>
                      <a:pPr marL="0" marR="0">
                        <a:spcBef>
                          <a:spcPts val="0"/>
                        </a:spcBef>
                        <a:spcAft>
                          <a:spcPts val="0"/>
                        </a:spcAft>
                      </a:pPr>
                      <a:r>
                        <a:rPr lang="en-US" sz="1800" dirty="0">
                          <a:effectLst/>
                        </a:rPr>
                        <a:t> </a:t>
                      </a:r>
                      <a:endParaRPr lang="en-US" sz="1400" dirty="0">
                        <a:effectLst/>
                      </a:endParaRPr>
                    </a:p>
                    <a:p>
                      <a:pPr marL="0" marR="0">
                        <a:spcBef>
                          <a:spcPts val="0"/>
                        </a:spcBef>
                        <a:spcAft>
                          <a:spcPts val="0"/>
                        </a:spcAft>
                      </a:pPr>
                      <a:r>
                        <a:rPr lang="en-US" sz="1800" dirty="0">
                          <a:effectLst/>
                        </a:rPr>
                        <a:t> </a:t>
                      </a:r>
                      <a:endParaRPr lang="en-US" sz="1400" dirty="0">
                        <a:effectLst/>
                      </a:endParaRPr>
                    </a:p>
                    <a:p>
                      <a:pPr marL="0" marR="0">
                        <a:spcBef>
                          <a:spcPts val="0"/>
                        </a:spcBef>
                        <a:spcAft>
                          <a:spcPts val="0"/>
                        </a:spcAft>
                      </a:pPr>
                      <a:r>
                        <a:rPr lang="en-US" sz="1800" dirty="0">
                          <a:effectLst/>
                        </a:rPr>
                        <a:t>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49219" marR="49219" marT="0" marB="0">
                    <a:noFill/>
                  </a:tcPr>
                </a:tc>
                <a:tc>
                  <a:txBody>
                    <a:bodyPr/>
                    <a:lstStyle/>
                    <a:p>
                      <a:pPr marL="0" marR="0">
                        <a:spcBef>
                          <a:spcPts val="345"/>
                        </a:spcBef>
                        <a:spcAft>
                          <a:spcPts val="0"/>
                        </a:spcAft>
                      </a:pPr>
                      <a:r>
                        <a:rPr lang="en-US" sz="1800" b="1" dirty="0">
                          <a:effectLst/>
                        </a:rPr>
                        <a:t>The student is able to:</a:t>
                      </a:r>
                      <a:endParaRPr lang="en-US" sz="1400" b="1" dirty="0">
                        <a:effectLst/>
                      </a:endParaRPr>
                    </a:p>
                    <a:p>
                      <a:pPr marL="71755" marR="64135">
                        <a:spcBef>
                          <a:spcPts val="705"/>
                        </a:spcBef>
                        <a:spcAft>
                          <a:spcPts val="0"/>
                        </a:spcAft>
                        <a:tabLst>
                          <a:tab pos="359410" algn="l"/>
                          <a:tab pos="360045" algn="l"/>
                        </a:tabLst>
                      </a:pPr>
                      <a:r>
                        <a:rPr lang="en-US" sz="1800" b="1" spc="25" dirty="0">
                          <a:effectLst/>
                        </a:rPr>
                        <a:t>ii. accurately interpret data and outline results</a:t>
                      </a:r>
                      <a:endParaRPr lang="en-US" sz="1400" b="1" dirty="0">
                        <a:effectLst/>
                      </a:endParaRPr>
                    </a:p>
                    <a:p>
                      <a:pPr marL="0" marR="0">
                        <a:spcBef>
                          <a:spcPts val="0"/>
                        </a:spcBef>
                        <a:spcAft>
                          <a:spcPts val="0"/>
                        </a:spcAft>
                      </a:pPr>
                      <a:r>
                        <a:rPr lang="en-US" sz="1800" b="1" dirty="0">
                          <a:effectLst/>
                        </a:rPr>
                        <a:t> </a:t>
                      </a:r>
                      <a:endParaRPr lang="en-US" sz="1400" b="1" dirty="0">
                        <a:effectLst/>
                      </a:endParaRPr>
                    </a:p>
                    <a:p>
                      <a:pPr marL="0" marR="0">
                        <a:spcBef>
                          <a:spcPts val="0"/>
                        </a:spcBef>
                        <a:spcAft>
                          <a:spcPts val="0"/>
                        </a:spcAft>
                      </a:pPr>
                      <a:r>
                        <a:rPr lang="en-US" sz="1800" b="1" dirty="0">
                          <a:effectLst/>
                        </a:rPr>
                        <a:t>iii. state the validity of a prediction based on the outcome of a scientific investigation</a:t>
                      </a:r>
                      <a:endParaRPr lang="en-US" sz="1400" b="1" dirty="0">
                        <a:effectLst/>
                      </a:endParaRPr>
                    </a:p>
                    <a:p>
                      <a:pPr marL="0" marR="0">
                        <a:spcBef>
                          <a:spcPts val="0"/>
                        </a:spcBef>
                        <a:spcAft>
                          <a:spcPts val="0"/>
                        </a:spcAft>
                      </a:pPr>
                      <a:r>
                        <a:rPr lang="en-US" sz="1800" b="1" dirty="0">
                          <a:effectLst/>
                        </a:rPr>
                        <a:t> </a:t>
                      </a:r>
                      <a:endParaRPr lang="en-US" sz="1400" b="1" dirty="0">
                        <a:effectLst/>
                      </a:endParaRPr>
                    </a:p>
                    <a:p>
                      <a:pPr marL="0" marR="0">
                        <a:spcBef>
                          <a:spcPts val="0"/>
                        </a:spcBef>
                        <a:spcAft>
                          <a:spcPts val="0"/>
                        </a:spcAft>
                      </a:pPr>
                      <a:r>
                        <a:rPr lang="en-US" sz="1800" b="1" dirty="0">
                          <a:effectLst/>
                        </a:rPr>
                        <a:t>v. state improvements or extensions to the method that would benefit the scientific investigation</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49219" marR="49219" marT="0" marB="0">
                    <a:noFill/>
                  </a:tcPr>
                </a:tc>
                <a:tc>
                  <a:txBody>
                    <a:bodyPr/>
                    <a:lstStyle/>
                    <a:p>
                      <a:pPr marL="71755" marR="0">
                        <a:spcBef>
                          <a:spcPts val="345"/>
                        </a:spcBef>
                        <a:spcAft>
                          <a:spcPts val="0"/>
                        </a:spcAft>
                      </a:pPr>
                      <a:r>
                        <a:rPr lang="en-US" sz="1800" b="1" dirty="0">
                          <a:effectLst/>
                        </a:rPr>
                        <a:t>The student is able to:</a:t>
                      </a:r>
                      <a:endParaRPr lang="en-US" sz="1400" b="1" dirty="0">
                        <a:effectLst/>
                      </a:endParaRPr>
                    </a:p>
                    <a:p>
                      <a:pPr marL="71755" marR="0">
                        <a:spcBef>
                          <a:spcPts val="570"/>
                        </a:spcBef>
                        <a:spcAft>
                          <a:spcPts val="0"/>
                        </a:spcAft>
                        <a:tabLst>
                          <a:tab pos="359410" algn="l"/>
                          <a:tab pos="360045" algn="l"/>
                        </a:tabLst>
                      </a:pPr>
                      <a:r>
                        <a:rPr lang="en-US" sz="1800" b="1" spc="20" dirty="0">
                          <a:effectLst/>
                        </a:rPr>
                        <a:t>ii. </a:t>
                      </a:r>
                      <a:r>
                        <a:rPr lang="en-US" sz="1800" b="1" dirty="0">
                          <a:effectLst/>
                        </a:rPr>
                        <a:t>accurately</a:t>
                      </a:r>
                      <a:r>
                        <a:rPr lang="en-US" sz="1800" b="1" spc="-75" dirty="0">
                          <a:effectLst/>
                        </a:rPr>
                        <a:t> </a:t>
                      </a:r>
                      <a:r>
                        <a:rPr lang="en-US" sz="1800" b="1" dirty="0">
                          <a:effectLst/>
                        </a:rPr>
                        <a:t>interpret</a:t>
                      </a:r>
                      <a:r>
                        <a:rPr lang="en-US" sz="1800" b="1" spc="-65" dirty="0">
                          <a:effectLst/>
                        </a:rPr>
                        <a:t> </a:t>
                      </a:r>
                      <a:r>
                        <a:rPr lang="en-US" sz="1800" b="1" dirty="0">
                          <a:effectLst/>
                        </a:rPr>
                        <a:t>data</a:t>
                      </a:r>
                      <a:r>
                        <a:rPr lang="en-US" sz="1800" b="1" spc="-65" dirty="0">
                          <a:effectLst/>
                        </a:rPr>
                        <a:t> </a:t>
                      </a:r>
                      <a:r>
                        <a:rPr lang="en-US" sz="1800" b="1" dirty="0">
                          <a:effectLst/>
                        </a:rPr>
                        <a:t>and</a:t>
                      </a:r>
                      <a:r>
                        <a:rPr lang="en-US" sz="1800" b="1" spc="-65" dirty="0">
                          <a:effectLst/>
                        </a:rPr>
                        <a:t> </a:t>
                      </a:r>
                      <a:r>
                        <a:rPr lang="en-US" sz="1800" b="1" dirty="0">
                          <a:effectLst/>
                        </a:rPr>
                        <a:t>outline</a:t>
                      </a:r>
                      <a:r>
                        <a:rPr lang="en-US" sz="1800" b="1" spc="-65" dirty="0">
                          <a:effectLst/>
                        </a:rPr>
                        <a:t> </a:t>
                      </a:r>
                      <a:r>
                        <a:rPr lang="en-US" sz="1800" b="1" dirty="0">
                          <a:effectLst/>
                        </a:rPr>
                        <a:t>results</a:t>
                      </a:r>
                      <a:r>
                        <a:rPr lang="en-US" sz="1800" b="1" spc="-65" dirty="0">
                          <a:effectLst/>
                        </a:rPr>
                        <a:t> </a:t>
                      </a:r>
                      <a:r>
                        <a:rPr lang="en-US" sz="1800" b="1" dirty="0">
                          <a:effectLst/>
                        </a:rPr>
                        <a:t>using</a:t>
                      </a:r>
                      <a:r>
                        <a:rPr lang="en-US" sz="1800" b="1" spc="-70" dirty="0">
                          <a:effectLst/>
                        </a:rPr>
                        <a:t> </a:t>
                      </a:r>
                      <a:r>
                        <a:rPr lang="en-US" sz="1800" b="1" dirty="0">
                          <a:effectLst/>
                        </a:rPr>
                        <a:t>scientific</a:t>
                      </a:r>
                      <a:r>
                        <a:rPr lang="en-US" sz="1800" b="1" spc="-75" dirty="0">
                          <a:effectLst/>
                        </a:rPr>
                        <a:t> </a:t>
                      </a:r>
                      <a:r>
                        <a:rPr lang="en-US" sz="1800" b="1" dirty="0">
                          <a:effectLst/>
                        </a:rPr>
                        <a:t>reasoning</a:t>
                      </a:r>
                      <a:endParaRPr lang="en-US" sz="1400" b="1" dirty="0">
                        <a:effectLst/>
                      </a:endParaRPr>
                    </a:p>
                    <a:p>
                      <a:pPr marL="71755" marR="0">
                        <a:spcBef>
                          <a:spcPts val="705"/>
                        </a:spcBef>
                        <a:spcAft>
                          <a:spcPts val="0"/>
                        </a:spcAft>
                        <a:tabLst>
                          <a:tab pos="359410" algn="l"/>
                          <a:tab pos="360680" algn="l"/>
                        </a:tabLst>
                      </a:pPr>
                      <a:r>
                        <a:rPr lang="en-US" sz="1800" b="1" dirty="0">
                          <a:effectLst/>
                        </a:rPr>
                        <a:t> </a:t>
                      </a:r>
                      <a:endParaRPr lang="en-US" sz="1400" b="1" dirty="0">
                        <a:effectLst/>
                      </a:endParaRPr>
                    </a:p>
                    <a:p>
                      <a:pPr marL="0" marR="0">
                        <a:spcBef>
                          <a:spcPts val="0"/>
                        </a:spcBef>
                        <a:spcAft>
                          <a:spcPts val="0"/>
                        </a:spcAft>
                      </a:pPr>
                      <a:r>
                        <a:rPr lang="en-US" sz="1800" b="1" dirty="0">
                          <a:effectLst/>
                        </a:rPr>
                        <a:t>iii. outline the validity of a prediction based on the outcome of a scientific investigation </a:t>
                      </a:r>
                      <a:endParaRPr lang="en-US" sz="1400" b="1" dirty="0">
                        <a:effectLst/>
                      </a:endParaRPr>
                    </a:p>
                    <a:p>
                      <a:pPr marL="0" marR="0">
                        <a:spcBef>
                          <a:spcPts val="0"/>
                        </a:spcBef>
                        <a:spcAft>
                          <a:spcPts val="0"/>
                        </a:spcAft>
                      </a:pPr>
                      <a:r>
                        <a:rPr lang="en-US" sz="1800" b="1" dirty="0">
                          <a:effectLst/>
                        </a:rPr>
                        <a:t> </a:t>
                      </a:r>
                      <a:endParaRPr lang="en-US" sz="1400" b="1" dirty="0">
                        <a:effectLst/>
                      </a:endParaRPr>
                    </a:p>
                    <a:p>
                      <a:pPr marL="0" marR="0">
                        <a:spcBef>
                          <a:spcPts val="0"/>
                        </a:spcBef>
                        <a:spcAft>
                          <a:spcPts val="0"/>
                        </a:spcAft>
                      </a:pPr>
                      <a:r>
                        <a:rPr lang="en-US" sz="1800" b="1" dirty="0">
                          <a:effectLst/>
                        </a:rPr>
                        <a:t>v. outline improvements or extensions to the method that would benefit the scientific investigation</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49219" marR="49219" marT="0" marB="0">
                    <a:noFill/>
                  </a:tcPr>
                </a:tc>
                <a:tc>
                  <a:txBody>
                    <a:bodyPr/>
                    <a:lstStyle/>
                    <a:p>
                      <a:pPr marL="71755" marR="0">
                        <a:spcBef>
                          <a:spcPts val="345"/>
                        </a:spcBef>
                        <a:spcAft>
                          <a:spcPts val="0"/>
                        </a:spcAft>
                      </a:pPr>
                      <a:r>
                        <a:rPr lang="en-US" sz="1800" b="1" dirty="0">
                          <a:effectLst/>
                        </a:rPr>
                        <a:t>The student is able to:</a:t>
                      </a:r>
                      <a:endParaRPr lang="en-US" sz="1400" b="1" dirty="0">
                        <a:effectLst/>
                      </a:endParaRPr>
                    </a:p>
                    <a:p>
                      <a:pPr marL="71755" marR="59690">
                        <a:spcBef>
                          <a:spcPts val="570"/>
                        </a:spcBef>
                        <a:spcAft>
                          <a:spcPts val="0"/>
                        </a:spcAft>
                        <a:tabLst>
                          <a:tab pos="359410" algn="l"/>
                          <a:tab pos="360045" algn="l"/>
                        </a:tabLst>
                      </a:pPr>
                      <a:r>
                        <a:rPr lang="en-US" sz="1800" b="1" spc="20" dirty="0">
                          <a:effectLst/>
                        </a:rPr>
                        <a:t>ii.</a:t>
                      </a:r>
                      <a:r>
                        <a:rPr lang="en-US" sz="1800" b="1" spc="30" dirty="0">
                          <a:effectLst/>
                        </a:rPr>
                        <a:t> accurately</a:t>
                      </a:r>
                      <a:r>
                        <a:rPr lang="en-US" sz="1800" b="1" spc="-35" dirty="0">
                          <a:effectLst/>
                        </a:rPr>
                        <a:t> </a:t>
                      </a:r>
                      <a:r>
                        <a:rPr lang="en-US" sz="1800" b="1" spc="30" dirty="0">
                          <a:effectLst/>
                        </a:rPr>
                        <a:t>interpret</a:t>
                      </a:r>
                      <a:r>
                        <a:rPr lang="en-US" sz="1800" b="1" spc="-35" dirty="0">
                          <a:effectLst/>
                        </a:rPr>
                        <a:t> </a:t>
                      </a:r>
                      <a:r>
                        <a:rPr lang="en-US" sz="1800" b="1" spc="25" dirty="0">
                          <a:effectLst/>
                        </a:rPr>
                        <a:t>data</a:t>
                      </a:r>
                      <a:r>
                        <a:rPr lang="en-US" sz="1800" b="1" spc="-25" dirty="0">
                          <a:effectLst/>
                        </a:rPr>
                        <a:t> </a:t>
                      </a:r>
                      <a:r>
                        <a:rPr lang="en-US" sz="1800" b="1" spc="20" dirty="0">
                          <a:effectLst/>
                        </a:rPr>
                        <a:t>and</a:t>
                      </a:r>
                      <a:r>
                        <a:rPr lang="en-US" sz="1800" b="1" spc="-20" dirty="0">
                          <a:effectLst/>
                        </a:rPr>
                        <a:t> </a:t>
                      </a:r>
                      <a:r>
                        <a:rPr lang="en-US" sz="1800" b="1" spc="30" dirty="0">
                          <a:effectLst/>
                        </a:rPr>
                        <a:t>outline</a:t>
                      </a:r>
                      <a:r>
                        <a:rPr lang="en-US" sz="1800" b="1" spc="-25" dirty="0">
                          <a:effectLst/>
                        </a:rPr>
                        <a:t> </a:t>
                      </a:r>
                      <a:r>
                        <a:rPr lang="en-US" sz="1800" b="1" spc="25" dirty="0">
                          <a:effectLst/>
                        </a:rPr>
                        <a:t>results</a:t>
                      </a:r>
                      <a:r>
                        <a:rPr lang="en-US" sz="1800" b="1" spc="-20" dirty="0">
                          <a:effectLst/>
                        </a:rPr>
                        <a:t> </a:t>
                      </a:r>
                      <a:r>
                        <a:rPr lang="en-US" sz="1800" b="1" spc="25" dirty="0">
                          <a:effectLst/>
                        </a:rPr>
                        <a:t>using</a:t>
                      </a:r>
                      <a:r>
                        <a:rPr lang="en-US" sz="1800" b="1" spc="-35" dirty="0">
                          <a:effectLst/>
                        </a:rPr>
                        <a:t> </a:t>
                      </a:r>
                      <a:r>
                        <a:rPr lang="en-US" sz="1800" b="1" spc="30" dirty="0">
                          <a:effectLst/>
                        </a:rPr>
                        <a:t>correct</a:t>
                      </a:r>
                      <a:r>
                        <a:rPr lang="en-US" sz="1800" b="1" spc="-35" dirty="0">
                          <a:effectLst/>
                        </a:rPr>
                        <a:t> </a:t>
                      </a:r>
                      <a:r>
                        <a:rPr lang="en-US" sz="1800" b="1" spc="35" dirty="0">
                          <a:effectLst/>
                        </a:rPr>
                        <a:t>scientific </a:t>
                      </a:r>
                      <a:r>
                        <a:rPr lang="en-US" sz="1800" b="1" dirty="0">
                          <a:effectLst/>
                        </a:rPr>
                        <a:t>reasoning</a:t>
                      </a:r>
                      <a:endParaRPr lang="en-US" sz="1400" b="1" dirty="0">
                        <a:effectLst/>
                      </a:endParaRPr>
                    </a:p>
                    <a:p>
                      <a:pPr marL="71755" marR="59690">
                        <a:spcBef>
                          <a:spcPts val="570"/>
                        </a:spcBef>
                        <a:spcAft>
                          <a:spcPts val="0"/>
                        </a:spcAft>
                        <a:tabLst>
                          <a:tab pos="359410" algn="l"/>
                          <a:tab pos="360045" algn="l"/>
                        </a:tabLst>
                      </a:pPr>
                      <a:r>
                        <a:rPr lang="en-US" sz="1800" b="1" dirty="0">
                          <a:effectLst/>
                        </a:rPr>
                        <a:t>iii. discuss the validity of a prediction based on the outcome of a scientific investigation</a:t>
                      </a:r>
                      <a:endParaRPr lang="en-US" sz="1400" b="1" dirty="0">
                        <a:effectLst/>
                      </a:endParaRPr>
                    </a:p>
                    <a:p>
                      <a:pPr marL="71755" marR="59690">
                        <a:spcBef>
                          <a:spcPts val="570"/>
                        </a:spcBef>
                        <a:spcAft>
                          <a:spcPts val="0"/>
                        </a:spcAft>
                        <a:tabLst>
                          <a:tab pos="359410" algn="l"/>
                          <a:tab pos="360045" algn="l"/>
                        </a:tabLst>
                      </a:pPr>
                      <a:r>
                        <a:rPr lang="en-US" sz="1800" b="1" dirty="0">
                          <a:effectLst/>
                        </a:rPr>
                        <a:t>v. describe improvements or extensions to the method that would benefit the scientific </a:t>
                      </a:r>
                      <a:r>
                        <a:rPr lang="en-US" sz="1800" b="1" dirty="0" smtClean="0">
                          <a:effectLst/>
                        </a:rPr>
                        <a:t>investigation</a:t>
                      </a:r>
                      <a:endParaRPr lang="en-US" sz="1400" b="1" dirty="0">
                        <a:effectLst/>
                      </a:endParaRPr>
                    </a:p>
                    <a:p>
                      <a:pPr marL="0" marR="0">
                        <a:spcBef>
                          <a:spcPts val="0"/>
                        </a:spcBef>
                        <a:spcAft>
                          <a:spcPts val="0"/>
                        </a:spcAft>
                      </a:pPr>
                      <a:r>
                        <a:rPr lang="en-US" sz="1800" b="1" dirty="0">
                          <a:effectLst/>
                        </a:rPr>
                        <a:t> </a:t>
                      </a:r>
                      <a:endParaRPr lang="en-US"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49219" marR="49219" marT="0" marB="0">
                    <a:noFill/>
                  </a:tcPr>
                </a:tc>
                <a:extLst>
                  <a:ext uri="{0D108BD9-81ED-4DB2-BD59-A6C34878D82A}">
                    <a16:rowId xmlns:a16="http://schemas.microsoft.com/office/drawing/2014/main" val="1462507809"/>
                  </a:ext>
                </a:extLst>
              </a:tr>
            </a:tbl>
          </a:graphicData>
        </a:graphic>
      </p:graphicFrame>
    </p:spTree>
    <p:extLst>
      <p:ext uri="{BB962C8B-B14F-4D97-AF65-F5344CB8AC3E}">
        <p14:creationId xmlns:p14="http://schemas.microsoft.com/office/powerpoint/2010/main" val="31211416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2537</TotalTime>
  <Words>2011</Words>
  <Application>Microsoft Office PowerPoint</Application>
  <PresentationFormat>Widescreen</PresentationFormat>
  <Paragraphs>243</Paragraphs>
  <Slides>28</Slides>
  <Notes>9</Notes>
  <HiddenSlides>1</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28</vt:i4>
      </vt:variant>
    </vt:vector>
  </HeadingPairs>
  <TitlesOfParts>
    <vt:vector size="37" baseType="lpstr">
      <vt:lpstr>Arial</vt:lpstr>
      <vt:lpstr>Calibri</vt:lpstr>
      <vt:lpstr>Calibri Light</vt:lpstr>
      <vt:lpstr>Lobster</vt:lpstr>
      <vt:lpstr>Symbol</vt:lpstr>
      <vt:lpstr>Times New Roman</vt:lpstr>
      <vt:lpstr>Trebuchet MS</vt:lpstr>
      <vt:lpstr>Office Theme</vt:lpstr>
      <vt:lpstr>1_Office Theme</vt:lpstr>
      <vt:lpstr>Scientific Method</vt:lpstr>
      <vt:lpstr>Scientific Method</vt:lpstr>
      <vt:lpstr>Overview of the Steps that scientists follow in the Scientific Method:</vt:lpstr>
      <vt:lpstr>Example: Pumpkin throwing investigation to understand the parts of experiment design  </vt:lpstr>
      <vt:lpstr>Variables in a Scientific experiment</vt:lpstr>
      <vt:lpstr>Variables in Pumpkin Throwing Investigation</vt:lpstr>
      <vt:lpstr>Clare wants to find out if water boils faster when salt is added to it or does it boil faster without salt added to it.</vt:lpstr>
      <vt:lpstr>Boiling water with / without salt experiment</vt:lpstr>
      <vt:lpstr>PowerPoint Presentation</vt:lpstr>
      <vt:lpstr>PowerPoint Presentation</vt:lpstr>
      <vt:lpstr>Research question:</vt:lpstr>
      <vt:lpstr>Independent Variable vs. Dependent Variable</vt:lpstr>
      <vt:lpstr>Steps in the Scientific Method with details:</vt:lpstr>
      <vt:lpstr>PowerPoint Presentation</vt:lpstr>
      <vt:lpstr>Testable Question</vt:lpstr>
      <vt:lpstr>Hypothesis</vt:lpstr>
      <vt:lpstr>Tips to form a good hypothesis</vt:lpstr>
      <vt:lpstr>The Elements of a good hypothesis:  </vt:lpstr>
      <vt:lpstr>PowerPoint Presentation</vt:lpstr>
      <vt:lpstr>What’s not a good hypothesis</vt:lpstr>
      <vt:lpstr>PowerPoint Presentation</vt:lpstr>
      <vt:lpstr>More examples of a hypothesis:</vt:lpstr>
      <vt:lpstr>PowerPoint Presentation</vt:lpstr>
      <vt:lpstr>Designing observation table (Testing the impact of mass of a ball(IV) on distance covered(DV)) :</vt:lpstr>
      <vt:lpstr>Reflecting on improvements to method  :  </vt:lpstr>
      <vt:lpstr>Safety and procedural Precautions:  </vt:lpstr>
      <vt:lpstr>Criterion B</vt:lpstr>
      <vt:lpstr>Criterion C</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Sandya Manojkumar</dc:creator>
  <cp:lastModifiedBy>Sandya Manojkumar</cp:lastModifiedBy>
  <cp:revision>50</cp:revision>
  <dcterms:created xsi:type="dcterms:W3CDTF">2021-08-11T09:32:01Z</dcterms:created>
  <dcterms:modified xsi:type="dcterms:W3CDTF">2023-08-22T06:47:12Z</dcterms:modified>
</cp:coreProperties>
</file>