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2" r:id="rId2"/>
    <p:sldId id="298" r:id="rId3"/>
    <p:sldId id="293" r:id="rId4"/>
    <p:sldId id="294" r:id="rId5"/>
    <p:sldId id="295" r:id="rId6"/>
    <p:sldId id="296" r:id="rId7"/>
    <p:sldId id="256" r:id="rId8"/>
    <p:sldId id="257" r:id="rId9"/>
    <p:sldId id="299" r:id="rId10"/>
    <p:sldId id="274" r:id="rId11"/>
    <p:sldId id="290" r:id="rId12"/>
    <p:sldId id="291" r:id="rId13"/>
    <p:sldId id="276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9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DD851-8B36-486A-934A-B68C4E32590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35FC-D033-4A7D-8428-F1D02632A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6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yjus.com/maths/area-of-irregular-shapes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form: https://forms.office.com/r/N0gcXwDT3K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E328E-158F-422B-8DB9-ABAE53DDC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92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35FC-D033-4A7D-8428-F1D02632A9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35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35FC-D033-4A7D-8428-F1D02632A9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30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i="0" u="sng" strike="noStrike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3"/>
              </a:rPr>
              <a:t>https://byjus.com/maths/area-of-irregular-shapes/</a:t>
            </a:r>
            <a:r>
              <a:rPr lang="en-IN" sz="12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IN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35FC-D033-4A7D-8428-F1D02632A9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73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B6C9ED-0864-47D4-A8DA-63BA0108AA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03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3A51-7C25-B403-C8D6-D233ECF3E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91DD9-9390-2A62-DB45-6723D3FBF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C90DF-341C-29B9-00AF-756A6D4E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29C49-D23C-886F-84C0-E8B2D1F10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31E90-2A5C-B12E-C0CE-5DD8522D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1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19F0-8D78-0FEA-4EA0-058D0D92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B5C9E-A0D4-221E-F1B4-986241A6A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6F869-78B2-6E97-2EA7-7F557E6D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AC235-2F3A-51EE-01BD-5AF87E7C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BC59A-FB20-8625-6C7C-72D9D651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9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0628-2A85-77EC-D1F2-60C2D7DF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6F338-BEC5-6228-4FDB-3D27CA62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17152-31F4-1A85-3789-9C9AAE5C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41DE5-26A8-CABF-25D2-08D860799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5ED6-68E2-2909-39E2-ADD635ED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94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B655-C975-33CB-1543-E2B8EE2A9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8CE8-3D6C-2441-9ADA-6CA180862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3FAE3-F764-97D1-2D51-6B251E264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94351-DD28-EC56-5195-EA2D70D8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64AE4-5792-0EB5-B7A7-82442D03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A01F3-4626-E9D5-2A39-114C09D2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6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E9598-CB7D-7BF1-D0D9-527C5946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380DC-7A1E-2E27-505A-C63D94602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EC0B5-DDF1-5C7B-7854-D1D0AB59C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C0819-FA36-FE71-3FA1-ACF44EA32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9BDD60-589D-40B7-DD8B-D92B3FD3B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89FE7-BB8D-8BBA-879D-DDA27DAC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5756D-5DA8-AA9D-433D-9B74D09B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FCF09B-1C94-2BD5-3C4A-E27F630C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2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950A-691A-50A3-1A7B-072C01840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EECF8-3489-6618-E267-E234C52A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6A870-8A4E-483A-AAD8-5AD8974AC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FB5F6-7E68-F32D-FFA5-70B15829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1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23100-6EA5-21D2-F7D8-4109B682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65B5D0-261E-9B25-F1DC-110D46B5F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F1EDB-E169-556C-F47B-971DD874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89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C0C1-18A6-0419-C2FE-931944F56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AB109-5895-6BB9-50D5-89657B9E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61030-C1C9-9BC1-F96E-DE3F2A38D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85C72-DAFE-B77F-3401-EC04D9336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555B0-2469-D818-EF50-70367718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A4A62-FCD0-2AD5-2718-C840D590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8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35A9-33DE-3FC3-53CF-B21102F87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9EADB-18DA-A273-E449-5F87FDAD0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6F7D3-A186-B9A8-4826-5A20C68E6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44404-FA7F-E375-A214-83383DF53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0F7C0-A849-D341-F996-A54FF5C6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E5892-AA70-867B-A887-BC4225EE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4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C4CD-EA08-FF54-D7E4-1CB84F3FC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52D01-9192-9EFB-9220-DEC3C7318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FED55-600B-4EA4-2228-756D4CD9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A74FC-842B-EF02-5668-3D35B089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A1513-EAE4-03B7-1BE0-36481F50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24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F7BE6-1FD1-6062-83CD-057EFF77D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26160-DC80-2A26-1511-D8CF1D000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4012A-D952-7080-F9FA-8AAC93D71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2B25-CDD3-E268-D4E9-DE9F94AF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313B8-FE0E-FD7D-228F-CDDA4685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6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4A902-CF00-22E6-20C1-CCBBEEF2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34B80-8B3A-40C0-2946-E3284E870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75919-5C1D-EB0B-B660-B0A68F1DC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A605B-2849-4923-A110-95690DC875AE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D2B38-2242-4BBF-A367-D009F6744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57CEE-684C-0268-6F99-39F81C949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1E710-3BEB-4066-8013-E0520DEB4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6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7666-B264-36CE-8743-6EB6015FD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4848" y="2009531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Physics</a:t>
            </a:r>
            <a:br>
              <a:rPr lang="en-US" sz="5200" dirty="0">
                <a:solidFill>
                  <a:srgbClr val="FFFFFF"/>
                </a:solidFill>
              </a:rPr>
            </a:br>
            <a:r>
              <a:rPr lang="en-US" sz="5200" dirty="0">
                <a:solidFill>
                  <a:srgbClr val="FFFFFF"/>
                </a:solidFill>
              </a:rPr>
              <a:t>Unit 1 – Measuring Movements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4734F-DDB8-8B81-4446-D0B345D65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en-US" sz="2000">
                <a:solidFill>
                  <a:srgbClr val="FFFFFF"/>
                </a:solidFill>
              </a:rPr>
              <a:t>Grade 7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54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24E1-D0DF-409C-960E-E3A25126F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What is Measurement?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6C76C-BB61-4518-AFCA-562029D24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627863"/>
            <a:ext cx="10922108" cy="990928"/>
          </a:xfrm>
        </p:spPr>
        <p:txBody>
          <a:bodyPr>
            <a:norm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Measurement is how we find out </a:t>
            </a:r>
            <a:r>
              <a:rPr lang="en-US" sz="2400" b="1" dirty="0"/>
              <a:t>how much</a:t>
            </a:r>
            <a:r>
              <a:rPr lang="en-US" sz="2400" dirty="0"/>
              <a:t>, </a:t>
            </a:r>
            <a:r>
              <a:rPr lang="en-US" sz="2400" b="1" dirty="0"/>
              <a:t>how long</a:t>
            </a:r>
            <a:r>
              <a:rPr lang="en-US" sz="2400" dirty="0"/>
              <a:t>, or </a:t>
            </a:r>
            <a:r>
              <a:rPr lang="en-US" sz="2400" b="1" dirty="0"/>
              <a:t>how heavy</a:t>
            </a:r>
            <a:r>
              <a:rPr lang="en-US" sz="2400" dirty="0"/>
              <a:t> something is—by comparing it to a known standard (like a meter, kilogram, or second).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4D852F6-13E1-4401-B969-A8BF06448417}"/>
              </a:ext>
            </a:extLst>
          </p:cNvPr>
          <p:cNvSpPr/>
          <p:nvPr/>
        </p:nvSpPr>
        <p:spPr>
          <a:xfrm>
            <a:off x="4332849" y="2686929"/>
            <a:ext cx="2335237" cy="95660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Key Concept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15DED6-5357-4457-9146-5DF95F449A77}"/>
              </a:ext>
            </a:extLst>
          </p:cNvPr>
          <p:cNvSpPr/>
          <p:nvPr/>
        </p:nvSpPr>
        <p:spPr>
          <a:xfrm>
            <a:off x="1756116" y="3834472"/>
            <a:ext cx="2942493" cy="169515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Related Concepts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Patterns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Predictions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DF156D-9CEF-4D65-8EE4-5B590ECFF6AA}"/>
              </a:ext>
            </a:extLst>
          </p:cNvPr>
          <p:cNvSpPr/>
          <p:nvPr/>
        </p:nvSpPr>
        <p:spPr>
          <a:xfrm>
            <a:off x="6668086" y="3745376"/>
            <a:ext cx="4009746" cy="187334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Global Context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Scientific and technical innovation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Exploration: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systems, models, methods</a:t>
            </a:r>
            <a:endParaRPr lang="en-US" sz="20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794BD-8E61-46E5-8E82-6A676F92BA9E}"/>
              </a:ext>
            </a:extLst>
          </p:cNvPr>
          <p:cNvSpPr txBox="1"/>
          <p:nvPr/>
        </p:nvSpPr>
        <p:spPr>
          <a:xfrm>
            <a:off x="838201" y="5846544"/>
            <a:ext cx="1065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Statement of Inquiry: </a:t>
            </a:r>
            <a:r>
              <a:rPr lang="en-US" dirty="0"/>
              <a:t>Studying </a:t>
            </a:r>
            <a:r>
              <a:rPr lang="en-US" b="1" dirty="0"/>
              <a:t>patterns</a:t>
            </a:r>
            <a:r>
              <a:rPr lang="en-US" dirty="0"/>
              <a:t> helps us to </a:t>
            </a:r>
            <a:r>
              <a:rPr lang="en-US" b="1" dirty="0"/>
              <a:t>predict</a:t>
            </a:r>
            <a:r>
              <a:rPr lang="en-US" dirty="0"/>
              <a:t> the </a:t>
            </a:r>
            <a:r>
              <a:rPr lang="en-US" b="1" dirty="0"/>
              <a:t>changes</a:t>
            </a:r>
            <a:r>
              <a:rPr lang="en-US" dirty="0"/>
              <a:t> in the world around us</a:t>
            </a:r>
            <a:r>
              <a:rPr lang="en-GB" dirty="0">
                <a:latin typeface="Comic Sans MS" panose="030F0702030302020204" pitchFamily="66" charset="0"/>
              </a:rPr>
              <a:t>.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1CC5F0-E7DA-41A4-8A0A-8DFEBA8A6EDB}"/>
              </a:ext>
            </a:extLst>
          </p:cNvPr>
          <p:cNvCxnSpPr>
            <a:cxnSpLocks/>
          </p:cNvCxnSpPr>
          <p:nvPr/>
        </p:nvCxnSpPr>
        <p:spPr>
          <a:xfrm flipH="1">
            <a:off x="3812345" y="3605512"/>
            <a:ext cx="1289733" cy="288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0491E7-0D5E-4382-A947-0A02155FC6F7}"/>
              </a:ext>
            </a:extLst>
          </p:cNvPr>
          <p:cNvCxnSpPr>
            <a:cxnSpLocks/>
          </p:cNvCxnSpPr>
          <p:nvPr/>
        </p:nvCxnSpPr>
        <p:spPr>
          <a:xfrm>
            <a:off x="6206100" y="3580707"/>
            <a:ext cx="982490" cy="3129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732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104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undamental and derived physical quantity with examples">
            <a:extLst>
              <a:ext uri="{FF2B5EF4-FFF2-40B4-BE49-F238E27FC236}">
                <a16:creationId xmlns:a16="http://schemas.microsoft.com/office/drawing/2014/main" id="{6DC0EF92-EE82-538B-0066-4176D757AD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2" b="6305"/>
          <a:stretch>
            <a:fillRect/>
          </a:stretch>
        </p:blipFill>
        <p:spPr bwMode="auto">
          <a:xfrm>
            <a:off x="1223733" y="454528"/>
            <a:ext cx="9975209" cy="470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680CBD-AB78-AA38-05E8-FA413AAD43D5}"/>
              </a:ext>
            </a:extLst>
          </p:cNvPr>
          <p:cNvSpPr txBox="1"/>
          <p:nvPr/>
        </p:nvSpPr>
        <p:spPr>
          <a:xfrm>
            <a:off x="570271" y="5434135"/>
            <a:ext cx="113464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A </a:t>
            </a:r>
            <a:r>
              <a:rPr lang="en-US" sz="2000" b="1" u="sng" dirty="0">
                <a:solidFill>
                  <a:schemeClr val="bg1">
                    <a:lumMod val="85000"/>
                  </a:schemeClr>
                </a:solidFill>
              </a:rPr>
              <a:t>Physical Quantity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is a quantity which can be measured. </a:t>
            </a:r>
          </a:p>
          <a:p>
            <a:r>
              <a:rPr lang="en-US" sz="2000" b="1" dirty="0" err="1">
                <a:solidFill>
                  <a:schemeClr val="bg1">
                    <a:lumMod val="85000"/>
                  </a:schemeClr>
                </a:solidFill>
              </a:rPr>
              <a:t>Eg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: Length of a string, Height of a building, Time taken to do an activity, Mass of an object, Speed of a vehicle</a:t>
            </a: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Non- examples: Happiness, admiration, tiredness</a:t>
            </a:r>
          </a:p>
        </p:txBody>
      </p:sp>
    </p:spTree>
    <p:extLst>
      <p:ext uri="{BB962C8B-B14F-4D97-AF65-F5344CB8AC3E}">
        <p14:creationId xmlns:p14="http://schemas.microsoft.com/office/powerpoint/2010/main" val="5153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CE22E-FE90-D23C-1B0D-76204585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image, Picture">
            <a:extLst>
              <a:ext uri="{FF2B5EF4-FFF2-40B4-BE49-F238E27FC236}">
                <a16:creationId xmlns:a16="http://schemas.microsoft.com/office/drawing/2014/main" id="{713597F8-8208-4082-FB0E-D6559D6AE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5860" y="2133678"/>
            <a:ext cx="4254335" cy="323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, Picture">
            <a:extLst>
              <a:ext uri="{FF2B5EF4-FFF2-40B4-BE49-F238E27FC236}">
                <a16:creationId xmlns:a16="http://schemas.microsoft.com/office/drawing/2014/main" id="{3A96AA5D-C75E-AF62-84E2-C28FBD863A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8729" y="2825968"/>
            <a:ext cx="6887991" cy="2111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06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version Chart Measurement Mass Time Length Stock Vector (Royalty Free)  2279736461 | Shutterstock, Picture">
            <a:extLst>
              <a:ext uri="{FF2B5EF4-FFF2-40B4-BE49-F238E27FC236}">
                <a16:creationId xmlns:a16="http://schemas.microsoft.com/office/drawing/2014/main" id="{DC7ED32F-14DD-B3F6-7877-696294A486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80"/>
          <a:stretch>
            <a:fillRect/>
          </a:stretch>
        </p:blipFill>
        <p:spPr bwMode="auto">
          <a:xfrm>
            <a:off x="2684208" y="410245"/>
            <a:ext cx="5910826" cy="5793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67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Area Formulas in Maths | GeeksforGeeks">
            <a:extLst>
              <a:ext uri="{FF2B5EF4-FFF2-40B4-BE49-F238E27FC236}">
                <a16:creationId xmlns:a16="http://schemas.microsoft.com/office/drawing/2014/main" id="{C5CED913-B348-E4EE-6E3C-526A9925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018" y="1027906"/>
            <a:ext cx="6823964" cy="487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22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Colorful rulers and protractors">
            <a:extLst>
              <a:ext uri="{FF2B5EF4-FFF2-40B4-BE49-F238E27FC236}">
                <a16:creationId xmlns:a16="http://schemas.microsoft.com/office/drawing/2014/main" id="{979B50C6-1739-5BD3-D6F4-6D8A8FA87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97" r="23585" b="139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653EA8-D485-4B64-5D1D-1B0F362B5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>
                <a:solidFill>
                  <a:schemeClr val="bg1"/>
                </a:solidFill>
              </a:rPr>
              <a:t>Accuracy, Precision and Significant Figures - Recap from Grade 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80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4B44-9738-73A6-F2E3-344ED3DB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179CE-048B-7560-008E-260496262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60" y="0"/>
            <a:ext cx="9489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0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712A-83E5-13BC-B8FD-0896B101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476" y="365125"/>
            <a:ext cx="6575323" cy="523763"/>
          </a:xfrm>
        </p:spPr>
        <p:txBody>
          <a:bodyPr>
            <a:normAutofit fontScale="90000"/>
          </a:bodyPr>
          <a:lstStyle/>
          <a:p>
            <a:r>
              <a:rPr lang="en-US" dirty="0"/>
              <a:t>Least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A5D47-095D-E8BF-7548-898FDFB17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09" y="1120677"/>
            <a:ext cx="11551673" cy="77009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Least Count</a:t>
            </a:r>
            <a:r>
              <a:rPr lang="en-US" dirty="0">
                <a:solidFill>
                  <a:srgbClr val="C00000"/>
                </a:solidFill>
              </a:rPr>
              <a:t> is the smallest length, mass, time, or volume that a measuring tool can read </a:t>
            </a:r>
            <a:r>
              <a:rPr lang="en-US" i="1" dirty="0">
                <a:solidFill>
                  <a:srgbClr val="C00000"/>
                </a:solidFill>
              </a:rPr>
              <a:t>accurately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9C4D3-5367-584E-BC70-332CD671FE9F}"/>
              </a:ext>
            </a:extLst>
          </p:cNvPr>
          <p:cNvSpPr txBox="1"/>
          <p:nvPr/>
        </p:nvSpPr>
        <p:spPr>
          <a:xfrm>
            <a:off x="7042356" y="1997839"/>
            <a:ext cx="46309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Eg</a:t>
            </a:r>
            <a:r>
              <a:rPr lang="en-US" dirty="0"/>
              <a:t>: Measuring Cylinder:</a:t>
            </a:r>
          </a:p>
          <a:p>
            <a:pPr>
              <a:buNone/>
            </a:pPr>
            <a:r>
              <a:rPr lang="en-US" dirty="0"/>
              <a:t>If the smallest graduation is 2 mL:</a:t>
            </a:r>
            <a:br>
              <a:rPr lang="en-US" dirty="0"/>
            </a:br>
            <a:r>
              <a:rPr lang="en-US" b="1" dirty="0"/>
              <a:t>Least count = 2 mL</a:t>
            </a:r>
            <a:br>
              <a:rPr lang="en-US" dirty="0"/>
            </a:br>
            <a:r>
              <a:rPr lang="en-US" dirty="0"/>
              <a:t>If the water level is between 24 and 26 mL, you </a:t>
            </a:r>
            <a:r>
              <a:rPr lang="en-US" i="1" dirty="0"/>
              <a:t>can't say it's 25.2 mL</a:t>
            </a:r>
            <a:r>
              <a:rPr lang="en-US" dirty="0"/>
              <a:t> with confidence.</a:t>
            </a:r>
          </a:p>
          <a:p>
            <a:r>
              <a:rPr lang="en-US" i="1" dirty="0"/>
              <a:t>Tip</a:t>
            </a:r>
            <a:r>
              <a:rPr lang="en-US" dirty="0"/>
              <a:t>: Always record values up to the least count — don’t guess beyond it!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B4E53D-8CA6-2F3F-3328-C2795EF6D683}"/>
              </a:ext>
            </a:extLst>
          </p:cNvPr>
          <p:cNvSpPr txBox="1"/>
          <p:nvPr/>
        </p:nvSpPr>
        <p:spPr>
          <a:xfrm>
            <a:off x="7042356" y="4324949"/>
            <a:ext cx="48202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Eg</a:t>
            </a:r>
            <a:r>
              <a:rPr lang="en-US" b="1" dirty="0"/>
              <a:t>: Weighing Scale (Digital)</a:t>
            </a:r>
          </a:p>
          <a:p>
            <a:r>
              <a:rPr lang="en-US" dirty="0"/>
              <a:t>If a kitchen scale shows mass like 125.0 g, 125.5 g, 126.0 g —</a:t>
            </a:r>
            <a:br>
              <a:rPr lang="en-US" dirty="0"/>
            </a:br>
            <a:r>
              <a:rPr lang="en-US" b="1" dirty="0"/>
              <a:t>Least count = 0.5 g</a:t>
            </a:r>
            <a:br>
              <a:rPr lang="en-US" dirty="0"/>
            </a:br>
            <a:r>
              <a:rPr lang="en-US" dirty="0"/>
              <a:t>So, you shouldn’t write 125.36 g unless the scale can show that.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9A140-F0AF-3F5A-1876-EBBEA12D38DD}"/>
              </a:ext>
            </a:extLst>
          </p:cNvPr>
          <p:cNvSpPr txBox="1"/>
          <p:nvPr/>
        </p:nvSpPr>
        <p:spPr>
          <a:xfrm>
            <a:off x="628034" y="481740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3333CC"/>
                </a:solidFill>
              </a:rPr>
              <a:t>Why Does Least Count Matter?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CC"/>
                </a:solidFill>
              </a:rPr>
              <a:t>It tells us how </a:t>
            </a:r>
            <a:r>
              <a:rPr lang="en-US" b="1" dirty="0">
                <a:solidFill>
                  <a:srgbClr val="3333CC"/>
                </a:solidFill>
              </a:rPr>
              <a:t>precise</a:t>
            </a:r>
            <a:r>
              <a:rPr lang="en-US" dirty="0">
                <a:solidFill>
                  <a:srgbClr val="3333CC"/>
                </a:solidFill>
              </a:rPr>
              <a:t> our measurements 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CC"/>
                </a:solidFill>
              </a:rPr>
              <a:t>It prevents us from recording values we can’t actually see.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CC"/>
                </a:solidFill>
              </a:rPr>
              <a:t>If two students use instruments with different least counts, one will get more precise results.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30BB2-F7B1-D02E-11FB-DFEBFB7253EA}"/>
              </a:ext>
            </a:extLst>
          </p:cNvPr>
          <p:cNvSpPr txBox="1"/>
          <p:nvPr/>
        </p:nvSpPr>
        <p:spPr>
          <a:xfrm>
            <a:off x="518651" y="199784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/>
              <a:t>Eg</a:t>
            </a:r>
            <a:r>
              <a:rPr lang="en-US" sz="1800" dirty="0"/>
              <a:t>: If a ruler has markings for every 1 mm, then:</a:t>
            </a:r>
            <a:br>
              <a:rPr lang="en-US" sz="1800" dirty="0"/>
            </a:br>
            <a:r>
              <a:rPr lang="en-US" sz="1800" b="1" dirty="0"/>
              <a:t>Least count = 1 mm</a:t>
            </a:r>
            <a:br>
              <a:rPr lang="en-US" sz="1800" dirty="0"/>
            </a:br>
            <a:r>
              <a:rPr lang="en-US" sz="1800" dirty="0"/>
              <a:t>This means the ruler can measure lengths as small as 1 mm.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i="1" dirty="0"/>
              <a:t>Ask</a:t>
            </a:r>
            <a:r>
              <a:rPr lang="en-US" sz="1800" dirty="0"/>
              <a:t>: Can this ruler measure something that is 0.25 mm long?</a:t>
            </a:r>
            <a:br>
              <a:rPr lang="en-US" sz="1800" dirty="0"/>
            </a:br>
            <a:r>
              <a:rPr lang="en-US" sz="1800" b="1" dirty="0"/>
              <a:t>No — that's smaller than the least count!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1999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43601A-019D-45C8-981B-BA76172B5A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16" t="15002" r="18158" b="22093"/>
          <a:stretch/>
        </p:blipFill>
        <p:spPr>
          <a:xfrm>
            <a:off x="499560" y="200024"/>
            <a:ext cx="11259053" cy="657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29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rectangular sign with black text&#10;&#10;Description automatically generated">
            <a:extLst>
              <a:ext uri="{FF2B5EF4-FFF2-40B4-BE49-F238E27FC236}">
                <a16:creationId xmlns:a16="http://schemas.microsoft.com/office/drawing/2014/main" id="{A97D3306-DF18-8010-C9A4-AAC480043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735857"/>
            <a:ext cx="7772400" cy="1949347"/>
          </a:xfrm>
          <a:prstGeom prst="rect">
            <a:avLst/>
          </a:prstGeom>
        </p:spPr>
      </p:pic>
      <p:pic>
        <p:nvPicPr>
          <p:cNvPr id="5" name="Picture 4" descr="A ruler with a yellow rectangular and black text&#10;&#10;Description automatically generated">
            <a:extLst>
              <a:ext uri="{FF2B5EF4-FFF2-40B4-BE49-F238E27FC236}">
                <a16:creationId xmlns:a16="http://schemas.microsoft.com/office/drawing/2014/main" id="{3C40F047-1A12-4BE9-09EE-6AD5AF243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349658"/>
            <a:ext cx="7772400" cy="19640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0DB0AB-4CF2-E4E6-24A0-DB858576ACC9}"/>
              </a:ext>
            </a:extLst>
          </p:cNvPr>
          <p:cNvSpPr txBox="1"/>
          <p:nvPr/>
        </p:nvSpPr>
        <p:spPr>
          <a:xfrm>
            <a:off x="1999187" y="1458858"/>
            <a:ext cx="340158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CF16F-C497-53BA-ACA6-951F33E368C7}"/>
              </a:ext>
            </a:extLst>
          </p:cNvPr>
          <p:cNvSpPr txBox="1"/>
          <p:nvPr/>
        </p:nvSpPr>
        <p:spPr>
          <a:xfrm>
            <a:off x="1999187" y="4164992"/>
            <a:ext cx="340158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285541-FDA2-7D21-CBA2-C1E690367F30}"/>
              </a:ext>
            </a:extLst>
          </p:cNvPr>
          <p:cNvSpPr txBox="1"/>
          <p:nvPr/>
        </p:nvSpPr>
        <p:spPr>
          <a:xfrm>
            <a:off x="882650" y="393762"/>
            <a:ext cx="1042670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Which scale would you choose to measure the length of the paper clip and why?</a:t>
            </a:r>
          </a:p>
        </p:txBody>
      </p:sp>
    </p:spTree>
    <p:extLst>
      <p:ext uri="{BB962C8B-B14F-4D97-AF65-F5344CB8AC3E}">
        <p14:creationId xmlns:p14="http://schemas.microsoft.com/office/powerpoint/2010/main" val="4179695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CD6762-1026-96D7-BD8A-E9AC86AE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86" y="5493524"/>
            <a:ext cx="11119756" cy="7386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292929"/>
                </a:solidFill>
                <a:effectLst/>
                <a:latin typeface="tahoma" panose="020B0604030504040204" pitchFamily="34" charset="0"/>
              </a:rPr>
              <a:t>Significant digits (also called significant figures or “sig figs” for short) indicate the </a:t>
            </a:r>
            <a:r>
              <a:rPr kumimoji="0" lang="en-US" altLang="en-US" sz="1600" i="1" u="none" strike="noStrike" cap="none" normalizeH="0" baseline="0" dirty="0">
                <a:ln>
                  <a:noFill/>
                </a:ln>
                <a:solidFill>
                  <a:srgbClr val="292929"/>
                </a:solidFill>
                <a:effectLst/>
                <a:latin typeface="tahoma" panose="020B0604030504040204" pitchFamily="34" charset="0"/>
              </a:rPr>
              <a:t>precision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292929"/>
                </a:solidFill>
                <a:effectLst/>
                <a:latin typeface="tahoma" panose="020B0604030504040204" pitchFamily="34" charset="0"/>
              </a:rPr>
              <a:t> of a measurement.  A number with more significant digits is more precise.  For example, 8.1 cm is more precise than 8 cm. It’s sometimes easier to think of this in terms of recording all of the known “places” (ones, tenths, hundredths) plus a final estimated place. </a:t>
            </a:r>
          </a:p>
        </p:txBody>
      </p:sp>
      <p:pic>
        <p:nvPicPr>
          <p:cNvPr id="3" name="Picture 2" descr="A yellow rectangular sign with black text&#10;&#10;Description automatically generated">
            <a:extLst>
              <a:ext uri="{FF2B5EF4-FFF2-40B4-BE49-F238E27FC236}">
                <a16:creationId xmlns:a16="http://schemas.microsoft.com/office/drawing/2014/main" id="{38B47E92-B331-3BEA-7CA6-924BBB310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92" y="605191"/>
            <a:ext cx="6340519" cy="1590226"/>
          </a:xfrm>
          <a:prstGeom prst="rect">
            <a:avLst/>
          </a:prstGeom>
        </p:spPr>
      </p:pic>
      <p:pic>
        <p:nvPicPr>
          <p:cNvPr id="4" name="Picture 3" descr="A ruler with a yellow rectangular and black text&#10;&#10;Description automatically generated">
            <a:extLst>
              <a:ext uri="{FF2B5EF4-FFF2-40B4-BE49-F238E27FC236}">
                <a16:creationId xmlns:a16="http://schemas.microsoft.com/office/drawing/2014/main" id="{9C172055-C3DE-31E0-72E4-3C86DE5E2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92" y="3234052"/>
            <a:ext cx="6293031" cy="15902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174779-8360-42F2-A9D9-DDFD02C00BDE}"/>
              </a:ext>
            </a:extLst>
          </p:cNvPr>
          <p:cNvSpPr txBox="1"/>
          <p:nvPr/>
        </p:nvSpPr>
        <p:spPr>
          <a:xfrm>
            <a:off x="416379" y="328191"/>
            <a:ext cx="340158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28D73-541A-66E0-0E94-8E64B65C7C49}"/>
              </a:ext>
            </a:extLst>
          </p:cNvPr>
          <p:cNvSpPr txBox="1"/>
          <p:nvPr/>
        </p:nvSpPr>
        <p:spPr>
          <a:xfrm>
            <a:off x="416379" y="3049385"/>
            <a:ext cx="340158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0FE53-5280-EB7C-3DE9-1431FDCF9F0D}"/>
              </a:ext>
            </a:extLst>
          </p:cNvPr>
          <p:cNvSpPr txBox="1"/>
          <p:nvPr/>
        </p:nvSpPr>
        <p:spPr>
          <a:xfrm>
            <a:off x="7178124" y="3429000"/>
            <a:ext cx="4358011" cy="17543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92929"/>
                </a:solidFill>
                <a:effectLst/>
                <a:latin typeface="tahoma" panose="020B0604030504040204" pitchFamily="34" charset="0"/>
              </a:rPr>
              <a:t>In this case, the ruler is marked in both ones and tenths meaning that we can clearly see the first part of the measurement is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2.3</a:t>
            </a:r>
            <a:r>
              <a:rPr lang="en-US" altLang="en-US" b="1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cm</a:t>
            </a:r>
            <a:r>
              <a:rPr lang="en-US" altLang="en-US" b="1" dirty="0">
                <a:solidFill>
                  <a:srgbClr val="292929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. This reading can be considered more precise and accurate!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56DBA-92DB-DA6A-CD2A-7DE63F242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123" y="569308"/>
            <a:ext cx="4447819" cy="16619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292929"/>
                </a:solidFill>
                <a:latin typeface="tahoma" panose="020B0604030504040204" pitchFamily="34" charset="0"/>
              </a:rPr>
              <a:t>This ruler, is marked every one centimeter so we know the ones place and could record the length of the paper clip as </a:t>
            </a:r>
            <a:r>
              <a:rPr lang="en-US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2 cm</a:t>
            </a:r>
            <a:r>
              <a:rPr lang="en-US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. </a:t>
            </a:r>
            <a:r>
              <a:rPr lang="en-US" altLang="en-US" b="1" dirty="0">
                <a:latin typeface="tahoma" panose="020B0604030504040204" pitchFamily="34" charset="0"/>
              </a:rPr>
              <a:t>However, we can obviously see that that is not the accurate or precise reading! </a:t>
            </a:r>
          </a:p>
        </p:txBody>
      </p:sp>
    </p:spTree>
    <p:extLst>
      <p:ext uri="{BB962C8B-B14F-4D97-AF65-F5344CB8AC3E}">
        <p14:creationId xmlns:p14="http://schemas.microsoft.com/office/powerpoint/2010/main" val="3936248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7C1FCE-23A1-4402-9809-C71814A3F3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58" t="15191" r="26289" b="22070"/>
          <a:stretch/>
        </p:blipFill>
        <p:spPr>
          <a:xfrm>
            <a:off x="1714500" y="178594"/>
            <a:ext cx="9114096" cy="650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04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3CB7-17B5-795D-9D1E-58229FAA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FA066-9C88-4AFA-D745-830FF23F9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711" y="0"/>
            <a:ext cx="9860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35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256A-3105-CF9A-6258-A59C32F8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6D55F-144B-39ED-435A-3F96DE6EE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82" y="0"/>
            <a:ext cx="10566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66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524C-F026-BCCA-4B2C-8780F8CA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C7CBF-8731-01D2-A9B9-181B557A6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741" y="0"/>
            <a:ext cx="95205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63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06F4-AD97-CEC4-4606-2E260343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937093-7520-6FE5-4A8D-CC21C3A7A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53" y="0"/>
            <a:ext cx="96582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38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257B-32E4-609A-B6D0-B0C6735B2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0E961-A585-5245-828A-AADBE1ED3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69" y="0"/>
            <a:ext cx="9775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80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67147-DF08-EA87-79C0-CDE5A1B8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9B1CB-1F24-395C-B677-F4F78AE33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85" y="0"/>
            <a:ext cx="9731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383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9683F-4D0A-5242-6454-1B49BC99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0DD5A-0980-489E-4619-7964B623F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19" y="0"/>
            <a:ext cx="95763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67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C565-E4AD-8AA0-4B39-E02FE1A9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C1A6E6-F0AA-2352-5862-3F876116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443" y="0"/>
            <a:ext cx="9791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96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2546-62D6-6AFB-A5FD-A67A5764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58829-679E-1960-09E1-D6FD0234E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151" y="0"/>
            <a:ext cx="9731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97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8AE5-6A65-932A-1796-AA0D01F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286F96-5B59-F8A0-ABC8-498AC45B0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57" y="0"/>
            <a:ext cx="10053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48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8EE02-CEAB-D419-9DC6-FC7F8CD4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659CD-B7DF-9D5E-2365-E293AD8BC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83" y="0"/>
            <a:ext cx="100654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29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EF16-EF77-AAE8-C13E-E27FA370B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in Measurement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FCD036-1D33-55C7-D4BD-A3D3BB965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036025"/>
              </p:ext>
            </p:extLst>
          </p:nvPr>
        </p:nvGraphicFramePr>
        <p:xfrm>
          <a:off x="838200" y="1690688"/>
          <a:ext cx="10515600" cy="306657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498493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415142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93224375"/>
                    </a:ext>
                  </a:extLst>
                </a:gridCol>
              </a:tblGrid>
              <a:tr h="471781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Systematic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57334"/>
                  </a:ext>
                </a:extLst>
              </a:tr>
              <a:tr h="471781">
                <a:tc>
                  <a:txBody>
                    <a:bodyPr/>
                    <a:lstStyle/>
                    <a:p>
                      <a:r>
                        <a:rPr lang="en-US"/>
                        <a:t>Predictability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Unpredictable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Predictable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503449"/>
                  </a:ext>
                </a:extLst>
              </a:tr>
              <a:tr h="471781">
                <a:tc>
                  <a:txBody>
                    <a:bodyPr/>
                    <a:lstStyle/>
                    <a:p>
                      <a:r>
                        <a:rPr lang="en-US"/>
                        <a:t>Effect on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Affects </a:t>
                      </a:r>
                      <a:r>
                        <a:rPr lang="en-US" b="1"/>
                        <a:t>precision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Affects </a:t>
                      </a:r>
                      <a:r>
                        <a:rPr lang="en-US" b="1"/>
                        <a:t>accuracy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065419"/>
                  </a:ext>
                </a:extLst>
              </a:tr>
              <a:tr h="825616">
                <a:tc>
                  <a:txBody>
                    <a:bodyPr/>
                    <a:lstStyle/>
                    <a:p>
                      <a:r>
                        <a:rPr lang="en-US" dirty="0"/>
                        <a:t>Correction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Reduced by </a:t>
                      </a:r>
                      <a:r>
                        <a:rPr lang="en-US" b="1"/>
                        <a:t>repetition &amp; averaging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Requires </a:t>
                      </a:r>
                      <a:r>
                        <a:rPr lang="en-US" b="1"/>
                        <a:t>calibration or redesign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699180"/>
                  </a:ext>
                </a:extLst>
              </a:tr>
              <a:tr h="825616">
                <a:tc>
                  <a:txBody>
                    <a:bodyPr/>
                    <a:lstStyle/>
                    <a:p>
                      <a:r>
                        <a:rPr lang="en-US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Human reaction time, environmental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Miscalibrated</a:t>
                      </a:r>
                      <a:r>
                        <a:rPr lang="en-US" dirty="0"/>
                        <a:t> instruments, zero error, parallax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322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552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618</Words>
  <Application>Microsoft Office PowerPoint</Application>
  <PresentationFormat>Widescreen</PresentationFormat>
  <Paragraphs>62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Comic Sans MS</vt:lpstr>
      <vt:lpstr>tahoma</vt:lpstr>
      <vt:lpstr>Office Theme</vt:lpstr>
      <vt:lpstr>Physics Unit 1 – Measuring Movements</vt:lpstr>
      <vt:lpstr>What is Measurement?</vt:lpstr>
      <vt:lpstr>PowerPoint Presentation</vt:lpstr>
      <vt:lpstr>PowerPoint Presentation</vt:lpstr>
      <vt:lpstr>PowerPoint Presentation</vt:lpstr>
      <vt:lpstr>PowerPoint Presentation</vt:lpstr>
      <vt:lpstr>Accuracy, Precision and Significant Figures - Recap from Grade 6</vt:lpstr>
      <vt:lpstr>PowerPoint Presentation</vt:lpstr>
      <vt:lpstr>Least Count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Errors in Measurement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Sandya Manojkumar</dc:creator>
  <cp:lastModifiedBy>Sandya Manojkumar</cp:lastModifiedBy>
  <cp:revision>11</cp:revision>
  <dcterms:created xsi:type="dcterms:W3CDTF">2025-07-23T09:19:33Z</dcterms:created>
  <dcterms:modified xsi:type="dcterms:W3CDTF">2025-07-30T04:00:09Z</dcterms:modified>
</cp:coreProperties>
</file>